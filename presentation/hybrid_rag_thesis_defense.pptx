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15e13a3c7646b3" /><Relationship Type="http://schemas.openxmlformats.org/officeDocument/2006/relationships/extended-properties" Target="/docProps/app.xml" Id="R1437f1f0e32c4ff0" /><Relationship Type="http://schemas.openxmlformats.org/officeDocument/2006/relationships/officeDocument" Target="/ppt/presentation.xml" Id="R4151a55b746747d1" /></Relationships>
</file>

<file path=ppt/presentation.xml><?xml version="1.0" encoding="utf-8"?>
<p:presentation xmlns:p="http://schemas.openxmlformats.org/presentationml/2006/main">
  <p:sldMasterIdLst>
    <p:sldMasterId xmlns:r="http://schemas.openxmlformats.org/officeDocument/2006/relationships" id="2147483648" r:id="R8ab55e4d14e54e9d"/>
  </p:sldMasterIdLst>
  <p:notesMasterIdLst>
    <p:notesMasterId xmlns:r="http://schemas.openxmlformats.org/officeDocument/2006/relationships" r:id="Rdd86bf9d1a8b475c"/>
  </p:notesMasterIdLst>
  <p:sldIdLst>
    <p:sldId xmlns:r="http://schemas.openxmlformats.org/officeDocument/2006/relationships" id="256" r:id="R88e48614bea24d65"/>
    <p:sldId xmlns:r="http://schemas.openxmlformats.org/officeDocument/2006/relationships" id="257" r:id="Rca21eb8a5c994c90"/>
    <p:sldId xmlns:r="http://schemas.openxmlformats.org/officeDocument/2006/relationships" id="258" r:id="R5d0e965a9bdd454c"/>
    <p:sldId xmlns:r="http://schemas.openxmlformats.org/officeDocument/2006/relationships" id="259" r:id="Ree2d83ed48294a69"/>
    <p:sldId xmlns:r="http://schemas.openxmlformats.org/officeDocument/2006/relationships" id="260" r:id="R19c3c113132348f7"/>
    <p:sldId xmlns:r="http://schemas.openxmlformats.org/officeDocument/2006/relationships" id="261" r:id="R2683ac3cb8ff4c4d"/>
    <p:sldId xmlns:r="http://schemas.openxmlformats.org/officeDocument/2006/relationships" id="262" r:id="Rc7176f892fb74b79"/>
    <p:sldId xmlns:r="http://schemas.openxmlformats.org/officeDocument/2006/relationships" id="263" r:id="Rfdaed09c288e4f51"/>
    <p:sldId xmlns:r="http://schemas.openxmlformats.org/officeDocument/2006/relationships" id="264" r:id="Rb542879c37c046f0"/>
    <p:sldId xmlns:r="http://schemas.openxmlformats.org/officeDocument/2006/relationships" id="265" r:id="Rf61a85b1ab7441fe"/>
    <p:sldId xmlns:r="http://schemas.openxmlformats.org/officeDocument/2006/relationships" id="266" r:id="Rc913da1f002d4158"/>
    <p:sldId xmlns:r="http://schemas.openxmlformats.org/officeDocument/2006/relationships" id="267" r:id="R068e3ac502c54f9a"/>
    <p:sldId xmlns:r="http://schemas.openxmlformats.org/officeDocument/2006/relationships" id="268" r:id="Rbd1a7f66c10a4485"/>
    <p:sldId xmlns:r="http://schemas.openxmlformats.org/officeDocument/2006/relationships" id="269" r:id="Reb8b2d17650d431c"/>
    <p:sldId xmlns:r="http://schemas.openxmlformats.org/officeDocument/2006/relationships" id="270" r:id="R8b0cafc65b314df1"/>
    <p:sldId xmlns:r="http://schemas.openxmlformats.org/officeDocument/2006/relationships" id="271" r:id="R19b87857fe4d4a8d"/>
    <p:sldId xmlns:r="http://schemas.openxmlformats.org/officeDocument/2006/relationships" id="272" r:id="R474475703b3f41f1"/>
    <p:sldId xmlns:r="http://schemas.openxmlformats.org/officeDocument/2006/relationships" id="273" r:id="R8502a2c16dc14d12"/>
    <p:sldId xmlns:r="http://schemas.openxmlformats.org/officeDocument/2006/relationships" id="274" r:id="R68f28bac0aed425f"/>
    <p:sldId xmlns:r="http://schemas.openxmlformats.org/officeDocument/2006/relationships" id="275" r:id="R2dae305dd4a741ff"/>
    <p:sldId xmlns:r="http://schemas.openxmlformats.org/officeDocument/2006/relationships" id="276" r:id="Rd6f50a182eff4ea8"/>
    <p:sldId xmlns:r="http://schemas.openxmlformats.org/officeDocument/2006/relationships" id="277" r:id="R6393efe601bc4fa0"/>
    <p:sldId xmlns:r="http://schemas.openxmlformats.org/officeDocument/2006/relationships" id="278" r:id="R014942db02534270"/>
    <p:sldId xmlns:r="http://schemas.openxmlformats.org/officeDocument/2006/relationships" id="279" r:id="R42ae4d69673043e5"/>
    <p:sldId xmlns:r="http://schemas.openxmlformats.org/officeDocument/2006/relationships" id="280" r:id="Ree61fb38acf34822"/>
    <p:sldId xmlns:r="http://schemas.openxmlformats.org/officeDocument/2006/relationships" id="281" r:id="R3c3ed443ae1b4d75"/>
    <p:sldId xmlns:r="http://schemas.openxmlformats.org/officeDocument/2006/relationships" id="282" r:id="Ra64e4f630af84b39"/>
    <p:sldId xmlns:r="http://schemas.openxmlformats.org/officeDocument/2006/relationships" id="283" r:id="R63d2e801250c4f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0c8f83fadd4fd8" /><Relationship Type="http://schemas.openxmlformats.org/officeDocument/2006/relationships/slideMaster" Target="/ppt/slideMasters/slideMaster1.xml" Id="R8ab55e4d14e54e9d" /><Relationship Type="http://schemas.openxmlformats.org/officeDocument/2006/relationships/notesMaster" Target="/ppt/notesMasters/notesMaster1.xml" Id="Rdd86bf9d1a8b475c" /><Relationship Type="http://schemas.openxmlformats.org/officeDocument/2006/relationships/presProps" Target="/ppt/presProps.xml" Id="R1c8be0c1cb674387" /><Relationship Type="http://schemas.openxmlformats.org/officeDocument/2006/relationships/tableStyles" Target="/ppt/tableStyles.xml" Id="R4fb475f196b64344" /><Relationship Type="http://schemas.openxmlformats.org/officeDocument/2006/relationships/slide" Target="/ppt/slides/slide1.xml" Id="R88e48614bea24d65" /><Relationship Type="http://schemas.openxmlformats.org/officeDocument/2006/relationships/slide" Target="/ppt/slides/slide2.xml" Id="Rca21eb8a5c994c90" /><Relationship Type="http://schemas.openxmlformats.org/officeDocument/2006/relationships/slide" Target="/ppt/slides/slide3.xml" Id="R5d0e965a9bdd454c" /><Relationship Type="http://schemas.openxmlformats.org/officeDocument/2006/relationships/slide" Target="/ppt/slides/slide4.xml" Id="Ree2d83ed48294a69" /><Relationship Type="http://schemas.openxmlformats.org/officeDocument/2006/relationships/slide" Target="/ppt/slides/slide5.xml" Id="R19c3c113132348f7" /><Relationship Type="http://schemas.openxmlformats.org/officeDocument/2006/relationships/slide" Target="/ppt/slides/slide6.xml" Id="R2683ac3cb8ff4c4d" /><Relationship Type="http://schemas.openxmlformats.org/officeDocument/2006/relationships/slide" Target="/ppt/slides/slide7.xml" Id="Rc7176f892fb74b79" /><Relationship Type="http://schemas.openxmlformats.org/officeDocument/2006/relationships/slide" Target="/ppt/slides/slide8.xml" Id="Rfdaed09c288e4f51" /><Relationship Type="http://schemas.openxmlformats.org/officeDocument/2006/relationships/slide" Target="/ppt/slides/slide9.xml" Id="Rb542879c37c046f0" /><Relationship Type="http://schemas.openxmlformats.org/officeDocument/2006/relationships/slide" Target="/ppt/slides/slide10.xml" Id="Rf61a85b1ab7441fe" /><Relationship Type="http://schemas.openxmlformats.org/officeDocument/2006/relationships/slide" Target="/ppt/slides/slide11.xml" Id="Rc913da1f002d4158" /><Relationship Type="http://schemas.openxmlformats.org/officeDocument/2006/relationships/slide" Target="/ppt/slides/slide12.xml" Id="R068e3ac502c54f9a" /><Relationship Type="http://schemas.openxmlformats.org/officeDocument/2006/relationships/slide" Target="/ppt/slides/slide13.xml" Id="Rbd1a7f66c10a4485" /><Relationship Type="http://schemas.openxmlformats.org/officeDocument/2006/relationships/slide" Target="/ppt/slides/slide14.xml" Id="Reb8b2d17650d431c" /><Relationship Type="http://schemas.openxmlformats.org/officeDocument/2006/relationships/slide" Target="/ppt/slides/slide15.xml" Id="R8b0cafc65b314df1" /><Relationship Type="http://schemas.openxmlformats.org/officeDocument/2006/relationships/slide" Target="/ppt/slides/slide16.xml" Id="R19b87857fe4d4a8d" /><Relationship Type="http://schemas.openxmlformats.org/officeDocument/2006/relationships/slide" Target="/ppt/slides/slide17.xml" Id="R474475703b3f41f1" /><Relationship Type="http://schemas.openxmlformats.org/officeDocument/2006/relationships/slide" Target="/ppt/slides/slide18.xml" Id="R8502a2c16dc14d12" /><Relationship Type="http://schemas.openxmlformats.org/officeDocument/2006/relationships/slide" Target="/ppt/slides/slide19.xml" Id="R68f28bac0aed425f" /><Relationship Type="http://schemas.openxmlformats.org/officeDocument/2006/relationships/slide" Target="/ppt/slides/slide20.xml" Id="R2dae305dd4a741ff" /><Relationship Type="http://schemas.openxmlformats.org/officeDocument/2006/relationships/slide" Target="/ppt/slides/slide21.xml" Id="Rd6f50a182eff4ea8" /><Relationship Type="http://schemas.openxmlformats.org/officeDocument/2006/relationships/slide" Target="/ppt/slides/slide22.xml" Id="R6393efe601bc4fa0" /><Relationship Type="http://schemas.openxmlformats.org/officeDocument/2006/relationships/slide" Target="/ppt/slides/slide23.xml" Id="R014942db02534270" /><Relationship Type="http://schemas.openxmlformats.org/officeDocument/2006/relationships/slide" Target="/ppt/slides/slide24.xml" Id="R42ae4d69673043e5" /><Relationship Type="http://schemas.openxmlformats.org/officeDocument/2006/relationships/slide" Target="/ppt/slides/slide25.xml" Id="Ree61fb38acf34822" /><Relationship Type="http://schemas.openxmlformats.org/officeDocument/2006/relationships/slide" Target="/ppt/slides/slide26.xml" Id="R3c3ed443ae1b4d75" /><Relationship Type="http://schemas.openxmlformats.org/officeDocument/2006/relationships/slide" Target="/ppt/slides/slide27.xml" Id="Ra64e4f630af84b39" /><Relationship Type="http://schemas.openxmlformats.org/officeDocument/2006/relationships/slide" Target="/ppt/slides/slide28.xml" Id="R63d2e801250c4f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252d435f434c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1a8ecc18ec49f0" /><Relationship Type="http://schemas.openxmlformats.org/officeDocument/2006/relationships/notesMaster" Target="/ppt/notesMasters/notesMaster1.xml" Id="R112edf332f2f4e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a8ebb2dc504a18" /><Relationship Type="http://schemas.openxmlformats.org/officeDocument/2006/relationships/notesMaster" Target="/ppt/notesMasters/notesMaster1.xml" Id="Re82b9976094e45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78129cb0774187" /><Relationship Type="http://schemas.openxmlformats.org/officeDocument/2006/relationships/notesMaster" Target="/ppt/notesMasters/notesMaster1.xml" Id="R481529afe5e045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bc7db51bae4af3" /><Relationship Type="http://schemas.openxmlformats.org/officeDocument/2006/relationships/notesMaster" Target="/ppt/notesMasters/notesMaster1.xml" Id="R95c9d29546b14a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3b8b1b22e84c48" /><Relationship Type="http://schemas.openxmlformats.org/officeDocument/2006/relationships/notesMaster" Target="/ppt/notesMasters/notesMaster1.xml" Id="R5be1753e02f547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ec3e18e3cc4198" /><Relationship Type="http://schemas.openxmlformats.org/officeDocument/2006/relationships/notesMaster" Target="/ppt/notesMasters/notesMaster1.xml" Id="R43c350b998584f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59ca7f71644e6f" /><Relationship Type="http://schemas.openxmlformats.org/officeDocument/2006/relationships/notesMaster" Target="/ppt/notesMasters/notesMaster1.xml" Id="Ree0d08fcfd8140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e87648b5734026" /><Relationship Type="http://schemas.openxmlformats.org/officeDocument/2006/relationships/notesMaster" Target="/ppt/notesMasters/notesMaster1.xml" Id="R36fb999f3ece44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cb13f72ed346fc" /><Relationship Type="http://schemas.openxmlformats.org/officeDocument/2006/relationships/notesMaster" Target="/ppt/notesMasters/notesMaster1.xml" Id="R6945ec4879994f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11db92dc8c46e0" /><Relationship Type="http://schemas.openxmlformats.org/officeDocument/2006/relationships/notesMaster" Target="/ppt/notesMasters/notesMaster1.xml" Id="Ra9f4c990557f424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416dec5df74bfe" /><Relationship Type="http://schemas.openxmlformats.org/officeDocument/2006/relationships/notesMaster" Target="/ppt/notesMasters/notesMaster1.xml" Id="Rded88f228b9b4b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20ade7057e4424" /><Relationship Type="http://schemas.openxmlformats.org/officeDocument/2006/relationships/notesMaster" Target="/ppt/notesMasters/notesMaster1.xml" Id="Red800a3a4e0443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23a23e9345640f6" /><Relationship Type="http://schemas.openxmlformats.org/officeDocument/2006/relationships/notesMaster" Target="/ppt/notesMasters/notesMaster1.xml" Id="Re72ce0dc895346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57c0ca895f4c28" /><Relationship Type="http://schemas.openxmlformats.org/officeDocument/2006/relationships/notesMaster" Target="/ppt/notesMasters/notesMaster1.xml" Id="Rac097a81dc59413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20248a7b7e4da1" /><Relationship Type="http://schemas.openxmlformats.org/officeDocument/2006/relationships/notesMaster" Target="/ppt/notesMasters/notesMaster1.xml" Id="Rd5020712e0464d1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992893be5c4824" /><Relationship Type="http://schemas.openxmlformats.org/officeDocument/2006/relationships/notesMaster" Target="/ppt/notesMasters/notesMaster1.xml" Id="R91d23c09ce994c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935e777f994f82" /><Relationship Type="http://schemas.openxmlformats.org/officeDocument/2006/relationships/notesMaster" Target="/ppt/notesMasters/notesMaster1.xml" Id="R9115bd7e4d374e0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6c91ecef2a04754" /><Relationship Type="http://schemas.openxmlformats.org/officeDocument/2006/relationships/notesMaster" Target="/ppt/notesMasters/notesMaster1.xml" Id="R4d094dd5f10e42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75a77afc9444d83" /><Relationship Type="http://schemas.openxmlformats.org/officeDocument/2006/relationships/notesMaster" Target="/ppt/notesMasters/notesMaster1.xml" Id="Ree360af1425e4b7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aa5a3b12c824c7b" /><Relationship Type="http://schemas.openxmlformats.org/officeDocument/2006/relationships/notesMaster" Target="/ppt/notesMasters/notesMaster1.xml" Id="R256f6534634a4bf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b2beba927674af9" /><Relationship Type="http://schemas.openxmlformats.org/officeDocument/2006/relationships/notesMaster" Target="/ppt/notesMasters/notesMaster1.xml" Id="R6be83464b594410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a9f797e234e4a22" /><Relationship Type="http://schemas.openxmlformats.org/officeDocument/2006/relationships/notesMaster" Target="/ppt/notesMasters/notesMaster1.xml" Id="R4d3aa4c7ef38471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cac004b3d74469e" /><Relationship Type="http://schemas.openxmlformats.org/officeDocument/2006/relationships/notesMaster" Target="/ppt/notesMasters/notesMaster1.xml" Id="R8687c62fd0bf48b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52dfa1648f04ddd" /><Relationship Type="http://schemas.openxmlformats.org/officeDocument/2006/relationships/notesMaster" Target="/ppt/notesMasters/notesMaster1.xml" Id="Ra8cc1ff4162f4dc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061418cc2154219" /><Relationship Type="http://schemas.openxmlformats.org/officeDocument/2006/relationships/notesMaster" Target="/ppt/notesMasters/notesMaster1.xml" Id="Rd7ce8104c4ab498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2f208a5b06748f1" /><Relationship Type="http://schemas.openxmlformats.org/officeDocument/2006/relationships/notesMaster" Target="/ppt/notesMasters/notesMaster1.xml" Id="Rf7539ea765f445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971f3ffc3914735" /><Relationship Type="http://schemas.openxmlformats.org/officeDocument/2006/relationships/notesMaster" Target="/ppt/notesMasters/notesMaster1.xml" Id="R77944dfbefae40f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c615d84251e4ca6" /><Relationship Type="http://schemas.openxmlformats.org/officeDocument/2006/relationships/notesMaster" Target="/ppt/notesMasters/notesMaster1.xml" Id="Rc336c9a2d9bf44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 — Code Retrieval with Hybrid-RAG</a:t>
            </a:r>
          </a:p>
          <a:p xmlns:a="http://schemas.openxmlformats.org/drawingml/2006/main">
            <a:r>
              <a:t/>
            </a:r>
          </a:p>
          <a:p xmlns:a="http://schemas.openxmlformats.org/drawingml/2006/main">
            <a:r>
              <a:t>“Luận văn của em nghiên cứu bài toán truy xuất mã nguồn. Vấn đề là nhiều câu hỏi về code không thể trả lời tốt chỉ bằng việc tìm các đoạn văn có từ khóa tương</a:t>
            </a:r>
          </a:p>
          <a:p xmlns:a="http://schemas.openxmlformats.org/drawingml/2006/main">
            <a:r>
              <a:t>tự.</a:t>
            </a:r>
          </a:p>
          <a:p xmlns:a="http://schemas.openxmlformats.org/drawingml/2006/main">
            <a:r>
              <a:t/>
            </a:r>
          </a:p>
          <a:p xmlns:a="http://schemas.openxmlformats.org/drawingml/2006/main">
            <a:r>
              <a:t>Hệ thống của em kết hợp hai loại thông tin: semantic search để tìm code có ý nghĩa gần với câu hỏi, và knowledge graph được trích xuất từ AST để biểu diễn các</a:t>
            </a:r>
          </a:p>
          <a:p xmlns:a="http://schemas.openxmlformats.org/drawingml/2006/main">
            <a:r>
              <a:t>quan hệ như CALLS, IMPORTS, INHERITS.</a:t>
            </a:r>
          </a:p>
          <a:p xmlns:a="http://schemas.openxmlformats.org/drawingml/2006/main">
            <a:r>
              <a:t/>
            </a:r>
          </a:p>
          <a:p xmlns:a="http://schemas.openxmlformats.org/drawingml/2006/main">
            <a:r>
              <a:t>Em không claim rằng mình phát minh ra một thuật toán retrieval hoàn toàn mới. Đóng góp chính là tích hợp các thành phần này thành một hệ thống code retrieval</a:t>
            </a:r>
          </a:p>
          <a:p xmlns:a="http://schemas.openxmlformats.org/drawingml/2006/main">
            <a:r>
              <a:t>có phạm vi repository, có provenance và có thể kiểm tra được bằng thực nghiệm.”</a:t>
            </a:r>
          </a:p>
          <a:p xmlns:a="http://schemas.openxmlformats.org/drawingml/2006/main">
            <a:r>
              <a:t/>
            </a:r>
          </a:p>
          <a:p xmlns:a="http://schemas.openxmlformats.org/drawingml/2006/main">
            <a:r>
              <a:t>Điểm hội đồng cần hiểu: đây là một hệ thống tích hợp và đánh giá có kiểm soát, không phải claim về một primitive mới.</a:t>
            </a:r>
          </a:p>
          <a:p xmlns:a="http://schemas.openxmlformats.org/drawingml/2006/main">
            <a:r>
              <a:t/>
            </a:r>
          </a:p>
          <a:p xmlns:a="http://schemas.openxmlformats.org/drawingml/2006/main">
            <a:r>
              <a:t>[Sources] doc/thesis@78e5bd8:docs/thesis_report_en.tex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2 — A code question is often a relationship question</a:t>
            </a:r>
          </a:p>
          <a:p xmlns:a="http://schemas.openxmlformats.org/drawingml/2006/main">
            <a:r>
              <a:t/>
            </a:r>
          </a:p>
          <a:p xmlns:a="http://schemas.openxmlformats.org/drawingml/2006/main">
            <a:r>
              <a:t>“Câu hỏi ví dụ là: BaseRetriever.retrieve thực hiện chuỗi xử lý nào khi nhận một query string, bao gồm callback và recursive retrieval?</a:t>
            </a:r>
          </a:p>
          <a:p xmlns:a="http://schemas.openxmlformats.org/drawingml/2006/main">
            <a:r>
              <a:t/>
            </a:r>
          </a:p>
          <a:p xmlns:a="http://schemas.openxmlformats.org/drawingml/2006/main">
            <a:r>
              <a:t>Vector search có thể tìm thấy các file chứa từ retrieve, callback hoặc query. Tuy nhiên, nó không trực tiếp biểu diễn được phương thức nào gọi phương thức</a:t>
            </a:r>
          </a:p>
          <a:p xmlns:a="http://schemas.openxmlformats.org/drawingml/2006/main">
            <a:r>
              <a:t>nào, callback xuất hiện ở bước nào, hay recursive retrieval liên quan ra sao.</a:t>
            </a:r>
          </a:p>
          <a:p xmlns:a="http://schemas.openxmlformats.org/drawingml/2006/main">
            <a:r>
              <a:t/>
            </a:r>
          </a:p>
          <a:p xmlns:a="http://schemas.openxmlformats.org/drawingml/2006/main">
            <a:r>
              <a:t>Vì vậy, semantic retrieval giúp tìm đúng khu vực của code, còn structural graph giúp giải thích quan hệ thực thi giữa các thành phần.”</a:t>
            </a:r>
          </a:p>
          <a:p xmlns:a="http://schemas.openxmlformats.org/drawingml/2006/main">
            <a:r>
              <a:t/>
            </a:r>
          </a:p>
          <a:p xmlns:a="http://schemas.openxmlformats.org/drawingml/2006/main">
            <a:r>
              <a:t>Điểm chốt: semantic similarity tìm được “đoạn code liên quan”, nhưng chưa chắc giải thích được “mối quan hệ giữa các đoạn code”.</a:t>
            </a:r>
          </a:p>
          <a:p xmlns:a="http://schemas.openxmlformats.org/drawingml/2006/main">
            <a:r>
              <a:t/>
            </a:r>
          </a:p>
          <a:p xmlns:a="http://schemas.openxmlformats.org/drawingml/2006/main">
            <a:r>
              <a:t>[Sources] eval/gold/llama_index_core_answer_quality_v1.json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3 — Three research questions</a:t>
            </a:r>
          </a:p>
          <a:p xmlns:a="http://schemas.openxmlformats.org/drawingml/2006/main">
            <a:r>
              <a:t/>
            </a:r>
          </a:p>
          <a:p xmlns:a="http://schemas.openxmlformats.org/drawingml/2006/main">
            <a:r>
              <a:t>“Luận văn đặt ra ba câu hỏi nghiên cứu.</a:t>
            </a:r>
          </a:p>
          <a:p xmlns:a="http://schemas.openxmlformats.org/drawingml/2006/main">
            <a:r>
              <a:t/>
            </a:r>
          </a:p>
          <a:p xmlns:a="http://schemas.openxmlformats.org/drawingml/2006/main">
            <a:r>
              <a:t>RQ1 hỏi về answer quality: Hybrid-RAG có cải thiện Faithfulness, Answer Relevancy và Answer Correctness so với vector-only hay không?</a:t>
            </a:r>
          </a:p>
          <a:p xmlns:a="http://schemas.openxmlformats.org/drawingml/2006/main">
            <a:r>
              <a:t/>
            </a:r>
          </a:p>
          <a:p xmlns:a="http://schemas.openxmlformats.org/drawingml/2006/main">
            <a:r>
              <a:t>RQ2 hỏi về efficiency trade-off: việc thêm graph retrieval ảnh hưởng thế nào đến retrieval latency, generation latency và token footprint?</a:t>
            </a:r>
          </a:p>
          <a:p xmlns:a="http://schemas.openxmlformats.org/drawingml/2006/main">
            <a:r>
              <a:t/>
            </a:r>
          </a:p>
          <a:p xmlns:a="http://schemas.openxmlformats.org/drawingml/2006/main">
            <a:r>
              <a:t>RQ3 hỏi về evidence strength: các khác biệt quan sát được có còn nằm trên hoặc dưới zero khi tính paired 95% confidence intervals hay không?</a:t>
            </a:r>
          </a:p>
          <a:p xmlns:a="http://schemas.openxmlformats.org/drawingml/2006/main">
            <a:r>
              <a:t/>
            </a:r>
          </a:p>
          <a:p xmlns:a="http://schemas.openxmlformats.org/drawingml/2006/main">
            <a:r>
              <a:t>RQ3 rất quan trọng vì một point estimate dương chưa đủ để kết luận rằng hệ thống thực sự cải thiện.”</a:t>
            </a:r>
          </a:p>
          <a:p xmlns:a="http://schemas.openxmlformats.org/drawingml/2006/main">
            <a:r>
              <a:t/>
            </a:r>
          </a:p>
          <a:p xmlns:a="http://schemas.openxmlformats.org/drawingml/2006/main">
            <a:r>
              <a:t>[Sources] doc/thesis@78e5bd8:docs/thesis_report_en.tex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4 — The experiment is controlled—but deliberately narrow</a:t>
            </a:r>
          </a:p>
          <a:p xmlns:a="http://schemas.openxmlformats.org/drawingml/2006/main">
            <a:r>
              <a:t/>
            </a:r>
          </a:p>
          <a:p xmlns:a="http://schemas.openxmlformats.org/drawingml/2006/main">
            <a:r>
              <a:t>“Thực nghiệm của em được kiểm soát vì hai điều kiện vector-only và hybrid sử dụng cùng source snapshot, cùng bộ câu hỏi, cùng answer model, cùng judge và cùng</a:t>
            </a:r>
          </a:p>
          <a:p xmlns:a="http://schemas.openxmlformats.org/drawingml/2006/main">
            <a:r>
              <a:t>số lần chạy.</a:t>
            </a:r>
          </a:p>
          <a:p xmlns:a="http://schemas.openxmlformats.org/drawingml/2006/main">
            <a:r>
              <a:t/>
            </a:r>
          </a:p>
          <a:p xmlns:a="http://schemas.openxmlformats.org/drawingml/2006/main">
            <a:r>
              <a:t>Tuy nhiên, phạm vi thực nghiệm cố ý hẹp: chỉ có một repository Python được pin là llama-index-core==0.14.21, một baseline vector-only và reference answers</a:t>
            </a:r>
          </a:p>
          <a:p xmlns:a="http://schemas.openxmlformats.org/drawingml/2006/main">
            <a:r>
              <a:t>được AI source-review.</a:t>
            </a:r>
          </a:p>
          <a:p xmlns:a="http://schemas.openxmlformats.org/drawingml/2006/main">
            <a:r>
              <a:t/>
            </a:r>
          </a:p>
          <a:p xmlns:a="http://schemas.openxmlformats.org/drawingml/2006/main">
            <a:r>
              <a:t>BM25, CodeBERT, GraphCodeBERT và Microsoft GraphRAG được dùng để positioning trong literature, chứ chưa phải các baseline đã chạy trong thực nghiệm này.</a:t>
            </a:r>
          </a:p>
          <a:p xmlns:a="http://schemas.openxmlformats.org/drawingml/2006/main">
            <a:r>
              <a:t/>
            </a:r>
          </a:p>
          <a:p xmlns:a="http://schemas.openxmlformats.org/drawingml/2006/main">
            <a:r>
              <a:t>Vì vậy, claim hợp lệ là Hybrid-RAG tốt hơn trên workload được pin và ghép cặp này, không phải tốt hơn mọi hệ thống RAG trong mọi repository.”</a:t>
            </a:r>
          </a:p>
          <a:p xmlns:a="http://schemas.openxmlformats.org/drawingml/2006/main">
            <a:r>
              <a:t/>
            </a:r>
          </a:p>
          <a:p xmlns:a="http://schemas.openxmlformats.org/drawingml/2006/main">
            <a:r>
              <a:t>Nếu hội đồng hỏi “So với GraphRAG/BM25 thì sao?”, trả lời:</a:t>
            </a:r>
          </a:p>
          <a:p xmlns:a="http://schemas.openxmlformats.org/drawingml/2006/main">
            <a:r>
              <a:t/>
            </a:r>
          </a:p>
          <a:p xmlns:a="http://schemas.openxmlformats.org/drawingml/2006/main">
            <a:r>
              <a:t>“Trong thesis này, đó là literature comparison, chưa phải experimental baseline. Experimental comparison chỉ gồm Hybrid-RAG và vector-only trong cùng điều</a:t>
            </a:r>
          </a:p>
          <a:p xmlns:a="http://schemas.openxmlformats.org/drawingml/2006/main">
            <a:r>
              <a:t>kiện.”</a:t>
            </a:r>
          </a:p>
          <a:p xmlns:a="http://schemas.openxmlformats.org/drawingml/2006/main">
            <a:r>
              <a:t/>
            </a:r>
          </a:p>
          <a:p xmlns:a="http://schemas.openxmlformats.org/drawingml/2006/main">
            <a:r>
              <a:t>[Sources] doc/thesis@78e5bd8:docs/thesis_report_en.tex; eval/gold/llama_index_core_answer_quality_v1.json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explanation: Historical schema-two result; useful for regression diagnosis, excluded from the confirmatory schema-three evidence.</a:t>
            </a:r>
          </a:p>
          <a:p xmlns:a="http://schemas.openxmlformats.org/drawingml/2006/main">
            <a:r>
              <a:t/>
            </a:r>
          </a:p>
          <a:p xmlns:a="http://schemas.openxmlformats.org/drawingml/2006/main">
            <a:r>
              <a:t>[Sources] results/README.md; results/evaluation_results.json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5 — One indexed source supports three query-aware retrieval paths</a:t>
            </a:r>
          </a:p>
          <a:p xmlns:a="http://schemas.openxmlformats.org/drawingml/2006/main">
            <a:r>
              <a:t/>
            </a:r>
          </a:p>
          <a:p xmlns:a="http://schemas.openxmlformats.org/drawingml/2006/main">
            <a:r>
              <a:t>“Ở index time, cùng một source snapshot được chuyển thành hai representation: graph representation và vector representation. Hai representation này dùng chung</a:t>
            </a:r>
          </a:p>
          <a:p xmlns:a="http://schemas.openxmlformats.org/drawingml/2006/main">
            <a:r>
              <a:t>source identity, schema version, embedding model và index run ID.</a:t>
            </a:r>
          </a:p>
          <a:p xmlns:a="http://schemas.openxmlformats.org/drawingml/2006/main">
            <a:r>
              <a:t/>
            </a:r>
          </a:p>
          <a:p xmlns:a="http://schemas.openxmlformats.org/drawingml/2006/main">
            <a:r>
              <a:t>Ở query time, hệ thống không xử lý mọi câu hỏi theo cùng một cách.</a:t>
            </a:r>
          </a:p>
          <a:p xmlns:a="http://schemas.openxmlformats.org/drawingml/2006/main">
            <a:r>
              <a:t/>
            </a:r>
          </a:p>
          <a:p xmlns:a="http://schemas.openxmlformats.org/drawingml/2006/main">
            <a:r>
              <a:t>Exact-relation route dùng graph plan cho những câu hỏi cần quan hệ cụ thể. Generic-local route chạy graph và vector retrieval rồi fusion kết quả. Global route</a:t>
            </a:r>
          </a:p>
          <a:p xmlns:a="http://schemas.openxmlformats.org/drawingml/2006/main">
            <a:r>
              <a:t>sử dụng community summaries để trả lời các câu hỏi tổng quan về kiến trúc repository.</a:t>
            </a:r>
          </a:p>
          <a:p xmlns:a="http://schemas.openxmlformats.org/drawingml/2006/main">
            <a:r>
              <a:t/>
            </a:r>
          </a:p>
          <a:p xmlns:a="http://schemas.openxmlformats.org/drawingml/2006/main">
            <a:r>
              <a:t>Do đó, Hybrid-RAG ở đây là query-aware retrieval, không phải lúc nào cũng đơn giản là chạy graph và vector song song.”</a:t>
            </a:r>
          </a:p>
          <a:p xmlns:a="http://schemas.openxmlformats.org/drawingml/2006/main">
            <a:r>
              <a:t/>
            </a:r>
          </a:p>
          <a:p xmlns:a="http://schemas.openxmlformats.org/drawingml/2006/main">
            <a:r>
              <a:t>[Sources] src/hybrid_rag/ingestion/pipeline.py; src/hybrid_rag/retrieval/hybrid_retriever.py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explanation: Exact relation is graph-first; generic local is concurrent graph + vector; global uses summaries.</a:t>
            </a:r>
          </a:p>
          <a:p xmlns:a="http://schemas.openxmlformats.org/drawingml/2006/main">
            <a:r>
              <a:t/>
            </a:r>
          </a:p>
          <a:p xmlns:a="http://schemas.openxmlformats.org/drawingml/2006/main">
            <a:r>
              <a:t>[Sources] src/hybrid_rag/retrieval/query_analyzer.py; src/hybrid_rag/retrieval/hybrid_retriever.py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explanation: Communities are directory-based summaries, not Louvain clustering; the running query stays on the local route, so this is the sibling global route.</a:t>
            </a:r>
          </a:p>
          <a:p xmlns:a="http://schemas.openxmlformats.org/drawingml/2006/main">
            <a:r>
              <a:t/>
            </a:r>
          </a:p>
          <a:p xmlns:a="http://schemas.openxmlformats.org/drawingml/2006/main">
            <a:r>
              <a:t>[Sources] src/hybrid_rag/graph/community_builder.py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6 — One function becomes two different kinds of evidence</a:t>
            </a:r>
          </a:p>
          <a:p xmlns:a="http://schemas.openxmlformats.org/drawingml/2006/main">
            <a:r>
              <a:t/>
            </a:r>
          </a:p>
          <a:p xmlns:a="http://schemas.openxmlformats.org/drawingml/2006/main">
            <a:r>
              <a:t>“Một function trong hệ thống được biểu diễn dưới hai dạng.</a:t>
            </a:r>
          </a:p>
          <a:p xmlns:a="http://schemas.openxmlformats.org/drawingml/2006/main">
            <a:r>
              <a:t/>
            </a:r>
          </a:p>
          <a:p xmlns:a="http://schemas.openxmlformats.org/drawingml/2006/main">
            <a:r>
              <a:t>Graph lưu các quan hệ rõ ràng, ví dụ module định nghĩa class nào, function nào gọi function nào, hoặc module nào import module nào.</a:t>
            </a:r>
          </a:p>
          <a:p xmlns:a="http://schemas.openxmlformats.org/drawingml/2006/main">
            <a:r>
              <a:t/>
            </a:r>
          </a:p>
          <a:p xmlns:a="http://schemas.openxmlformats.org/drawingml/2006/main">
            <a:r>
              <a:t>Vector store lưu source text và semantic meaning của đoạn code. Nó phù hợp để tìm các đoạn code liên quan về mặt ngữ nghĩa.</a:t>
            </a:r>
          </a:p>
          <a:p xmlns:a="http://schemas.openxmlformats.org/drawingml/2006/main">
            <a:r>
              <a:t/>
            </a:r>
          </a:p>
          <a:p xmlns:a="http://schemas.openxmlformats.org/drawingml/2006/main">
            <a:r>
              <a:t>Hai representation này bổ sung cho nhau: vector search giúp tìm vùng code phù hợp, còn graph traversal giúp nối các vùng đó thành một explanation có cấu</a:t>
            </a:r>
          </a:p>
          <a:p xmlns:a="http://schemas.openxmlformats.org/drawingml/2006/main">
            <a:r>
              <a:t>trúc.”</a:t>
            </a:r>
          </a:p>
          <a:p xmlns:a="http://schemas.openxmlformats.org/drawingml/2006/main">
            <a:r>
              <a:t/>
            </a:r>
          </a:p>
          <a:p xmlns:a="http://schemas.openxmlformats.org/drawingml/2006/main">
            <a:r>
              <a:t>Nếu hội đồng hỏi “Graph có thay thế vector không?”, trả lời:</a:t>
            </a:r>
          </a:p>
          <a:p xmlns:a="http://schemas.openxmlformats.org/drawingml/2006/main">
            <a:r>
              <a:t/>
            </a:r>
          </a:p>
          <a:p xmlns:a="http://schemas.openxmlformats.org/drawingml/2006/main">
            <a:r>
              <a:t>“Không. Graph mạnh ở explicit relation, nhưng vector mạnh ở semantic matching. Thiết kế của em giữ cả hai vì hai loại evidence giải quyết hai phần khác nhau</a:t>
            </a:r>
          </a:p>
          <a:p xmlns:a="http://schemas.openxmlformats.org/drawingml/2006/main">
            <a:r>
              <a:t>của câu hỏi.”</a:t>
            </a:r>
          </a:p>
          <a:p xmlns:a="http://schemas.openxmlformats.org/drawingml/2006/main">
            <a:r>
              <a:t/>
            </a:r>
          </a:p>
          <a:p xmlns:a="http://schemas.openxmlformats.org/drawingml/2006/main">
            <a:r>
              <a:t>[Sources] docs/schema/kg-schema.md; src/hybrid_rag/ingestion/pipeline.py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explanation: Directory → module → class → function ownership is distinct from calls, imports and inheritance.</a:t>
            </a:r>
          </a:p>
          <a:p xmlns:a="http://schemas.openxmlformats.org/drawingml/2006/main">
            <a:r>
              <a:t/>
            </a:r>
          </a:p>
          <a:p xmlns:a="http://schemas.openxmlformats.org/drawingml/2006/main">
            <a:r>
              <a:t>[Sources] src/hybrid_rag/ingestion/parser.py; docs/schema/kg-schema.md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explanation: Ambiguous targets remain namespaced stubs instead of inventing graph edges.</a:t>
            </a:r>
          </a:p>
          <a:p xmlns:a="http://schemas.openxmlformats.org/drawingml/2006/main">
            <a:r>
              <a:t/>
            </a:r>
          </a:p>
          <a:p xmlns:a="http://schemas.openxmlformats.org/drawingml/2006/main">
            <a:r>
              <a:t>[Sources] src/hybrid_rag/ingestion/entity_resolver.py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7 — Generic local queries fuse complementary rankings</a:t>
            </a:r>
          </a:p>
          <a:p xmlns:a="http://schemas.openxmlformats.org/drawingml/2006/main">
            <a:r>
              <a:t/>
            </a:r>
          </a:p>
          <a:p xmlns:a="http://schemas.openxmlformats.org/drawingml/2006/main">
            <a:r>
              <a:t>“Trong generic local route, điểm graph và điểm vector không cùng thang đo, nên hệ thống không cộng trực tiếp raw scores.</a:t>
            </a:r>
          </a:p>
          <a:p xmlns:a="http://schemas.openxmlformats.org/drawingml/2006/main">
            <a:r>
              <a:t/>
            </a:r>
          </a:p>
          <a:p xmlns:a="http://schemas.openxmlformats.org/drawingml/2006/main">
            <a:r>
              <a:t>Thay vào đó, RRF sử dụng vị trí xếp hạng của mỗi candidate. Với generic local route, graph weight được giới hạn ở 1.0 và vector weight là 1.0. Sau khi fusion,</a:t>
            </a:r>
          </a:p>
          <a:p xmlns:a="http://schemas.openxmlformats.org/drawingml/2006/main">
            <a:r>
              <a:t>hệ thống deduplicate các node và giữ context phù hợp để gửi cho local LLM.</a:t>
            </a:r>
          </a:p>
          <a:p xmlns:a="http://schemas.openxmlformats.org/drawingml/2006/main">
            <a:r>
              <a:t/>
            </a:r>
          </a:p>
          <a:p xmlns:a="http://schemas.openxmlformats.org/drawingml/2006/main">
            <a:r>
              <a:t>Với exact relation route, graph có thể được ưu tiên mạnh hơn. Còn trong benchmark answer quality, hệ thống giữ năm context items đầu tiên.</a:t>
            </a:r>
          </a:p>
          <a:p xmlns:a="http://schemas.openxmlformats.org/drawingml/2006/main">
            <a:r>
              <a:t/>
            </a:r>
          </a:p>
          <a:p xmlns:a="http://schemas.openxmlformats.org/drawingml/2006/main">
            <a:r>
              <a:t>Điểm cần nhấn mạnh là RRF kết hợp rank positions, không giả định graph score và vector score đã được calibration trên cùng một scale.”</a:t>
            </a:r>
          </a:p>
          <a:p xmlns:a="http://schemas.openxmlformats.org/drawingml/2006/main">
            <a:r>
              <a:t/>
            </a:r>
          </a:p>
          <a:p xmlns:a="http://schemas.openxmlformats.org/drawingml/2006/main">
            <a:r>
              <a:t>Nếu bị hỏi “Tại sao k bằng 60?”, trả lời:</a:t>
            </a:r>
          </a:p>
          <a:p xmlns:a="http://schemas.openxmlformats.org/drawingml/2006/main">
            <a:r>
              <a:t/>
            </a:r>
          </a:p>
          <a:p xmlns:a="http://schemas.openxmlformats.org/drawingml/2006/main">
            <a:r>
              <a:t>“60 là smoothing constant được dùng trong công thức RRF hiện tại. Trong thesis này, em không claim đây là giá trị tối ưu; đó là một cấu hình cố định được giữ</a:t>
            </a:r>
          </a:p>
          <a:p xmlns:a="http://schemas.openxmlformats.org/drawingml/2006/main">
            <a:r>
              <a:t>nhất quán trong thực nghiệm.”</a:t>
            </a:r>
          </a:p>
          <a:p xmlns:a="http://schemas.openxmlformats.org/drawingml/2006/main">
            <a:r>
              <a:t/>
            </a:r>
          </a:p>
          <a:p xmlns:a="http://schemas.openxmlformats.org/drawingml/2006/main">
            <a:r>
              <a:t>[Sources] src/hybrid_rag/retrieval/hybrid_retriever.py; src/hybrid_rag/eval/answer_quality.py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explanation: Smoothing constant 60; route-specific weights; vector-only sets graph contribution to zero.</a:t>
            </a:r>
          </a:p>
          <a:p xmlns:a="http://schemas.openxmlformats.org/drawingml/2006/main">
            <a:r>
              <a:t/>
            </a:r>
          </a:p>
          <a:p xmlns:a="http://schemas.openxmlformats.org/drawingml/2006/main">
            <a:r>
              <a:t>[Sources] src/hybrid_rag/retrieval/hybrid_retriever.py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8 — Unsupported states fail at explicit boundaries</a:t>
            </a:r>
          </a:p>
          <a:p xmlns:a="http://schemas.openxmlformats.org/drawingml/2006/main">
            <a:r>
              <a:t/>
            </a:r>
          </a:p>
          <a:p xmlns:a="http://schemas.openxmlformats.org/drawingml/2006/main">
            <a:r>
              <a:t>“Reliability của hệ thống không chỉ là trả về answer khi mọi thứ đúng, mà còn phải fail rõ ràng khi input hoặc state không được hỗ trợ.</a:t>
            </a:r>
          </a:p>
          <a:p xmlns:a="http://schemas.openxmlformats.org/drawingml/2006/main">
            <a:r>
              <a:t/>
            </a:r>
          </a:p>
          <a:p xmlns:a="http://schemas.openxmlformats.org/drawingml/2006/main">
            <a:r>
              <a:t>Hệ thống reject Java vì semantic Java extraction chưa được triển khai. Nó kiểm tra repository identity, source digest, schema và embedding model trước khi</a:t>
            </a:r>
          </a:p>
          <a:p xmlns:a="http://schemas.openxmlformats.org/drawingml/2006/main">
            <a:r>
              <a:t>retrieval hoặc evaluation.</a:t>
            </a:r>
          </a:p>
          <a:p xmlns:a="http://schemas.openxmlformats.org/drawingml/2006/main">
            <a:r>
              <a:t/>
            </a:r>
          </a:p>
          <a:p xmlns:a="http://schemas.openxmlformats.org/drawingml/2006/main">
            <a:r>
              <a:t>Trong quá trình indexing, dữ liệu mới được chuẩn bị trước khi database mutation, và records mới được ghi trước khi xóa records cũ. Điều này làm giảm empty-</a:t>
            </a:r>
          </a:p>
          <a:p xmlns:a="http://schemas.openxmlformats.org/drawingml/2006/main">
            <a:r>
              <a:t>index window, nhưng em không claim đây là reader-isolated atomic cutover.</a:t>
            </a:r>
          </a:p>
          <a:p xmlns:a="http://schemas.openxmlformats.org/drawingml/2006/main">
            <a:r>
              <a:t/>
            </a:r>
          </a:p>
          <a:p xmlns:a="http://schemas.openxmlformats.org/drawingml/2006/main">
            <a:r>
              <a:t>Cache generation cũng thay đổi theo index generation để tránh việc answer từ snapshot cũ bị xem như answer hiện tại. Latest validation hiện có 315 tests</a:t>
            </a:r>
          </a:p>
          <a:p xmlns:a="http://schemas.openxmlformats.org/drawingml/2006/main">
            <a:r>
              <a:t>passed, 27 integration cases skipped rõ ràng và 2 warnings.”</a:t>
            </a:r>
          </a:p>
          <a:p xmlns:a="http://schemas.openxmlformats.org/drawingml/2006/main">
            <a:r>
              <a:t/>
            </a:r>
          </a:p>
          <a:p xmlns:a="http://schemas.openxmlformats.org/drawingml/2006/main">
            <a:r>
              <a:t>Nếu hội đồng hỏi “Replacement-before-cleanup có atomic không?”, trả lời:</a:t>
            </a:r>
          </a:p>
          <a:p xmlns:a="http://schemas.openxmlformats.org/drawingml/2006/main">
            <a:r>
              <a:t/>
            </a:r>
          </a:p>
          <a:p xmlns:a="http://schemas.openxmlformats.org/drawingml/2006/main">
            <a:r>
              <a:t>“Không hoàn toàn atomic đối với readers. Nó chỉ giảm khoảng thời gian index bị rỗng; đây là reliability improvement, không phải transactional cutover.”</a:t>
            </a:r>
          </a:p>
          <a:p xmlns:a="http://schemas.openxmlformats.org/drawingml/2006/main">
            <a:r>
              <a:t/>
            </a:r>
          </a:p>
          <a:p xmlns:a="http://schemas.openxmlformats.org/drawingml/2006/main">
            <a:r>
              <a:t>[Sources] tests; src/hybrid_rag/ingestion/pipeline.py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explanation: Source digest, repository, schema, embedding model and index run must match.</a:t>
            </a:r>
          </a:p>
          <a:p xmlns:a="http://schemas.openxmlformats.org/drawingml/2006/main">
            <a:r>
              <a:t/>
            </a:r>
          </a:p>
          <a:p xmlns:a="http://schemas.openxmlformats.org/drawingml/2006/main">
            <a:r>
              <a:t>[Sources] src/hybrid_rag/eval/preflight.py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9 — The confirmatory workload preserves pairing</a:t>
            </a:r>
          </a:p>
          <a:p xmlns:a="http://schemas.openxmlformats.org/drawingml/2006/main">
            <a:r>
              <a:t/>
            </a:r>
          </a:p>
          <a:p xmlns:a="http://schemas.openxmlformats.org/drawingml/2006/main">
            <a:r>
              <a:t>“Confirmatory benchmark có 30 câu hỏi, chia thành 10 simple, 10 medium và 10 hard.</a:t>
            </a:r>
          </a:p>
          <a:p xmlns:a="http://schemas.openxmlformats.org/drawingml/2006/main">
            <a:r>
              <a:t/>
            </a:r>
          </a:p>
          <a:p xmlns:a="http://schemas.openxmlformats.org/drawingml/2006/main">
            <a:r>
              <a:t>Mỗi câu hỏi chạy trong hai điều kiện: vector-only và hybrid. Mỗi điều kiện chạy ba lần, nên tổng cộng có 180 raw records.</a:t>
            </a:r>
          </a:p>
          <a:p xmlns:a="http://schemas.openxmlformats.org/drawingml/2006/main">
            <a:r>
              <a:t/>
            </a:r>
          </a:p>
          <a:p xmlns:a="http://schemas.openxmlformats.org/drawingml/2006/main">
            <a:r>
              <a:t>Tuy nhiên, 180 records không phải 180 independent observations. Ba lần chạy của cùng một câu hỏi được average trong từng mode. Sau đó, mỗi câu hỏi tạo thành</a:t>
            </a:r>
          </a:p>
          <a:p xmlns:a="http://schemas.openxmlformats.org/drawingml/2006/main">
            <a:r>
              <a:t>một pair giữa hybrid và vector-only. Vì vậy, đơn vị suy luận thật sự là 30 paired question differences.</a:t>
            </a:r>
          </a:p>
          <a:p xmlns:a="http://schemas.openxmlformats.org/drawingml/2006/main">
            <a:r>
              <a:t/>
            </a:r>
          </a:p>
          <a:p xmlns:a="http://schemas.openxmlformats.org/drawingml/2006/main">
            <a:r>
              <a:t>Cuối cùng, em resample 30 pairs này 10,000 lần với seed 42 để tính paired 95% confidence intervals. Cách này tránh việc xem ba lần generation của cùng một câu</a:t>
            </a:r>
          </a:p>
          <a:p xmlns:a="http://schemas.openxmlformats.org/drawingml/2006/main">
            <a:r>
              <a:t>hỏi như ba bằng chứng độc lập.”</a:t>
            </a:r>
          </a:p>
          <a:p xmlns:a="http://schemas.openxmlformats.org/drawingml/2006/main">
            <a:r>
              <a:t/>
            </a:r>
          </a:p>
          <a:p xmlns:a="http://schemas.openxmlformats.org/drawingml/2006/main">
            <a:r>
              <a:t>[Sources] eval/gold/llama_index_core_answer_quality_v1.json; scripts/analyze_answer_quality_statistics.py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explanation: The LlamaIndex wheel and extracted source digest define the benchmark input.</a:t>
            </a:r>
          </a:p>
          <a:p xmlns:a="http://schemas.openxmlformats.org/drawingml/2006/main">
            <a:r>
              <a:t/>
            </a:r>
          </a:p>
          <a:p xmlns:a="http://schemas.openxmlformats.org/drawingml/2006/main">
            <a:r>
              <a:t>[Sources] eval/gold/llama_index_core_answer_quality_v1.json; results/answer_quality_benchmark_schema3.json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explanation: Filtering, provenance aborts, replacement-before-cleanup, cache generations and Java rejection are testable behaviors.</a:t>
            </a:r>
          </a:p>
          <a:p xmlns:a="http://schemas.openxmlformats.org/drawingml/2006/main">
            <a:r>
              <a:t/>
            </a:r>
          </a:p>
          <a:p xmlns:a="http://schemas.openxmlformats.org/drawingml/2006/main">
            <a:r>
              <a:t>[Sources] tests; src/hybrid_rag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10 — All point estimates favor Hybrid</a:t>
            </a:r>
          </a:p>
          <a:p xmlns:a="http://schemas.openxmlformats.org/drawingml/2006/main">
            <a:r>
              <a:t/>
            </a:r>
          </a:p>
          <a:p xmlns:a="http://schemas.openxmlformats.org/drawingml/2006/main">
            <a:r>
              <a:t>“Ở mức point estimate, cả ba answer-quality metrics đều cao hơn khi dùng Hybrid-RAG.</a:t>
            </a:r>
          </a:p>
          <a:p xmlns:a="http://schemas.openxmlformats.org/drawingml/2006/main">
            <a:r>
              <a:t/>
            </a:r>
          </a:p>
          <a:p xmlns:a="http://schemas.openxmlformats.org/drawingml/2006/main">
            <a:r>
              <a:t>Faithfulness tăng từ 0.896 lên 0.924, với delta khoảng +0.029, nhưng CI là [-0.069, 0.115], nên chưa thể kết luận chắc chắn.</a:t>
            </a:r>
          </a:p>
          <a:p xmlns:a="http://schemas.openxmlformats.org/drawingml/2006/main">
            <a:r>
              <a:t/>
            </a:r>
          </a:p>
          <a:p xmlns:a="http://schemas.openxmlformats.org/drawingml/2006/main">
            <a:r>
              <a:t>Answer Relevancy tăng từ 0.729 lên 0.808, delta +0.079, nhưng CI vẫn chạm hoặc thấp hơn zero rất nhẹ.</a:t>
            </a:r>
          </a:p>
          <a:p xmlns:a="http://schemas.openxmlformats.org/drawingml/2006/main">
            <a:r>
              <a:t/>
            </a:r>
          </a:p>
          <a:p xmlns:a="http://schemas.openxmlformats.org/drawingml/2006/main">
            <a:r>
              <a:t>Answer Correctness tăng từ 0.652 lên 0.698, delta +0.046, với CI [0.002, 0.094]. Đây là metric duy nhất có khoảng tin cậy hoàn toàn trên zero trong workload</a:t>
            </a:r>
          </a:p>
          <a:p xmlns:a="http://schemas.openxmlformats.org/drawingml/2006/main">
            <a:r>
              <a:t>này.</a:t>
            </a:r>
          </a:p>
          <a:p xmlns:a="http://schemas.openxmlformats.org/drawingml/2006/main">
            <a:r>
              <a:t/>
            </a:r>
          </a:p>
          <a:p xmlns:a="http://schemas.openxmlformats.org/drawingml/2006/main">
            <a:r>
              <a:t>Các scores này là automated judge scores, không phải tỷ lệ phần trăm correctness khách quan do human adjudication đo.”</a:t>
            </a:r>
          </a:p>
          <a:p xmlns:a="http://schemas.openxmlformats.org/drawingml/2006/main">
            <a:r>
              <a:t/>
            </a:r>
          </a:p>
          <a:p xmlns:a="http://schemas.openxmlformats.org/drawingml/2006/main">
            <a:r>
              <a:t>[Sources] doc/thesis@78e5bd8:results/answer_quality_benchmark_statistics.json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explanation: The result is auditable automated evidence, not a human-measured production accuracy rate.</a:t>
            </a:r>
          </a:p>
          <a:p xmlns:a="http://schemas.openxmlformats.org/drawingml/2006/main">
            <a:r>
              <a:t/>
            </a:r>
          </a:p>
          <a:p xmlns:a="http://schemas.openxmlformats.org/drawingml/2006/main">
            <a:r>
              <a:t>[Sources] eval/gold/llama_index_core_answer_quality_v1.json; results/answer_quality_benchmark_schema3.json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explanation: Three repeats are averaged within case; 30 paired cases are resampled 10,000 times.</a:t>
            </a:r>
          </a:p>
          <a:p xmlns:a="http://schemas.openxmlformats.org/drawingml/2006/main">
            <a:r>
              <a:t/>
            </a:r>
          </a:p>
          <a:p xmlns:a="http://schemas.openxmlformats.org/drawingml/2006/main">
            <a:r>
              <a:t>[Sources] scripts/analyze_answer_quality_statistics.py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explanation: Incremental indexing, communities, exploration and optional non-code ingestion are system capabilities with separate evidence boundaries.</a:t>
            </a:r>
          </a:p>
          <a:p xmlns:a="http://schemas.openxmlformats.org/drawingml/2006/main">
            <a:r>
              <a:t/>
            </a:r>
          </a:p>
          <a:p xmlns:a="http://schemas.openxmlformats.org/drawingml/2006/main">
            <a:r>
              <a:t>[Sources] src/hybrid_rag/ingestion; src/hybrid_rag/graph/community_builder.py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11 — Positive average and reliable improvement</a:t>
            </a:r>
          </a:p>
          <a:p xmlns:a="http://schemas.openxmlformats.org/drawingml/2006/main">
            <a:r>
              <a:t/>
            </a:r>
          </a:p>
          <a:p xmlns:a="http://schemas.openxmlformats.org/drawingml/2006/main">
            <a:r>
              <a:t>“Slide này phân biệt hai khái niệm.</a:t>
            </a:r>
          </a:p>
          <a:p xmlns:a="http://schemas.openxmlformats.org/drawingml/2006/main">
            <a:r>
              <a:t/>
            </a:r>
          </a:p>
          <a:p xmlns:a="http://schemas.openxmlformats.org/drawingml/2006/main">
            <a:r>
              <a:t>Positive average chỉ nói rằng trong sample hiện tại, Hybrid có mean cao hơn. Reliable improvement yêu cầu confidence interval của delta không bao gồm zero.</a:t>
            </a:r>
          </a:p>
          <a:p xmlns:a="http://schemas.openxmlformats.org/drawingml/2006/main">
            <a:r>
              <a:t/>
            </a:r>
          </a:p>
          <a:p xmlns:a="http://schemas.openxmlformats.org/drawingml/2006/main">
            <a:r>
              <a:t>Faithfulness vẫn tương thích với cả một hiệu ứng âm nhỏ và một hiệu ứng dương lớn, nên em gọi là inconclusive.</a:t>
            </a:r>
          </a:p>
          <a:p xmlns:a="http://schemas.openxmlformats.org/drawingml/2006/main">
            <a:r>
              <a:t/>
            </a:r>
          </a:p>
          <a:p xmlns:a="http://schemas.openxmlformats.org/drawingml/2006/main">
            <a:r>
              <a:t>Answer Relevancy gần như hoàn toàn dương nhưng lower bound vẫn hơi dưới zero, nên em gọi là borderline.</a:t>
            </a:r>
          </a:p>
          <a:p xmlns:a="http://schemas.openxmlformats.org/drawingml/2006/main">
            <a:r>
              <a:t/>
            </a:r>
          </a:p>
          <a:p xmlns:a="http://schemas.openxmlformats.org/drawingml/2006/main">
            <a:r>
              <a:t>Chỉ Answer Correctness có interval hoàn toàn dương. Vì vậy, em chỉ đưa ra claim mạnh cho correctness, còn hai metric kia được báo cáo trung thực là chưa đủ</a:t>
            </a:r>
          </a:p>
          <a:p xmlns:a="http://schemas.openxmlformats.org/drawingml/2006/main">
            <a:r>
              <a:t>evidence.”</a:t>
            </a:r>
          </a:p>
          <a:p xmlns:a="http://schemas.openxmlformats.org/drawingml/2006/main">
            <a:r>
              <a:t/>
            </a:r>
          </a:p>
          <a:p xmlns:a="http://schemas.openxmlformats.org/drawingml/2006/main">
            <a:r>
              <a:t>[Sources] doc/thesis@78e5bd8:docs/thesis_report_en.tex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12 — Efficiency trade-off</a:t>
            </a:r>
          </a:p>
          <a:p xmlns:a="http://schemas.openxmlformats.org/drawingml/2006/main">
            <a:r>
              <a:t/>
            </a:r>
          </a:p>
          <a:p xmlns:a="http://schemas.openxmlformats.org/drawingml/2006/main">
            <a:r>
              <a:t>“Hybrid retrieval làm retrieval latency tăng từ khoảng 134 ms lên 371 ms. Delta là khoảng +237 ms, với CI [208, 266], nên retrieval overhead này được dữ liệu</a:t>
            </a:r>
          </a:p>
          <a:p xmlns:a="http://schemas.openxmlformats.org/drawingml/2006/main">
            <a:r>
              <a:t>hỗ trợ.</a:t>
            </a:r>
          </a:p>
          <a:p xmlns:a="http://schemas.openxmlformats.org/drawingml/2006/main">
            <a:r>
              <a:t/>
            </a:r>
          </a:p>
          <a:p xmlns:a="http://schemas.openxmlformats.org/drawingml/2006/main">
            <a:r>
              <a:t>Generation latency lại giảm từ khoảng 96.8 giây xuống 87.3 giây, nhưng CI là [-23.0, +1.4], vẫn chứa zero.</a:t>
            </a:r>
          </a:p>
          <a:p xmlns:a="http://schemas.openxmlformats.org/drawingml/2006/main">
            <a:r>
              <a:t/>
            </a:r>
          </a:p>
          <a:p xmlns:a="http://schemas.openxmlformats.org/drawingml/2006/main">
            <a:r>
              <a:t>Prompt tokens giảm khoảng 101 tokens và completion tokens giảm khoảng 100 tokens, nhưng hai khoảng tin cậy này cũng chứa zero.</a:t>
            </a:r>
          </a:p>
          <a:p xmlns:a="http://schemas.openxmlformats.org/drawingml/2006/main">
            <a:r>
              <a:t/>
            </a:r>
          </a:p>
          <a:p xmlns:a="http://schemas.openxmlformats.org/drawingml/2006/main">
            <a:r>
              <a:t>Vì vậy, kết luận chính về efficiency là Hybrid có retrieval overhead được đo rõ ràng. Em không claim rằng nó đã chứng minh generation hoặc token efficiency.</a:t>
            </a:r>
          </a:p>
          <a:p xmlns:a="http://schemas.openxmlformats.org/drawingml/2006/main">
            <a:r>
              <a:t>Con số 371 ms cũng chỉ là retrieval latency trong workload này, không phải end-to-end SLA.”</a:t>
            </a:r>
          </a:p>
          <a:p xmlns:a="http://schemas.openxmlformats.org/drawingml/2006/main">
            <a:r>
              <a:t/>
            </a:r>
          </a:p>
          <a:p xmlns:a="http://schemas.openxmlformats.org/drawingml/2006/main">
            <a:r>
              <a:t>[Sources] doc/thesis@78e5bd8:results/answer_quality_benchmark_statistics.json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13 — Focused live demo</a:t>
            </a:r>
          </a:p>
          <a:p xmlns:a="http://schemas.openxmlformats.org/drawingml/2006/main">
            <a:r>
              <a:t/>
            </a:r>
          </a:p>
          <a:p xmlns:a="http://schemas.openxmlformats.org/drawingml/2006/main">
            <a:r>
              <a:t>“Demo chỉ minh họa một flow hoàn chỉnh, không dùng để thay thế benchmark.</a:t>
            </a:r>
          </a:p>
          <a:p xmlns:a="http://schemas.openxmlformats.org/drawingml/2006/main">
            <a:r>
              <a:t/>
            </a:r>
          </a:p>
          <a:p xmlns:a="http://schemas.openxmlformats.org/drawingml/2006/main">
            <a:r>
              <a:t>Đầu tiên, em kiểm tra FalkorDB, Qdrant và Ollama đang hoạt động. Sau đó, em gửi một câu hỏi về execution sequence của BaseRetriever.retrieve, có repository</a:t>
            </a:r>
          </a:p>
          <a:p xmlns:a="http://schemas.openxmlformats.org/drawingml/2006/main">
            <a:r>
              <a:t>scope.</a:t>
            </a:r>
          </a:p>
          <a:p xmlns:a="http://schemas.openxmlformats.org/drawingml/2006/main">
            <a:r>
              <a:t/>
            </a:r>
          </a:p>
          <a:p xmlns:a="http://schemas.openxmlformats.org/drawingml/2006/main">
            <a:r>
              <a:t>Em cho hội đồng xem graph candidates, vector candidates, RRF result, context được chọn và answer kèm source paths.</a:t>
            </a:r>
          </a:p>
          <a:p xmlns:a="http://schemas.openxmlformats.org/drawingml/2006/main">
            <a:r>
              <a:t/>
            </a:r>
          </a:p>
          <a:p xmlns:a="http://schemas.openxmlformats.org/drawingml/2006/main">
            <a:r>
              <a:t>Cuối cùng, em thử indexing một Java fixture để cho thấy hệ thống reject unsupported input thay vì giả vờ index thành công.</a:t>
            </a:r>
          </a:p>
          <a:p xmlns:a="http://schemas.openxmlformats.org/drawingml/2006/main">
            <a:r>
              <a:t/>
            </a:r>
          </a:p>
          <a:p xmlns:a="http://schemas.openxmlformats.org/drawingml/2006/main">
            <a:r>
              <a:t>Demo chứng minh mechanism có thể quan sát được; benchmark mới là cơ sở cho aggregate claim.”</a:t>
            </a:r>
          </a:p>
          <a:p xmlns:a="http://schemas.openxmlformats.org/drawingml/2006/main">
            <a:r>
              <a:t/>
            </a:r>
          </a:p>
          <a:p xmlns:a="http://schemas.openxmlformats.org/drawingml/2006/main">
            <a:r>
              <a:t>[Sources] presentation/hybrid_rag_demo_scenario.md; src/hybrid_rag/api/main.py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14 — The contribution is a trustworthy code-retrieval system</a:t>
            </a:r>
          </a:p>
          <a:p xmlns:a="http://schemas.openxmlformats.org/drawingml/2006/main">
            <a:r>
              <a:t/>
            </a:r>
          </a:p>
          <a:p xmlns:a="http://schemas.openxmlformats.org/drawingml/2006/main">
            <a:r>
              <a:t>“Luận văn không claim phát minh AST parsing, graph retrieval, vector search hay RRF.</a:t>
            </a:r>
          </a:p>
          <a:p xmlns:a="http://schemas.openxmlformats.org/drawingml/2006/main">
            <a:r>
              <a:t/>
            </a:r>
          </a:p>
          <a:p xmlns:a="http://schemas.openxmlformats.org/drawingml/2006/main">
            <a:r>
              <a:t>Đóng góp chính là tích hợp các thành phần đó thành một hệ thống code retrieval local, repository-scoped và auditable.</a:t>
            </a:r>
          </a:p>
          <a:p xmlns:a="http://schemas.openxmlformats.org/drawingml/2006/main">
            <a:r>
              <a:t/>
            </a:r>
          </a:p>
          <a:p xmlns:a="http://schemas.openxmlformats.org/drawingml/2006/main">
            <a:r>
              <a:t>Hệ thống có query-aware routing, graph và vector indexes dùng chung provenance identity, có community summaries, fail-closed language boundary và evaluation</a:t>
            </a:r>
          </a:p>
          <a:p xmlns:a="http://schemas.openxmlformats.org/drawingml/2006/main">
            <a:r>
              <a:t>artifacts có thể kiểm tra lại.</a:t>
            </a:r>
          </a:p>
          <a:p xmlns:a="http://schemas.openxmlformats.org/drawingml/2006/main">
            <a:r>
              <a:t/>
            </a:r>
          </a:p>
          <a:p xmlns:a="http://schemas.openxmlformats.org/drawingml/2006/main">
            <a:r>
              <a:t>Các chức năng như incremental indexing, Web UI, MCP server hay exploration portal là engineering capabilities. Chúng giúp hệ thống hữu dụng hơn, nhưng không</a:t>
            </a:r>
          </a:p>
          <a:p xmlns:a="http://schemas.openxmlformats.org/drawingml/2006/main">
            <a:r>
              <a:t>nên bị trình bày như các research claims đã được benchmark đầy đủ.”</a:t>
            </a:r>
          </a:p>
          <a:p xmlns:a="http://schemas.openxmlformats.org/drawingml/2006/main">
            <a:r>
              <a:t/>
            </a:r>
          </a:p>
          <a:p xmlns:a="http://schemas.openxmlformats.org/drawingml/2006/main">
            <a:r>
              <a:t>[Sources] repository implementation and evaluation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explanation: Human review, more questions, larger cross-repo workloads, stronger baselines, Java and resource measurements remain open.</a:t>
            </a:r>
          </a:p>
          <a:p xmlns:a="http://schemas.openxmlformats.org/drawingml/2006/main">
            <a:r>
              <a:t/>
            </a:r>
          </a:p>
          <a:p xmlns:a="http://schemas.openxmlformats.org/drawingml/2006/main">
            <a:r>
              <a:t>[Sources] doc/thesis@78e5bd8:docs/thesis_report_en.tex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15 — Conclusion</a:t>
            </a:r>
          </a:p>
          <a:p xmlns:a="http://schemas.openxmlformats.org/drawingml/2006/main">
            <a:r>
              <a:t/>
            </a:r>
          </a:p>
          <a:p xmlns:a="http://schemas.openxmlformats.org/drawingml/2006/main">
            <a:r>
              <a:t>“Kết luận chính cần giữ thật chính xác.</a:t>
            </a:r>
          </a:p>
          <a:p xmlns:a="http://schemas.openxmlformats.org/drawingml/2006/main">
            <a:r>
              <a:t/>
            </a:r>
          </a:p>
          <a:p xmlns:a="http://schemas.openxmlformats.org/drawingml/2006/main">
            <a:r>
              <a:t>Trên workload LlamaIndex được pin, Hybrid-RAG cải thiện judged Answer Correctness với delta +0.046 và CI [0.002, 0.094].</a:t>
            </a:r>
          </a:p>
          <a:p xmlns:a="http://schemas.openxmlformats.org/drawingml/2006/main">
            <a:r>
              <a:t/>
            </a:r>
          </a:p>
          <a:p xmlns:a="http://schemas.openxmlformats.org/drawingml/2006/main">
            <a:r>
              <a:t>Cái giá đo được là thêm khoảng 237 ms retrieval latency.</a:t>
            </a:r>
          </a:p>
          <a:p xmlns:a="http://schemas.openxmlformats.org/drawingml/2006/main">
            <a:r>
              <a:t/>
            </a:r>
          </a:p>
          <a:p xmlns:a="http://schemas.openxmlformats.org/drawingml/2006/main">
            <a:r>
              <a:t>Faithfulness, Relevancy, generation latency và token reductions có point estimate tích cực hoặc thuận lợi ở một số khía cạnh, nhưng confidence intervals chưa</a:t>
            </a:r>
          </a:p>
          <a:p xmlns:a="http://schemas.openxmlformats.org/drawingml/2006/main">
            <a:r>
              <a:t>đủ để claim chắc chắn.</a:t>
            </a:r>
          </a:p>
          <a:p xmlns:a="http://schemas.openxmlformats.org/drawingml/2006/main">
            <a:r>
              <a:t/>
            </a:r>
          </a:p>
          <a:p xmlns:a="http://schemas.openxmlformats.org/drawingml/2006/main">
            <a:r>
              <a:t>Vì vậy, conclusion của thesis là Hybrid-RAG cho thấy lợi ích về answer correctness trong workload được kiểm soát này, chứ chưa phải bằng chứng về</a:t>
            </a:r>
          </a:p>
          <a:p xmlns:a="http://schemas.openxmlformats.org/drawingml/2006/main">
            <a:r>
              <a:t>generalization cho mọi repository, mọi ngôn ngữ hoặc mọi baseline.”</a:t>
            </a:r>
          </a:p>
          <a:p xmlns:a="http://schemas.openxmlformats.org/drawingml/2006/main">
            <a:r>
              <a:t/>
            </a:r>
          </a:p>
          <a:p xmlns:a="http://schemas.openxmlformats.org/drawingml/2006/main">
            <a:r>
              <a:t>[Sources] doc/thesis@78e5bd8:docs/thesis_report_en.tex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8adacdbcda47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da90aea13842a1" /><Relationship Type="http://schemas.openxmlformats.org/officeDocument/2006/relationships/slideLayout" Target="/ppt/slideLayouts/slideLayout1.xml" Id="Rb6b7369b226949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b7369b226949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f869fa34d0458d" /><Relationship Type="http://schemas.openxmlformats.org/officeDocument/2006/relationships/notesSlide" Target="/ppt/notesSlides/notesSlide1.xml" Id="Rf7943636182d4c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1f16fb3a3040dd" /><Relationship Type="http://schemas.openxmlformats.org/officeDocument/2006/relationships/notesSlide" Target="/ppt/notesSlides/notesSlide2.xml" Id="R8529f57ce27440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362ea0da5a4eaf" /><Relationship Type="http://schemas.openxmlformats.org/officeDocument/2006/relationships/notesSlide" Target="/ppt/notesSlides/notesSlide3.xml" Id="R44d88ad16af447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9d86c1a1fa455c" /><Relationship Type="http://schemas.openxmlformats.org/officeDocument/2006/relationships/notesSlide" Target="/ppt/notesSlides/notesSlide4.xml" Id="R540349191a0d43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837a4e5d0c4f5e" /><Relationship Type="http://schemas.openxmlformats.org/officeDocument/2006/relationships/notesSlide" Target="/ppt/notesSlides/notesSlide5.xml" Id="R1d86c28481a043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cbe7cb125c64aec" /><Relationship Type="http://schemas.openxmlformats.org/officeDocument/2006/relationships/notesSlide" Target="/ppt/notesSlides/notesSlide6.xml" Id="Rd58ab909fc5149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51aac7033f4185" /><Relationship Type="http://schemas.openxmlformats.org/officeDocument/2006/relationships/notesSlide" Target="/ppt/notesSlides/notesSlide7.xml" Id="R38e208db5ae24e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424f2743d34244" /><Relationship Type="http://schemas.openxmlformats.org/officeDocument/2006/relationships/notesSlide" Target="/ppt/notesSlides/notesSlide8.xml" Id="Rfb0b0cee97c14d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644523723ca4d91" /><Relationship Type="http://schemas.openxmlformats.org/officeDocument/2006/relationships/notesSlide" Target="/ppt/notesSlides/notesSlide9.xml" Id="R0301ace83e264a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5b445c205fa4deb" /><Relationship Type="http://schemas.openxmlformats.org/officeDocument/2006/relationships/notesSlide" Target="/ppt/notesSlides/notesSlide10.xml" Id="R7609ed560abb47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fd57551595845a4" /><Relationship Type="http://schemas.openxmlformats.org/officeDocument/2006/relationships/notesSlide" Target="/ppt/notesSlides/notesSlide11.xml" Id="R2b6eaf2abb194e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5ddaf5a38314356" /><Relationship Type="http://schemas.openxmlformats.org/officeDocument/2006/relationships/notesSlide" Target="/ppt/notesSlides/notesSlide12.xml" Id="R6cefaaaa13d6431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6810d666f1a4edf" /><Relationship Type="http://schemas.openxmlformats.org/officeDocument/2006/relationships/notesSlide" Target="/ppt/notesSlides/notesSlide13.xml" Id="R88b2a639e10e49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ee78d084d34028" /><Relationship Type="http://schemas.openxmlformats.org/officeDocument/2006/relationships/notesSlide" Target="/ppt/notesSlides/notesSlide14.xml" Id="R73bfae9cec66452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15bdf94a23c4dcb" /><Relationship Type="http://schemas.openxmlformats.org/officeDocument/2006/relationships/notesSlide" Target="/ppt/notesSlides/notesSlide15.xml" Id="R38ad1214c86f43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c36f75b953c476a" /><Relationship Type="http://schemas.openxmlformats.org/officeDocument/2006/relationships/notesSlide" Target="/ppt/notesSlides/notesSlide16.xml" Id="R891dab83ef6f4d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97773d3ffda4a2b" /><Relationship Type="http://schemas.openxmlformats.org/officeDocument/2006/relationships/notesSlide" Target="/ppt/notesSlides/notesSlide17.xml" Id="R163ecba34cbb4ac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3537aa10282424a" /><Relationship Type="http://schemas.openxmlformats.org/officeDocument/2006/relationships/notesSlide" Target="/ppt/notesSlides/notesSlide18.xml" Id="R792d3ad354e246d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a1173f87ada4c52" /><Relationship Type="http://schemas.openxmlformats.org/officeDocument/2006/relationships/notesSlide" Target="/ppt/notesSlides/notesSlide19.xml" Id="R247caa0101fa498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ec9599b56fe4070" /><Relationship Type="http://schemas.openxmlformats.org/officeDocument/2006/relationships/notesSlide" Target="/ppt/notesSlides/notesSlide20.xml" Id="R7292d3ea7c7245f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330684181804d39" /><Relationship Type="http://schemas.openxmlformats.org/officeDocument/2006/relationships/notesSlide" Target="/ppt/notesSlides/notesSlide21.xml" Id="Rdb4a3db1bcfc456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6737012c03945f9" /><Relationship Type="http://schemas.openxmlformats.org/officeDocument/2006/relationships/notesSlide" Target="/ppt/notesSlides/notesSlide22.xml" Id="Recdd386f602f4f5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1e05331a32a4420" /><Relationship Type="http://schemas.openxmlformats.org/officeDocument/2006/relationships/notesSlide" Target="/ppt/notesSlides/notesSlide23.xml" Id="R63d88fac20d844a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723236f6c614895" /><Relationship Type="http://schemas.openxmlformats.org/officeDocument/2006/relationships/notesSlide" Target="/ppt/notesSlides/notesSlide24.xml" Id="R49e9d8d0747b404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7085f93e5024815" /><Relationship Type="http://schemas.openxmlformats.org/officeDocument/2006/relationships/notesSlide" Target="/ppt/notesSlides/notesSlide25.xml" Id="Rad8705f8b7b14f9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0d615d3b0dd4142" /><Relationship Type="http://schemas.openxmlformats.org/officeDocument/2006/relationships/notesSlide" Target="/ppt/notesSlides/notesSlide26.xml" Id="R110e3d875eb04b2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fa2011499544e89" /><Relationship Type="http://schemas.openxmlformats.org/officeDocument/2006/relationships/notesSlide" Target="/ppt/notesSlides/notesSlide27.xml" Id="R277597ab44a344e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c9a809c5f0f4614" /><Relationship Type="http://schemas.openxmlformats.org/officeDocument/2006/relationships/notesSlide" Target="/ppt/notesSlides/notesSlide28.xml" Id="Ra6bcde1f3e20464c" /></Relationships>
</file>

<file path=ppt/slides/slide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15" name="kicker">
            <a:extLst xmlns:a="http://schemas.openxmlformats.org/drawingml/2006/main">
              <a:ext uri="{FF2B5EF4-FFF2-40B4-BE49-F238E27FC236}">
                <a16:creationId xmlns:a16="http://schemas.microsoft.com/office/drawing/2014/main" id="{48B41144-65EE-442A-A6C8-31D2F0111134}"/>
              </a:ext>
            </a:extLst>
          </p:cNvPr>
          <p:cNvSpPr>
            <a:spLocks xmlns:a="http://schemas.openxmlformats.org/drawingml/2006/main" noGrp="1"/>
          </p:cNvSpPr>
          <p:nvPr/>
        </p:nvSpPr>
        <p:spPr>
          <a:xfrm xmlns:a="http://schemas.openxmlformats.org/drawingml/2006/main">
            <a:off x="685800" y="8001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2D6F78"/>
                </a:solidFill>
                <a:latin typeface="Aptos"/>
                <a:ea typeface="Aptos"/>
                <a:cs typeface="Aptos"/>
              </a:defRPr>
            </a:pPr>
            <a:r>
              <a:rPr sz="1125" b="1">
                <a:solidFill>
                  <a:srgbClr val="2D6F78"/>
                </a:solidFill>
                <a:latin typeface="Aptos"/>
                <a:ea typeface="Aptos"/>
                <a:cs typeface="Aptos"/>
              </a:rPr>
              <a:t>MASTER'S THESIS DEFENSE</a:t>
            </a:r>
          </a:p>
        </p:txBody>
      </p:sp>
      <p:sp>
        <p:nvSpPr>
          <p:cNvPr id="2" name="rule">
            <a:extLst xmlns:a="http://schemas.openxmlformats.org/drawingml/2006/main">
              <a:ext uri="{FF2B5EF4-FFF2-40B4-BE49-F238E27FC236}">
                <a16:creationId xmlns:a16="http://schemas.microsoft.com/office/drawing/2014/main" id="{13EC6FEC-7A93-4505-B3D6-AE83692F46E0}"/>
              </a:ext>
            </a:extLst>
          </p:cNvPr>
          <p:cNvSpPr>
            <a:spLocks xmlns:a="http://schemas.openxmlformats.org/drawingml/2006/main" noGrp="1"/>
          </p:cNvSpPr>
          <p:nvPr/>
        </p:nvSpPr>
        <p:spPr>
          <a:xfrm xmlns:a="http://schemas.openxmlformats.org/drawingml/2006/main">
            <a:off x="685800" y="1162050"/>
            <a:ext cx="781050" cy="0"/>
          </a:xfrm>
          <a:prstGeom xmlns:a="http://schemas.openxmlformats.org/drawingml/2006/main" prst="line">
            <a:avLst/>
          </a:prstGeom>
          <a:noFill xmlns:a="http://schemas.openxmlformats.org/drawingml/2006/main"/>
          <a:ln xmlns:a="http://schemas.openxmlformats.org/drawingml/2006/main" w="38100">
            <a:solidFill>
              <a:srgbClr val="B65C3C"/>
            </a:solidFill>
            <a:prstDash val="solid"/>
          </a:ln>
        </p:spPr>
      </p:sp>
      <p:sp>
        <p:nvSpPr>
          <p:cNvPr id="3" name="title">
            <a:extLst xmlns:a="http://schemas.openxmlformats.org/drawingml/2006/main">
              <a:ext uri="{FF2B5EF4-FFF2-40B4-BE49-F238E27FC236}">
                <a16:creationId xmlns:a16="http://schemas.microsoft.com/office/drawing/2014/main" id="{4D4A1356-BAF5-428B-8648-F097B054CF88}"/>
              </a:ext>
            </a:extLst>
          </p:cNvPr>
          <p:cNvSpPr>
            <a:spLocks xmlns:a="http://schemas.openxmlformats.org/drawingml/2006/main" noGrp="1"/>
          </p:cNvSpPr>
          <p:nvPr/>
        </p:nvSpPr>
        <p:spPr>
          <a:xfrm xmlns:a="http://schemas.openxmlformats.org/drawingml/2006/main">
            <a:off x="685800" y="1619250"/>
            <a:ext cx="65722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275" b="1">
                <a:solidFill>
                  <a:srgbClr val="1D2A34"/>
                </a:solidFill>
                <a:latin typeface="Aptos Display"/>
                <a:ea typeface="Aptos Display"/>
                <a:cs typeface="Aptos Display"/>
              </a:defRPr>
            </a:pPr>
            <a:r>
              <a:rPr sz="4275" b="1">
                <a:solidFill>
                  <a:srgbClr val="1D2A34"/>
                </a:solidFill>
                <a:latin typeface="Aptos Display"/>
                <a:ea typeface="Aptos Display"/>
                <a:cs typeface="Aptos Display"/>
              </a:rPr>
              <a:t>Code Retrieval</a:t>
            </a:r>
          </a:p>
          <a:p xmlns:a="http://schemas.openxmlformats.org/drawingml/2006/main">
            <a:pPr algn="l">
              <a:buNone/>
              <a:defRPr sz="4275" b="1">
                <a:solidFill>
                  <a:srgbClr val="1D2A34"/>
                </a:solidFill>
                <a:latin typeface="Aptos Display"/>
                <a:ea typeface="Aptos Display"/>
                <a:cs typeface="Aptos Display"/>
              </a:defRPr>
            </a:pPr>
            <a:r>
              <a:rPr sz="4275" b="1">
                <a:solidFill>
                  <a:srgbClr val="1D2A34"/>
                </a:solidFill>
                <a:latin typeface="Aptos Display"/>
                <a:ea typeface="Aptos Display"/>
                <a:cs typeface="Aptos Display"/>
              </a:rPr>
              <a:t>with Hybrid-RAG</a:t>
            </a:r>
          </a:p>
        </p:txBody>
      </p:sp>
      <p:sp>
        <p:nvSpPr>
          <p:cNvPr id="4" name="subtitle">
            <a:extLst xmlns:a="http://schemas.openxmlformats.org/drawingml/2006/main">
              <a:ext uri="{FF2B5EF4-FFF2-40B4-BE49-F238E27FC236}">
                <a16:creationId xmlns:a16="http://schemas.microsoft.com/office/drawing/2014/main" id="{A3A324A2-9BD9-4007-9808-761538B6B20A}"/>
              </a:ext>
            </a:extLst>
          </p:cNvPr>
          <p:cNvSpPr>
            <a:spLocks xmlns:a="http://schemas.openxmlformats.org/drawingml/2006/main" noGrp="1"/>
          </p:cNvSpPr>
          <p:nvPr/>
        </p:nvSpPr>
        <p:spPr>
          <a:xfrm xmlns:a="http://schemas.openxmlformats.org/drawingml/2006/main">
            <a:off x="723900" y="3524250"/>
            <a:ext cx="590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a:solidFill>
                  <a:srgbClr val="586671"/>
                </a:solidFill>
                <a:latin typeface="Aptos"/>
                <a:ea typeface="Aptos"/>
                <a:cs typeface="Aptos"/>
              </a:defRPr>
            </a:pPr>
            <a:r>
              <a:rPr sz="1800">
                <a:solidFill>
                  <a:srgbClr val="586671"/>
                </a:solidFill>
                <a:latin typeface="Aptos"/>
                <a:ea typeface="Aptos"/>
                <a:cs typeface="Aptos"/>
              </a:rPr>
              <a:t>Combining AST-derived knowledge graphs and semantic search for repository-scoped code questions.</a:t>
            </a:r>
          </a:p>
        </p:txBody>
      </p:sp>
      <p:sp>
        <p:nvSpPr>
          <p:cNvPr id="5" name="author">
            <a:extLst xmlns:a="http://schemas.openxmlformats.org/drawingml/2006/main">
              <a:ext uri="{FF2B5EF4-FFF2-40B4-BE49-F238E27FC236}">
                <a16:creationId xmlns:a16="http://schemas.microsoft.com/office/drawing/2014/main" id="{5FDF9A50-EB87-4ABD-B187-6D4BD7735D57}"/>
              </a:ext>
            </a:extLst>
          </p:cNvPr>
          <p:cNvSpPr>
            <a:spLocks xmlns:a="http://schemas.openxmlformats.org/drawingml/2006/main" noGrp="1"/>
          </p:cNvSpPr>
          <p:nvPr/>
        </p:nvSpPr>
        <p:spPr>
          <a:xfrm xmlns:a="http://schemas.openxmlformats.org/drawingml/2006/main">
            <a:off x="723900" y="49530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Tran Tien Duat  ·  Master of Software Engineering  ·  2026</a:t>
            </a:r>
          </a:p>
        </p:txBody>
      </p:sp>
      <p:sp>
        <p:nvSpPr>
          <p:cNvPr id="6" name="hero-surface">
            <a:extLst xmlns:a="http://schemas.openxmlformats.org/drawingml/2006/main">
              <a:ext uri="{FF2B5EF4-FFF2-40B4-BE49-F238E27FC236}">
                <a16:creationId xmlns:a16="http://schemas.microsoft.com/office/drawing/2014/main" id="{DE69E68B-1FE5-4D7B-9CFC-1689B80D765E}"/>
              </a:ext>
            </a:extLst>
          </p:cNvPr>
          <p:cNvSpPr>
            <a:spLocks xmlns:a="http://schemas.openxmlformats.org/drawingml/2006/main" noGrp="1"/>
          </p:cNvSpPr>
          <p:nvPr/>
        </p:nvSpPr>
        <p:spPr>
          <a:xfrm xmlns:a="http://schemas.openxmlformats.org/drawingml/2006/main">
            <a:off x="7905750" y="1524000"/>
            <a:ext cx="2857500" cy="2857500"/>
          </a:xfrm>
          <a:prstGeom xmlns:a="http://schemas.openxmlformats.org/drawingml/2006/main" prst="roundRect">
            <a:avLst>
              <a:gd name="adj" fmla="val 5333"/>
            </a:avLst>
          </a:prstGeom>
          <a:solidFill xmlns:a="http://schemas.openxmlformats.org/drawingml/2006/main">
            <a:srgbClr val="FFFDF8"/>
          </a:solidFill>
          <a:ln xmlns:a="http://schemas.openxmlformats.org/drawingml/2006/main" w="9525">
            <a:solidFill>
              <a:srgbClr val="C9D1D1"/>
            </a:solidFill>
            <a:prstDash val="solid"/>
          </a:ln>
        </p:spPr>
      </p:sp>
      <p:sp>
        <p:nvSpPr>
          <p:cNvPr id="7" name="hero-graph">
            <a:extLst xmlns:a="http://schemas.openxmlformats.org/drawingml/2006/main">
              <a:ext uri="{FF2B5EF4-FFF2-40B4-BE49-F238E27FC236}">
                <a16:creationId xmlns:a16="http://schemas.microsoft.com/office/drawing/2014/main" id="{D2D790B4-2F9E-4F45-BF52-AC8EE81A9D5D}"/>
              </a:ext>
            </a:extLst>
          </p:cNvPr>
          <p:cNvSpPr>
            <a:spLocks xmlns:a="http://schemas.openxmlformats.org/drawingml/2006/main" noGrp="1"/>
          </p:cNvSpPr>
          <p:nvPr/>
        </p:nvSpPr>
        <p:spPr>
          <a:xfrm xmlns:a="http://schemas.openxmlformats.org/drawingml/2006/main">
            <a:off x="8286750" y="19431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2D6F78"/>
                </a:solidFill>
                <a:latin typeface="Aptos"/>
                <a:ea typeface="Aptos"/>
                <a:cs typeface="Aptos"/>
              </a:defRPr>
            </a:pPr>
            <a:r>
              <a:rPr sz="1500" b="1">
                <a:solidFill>
                  <a:srgbClr val="2D6F78"/>
                </a:solidFill>
                <a:latin typeface="Aptos"/>
                <a:ea typeface="Aptos"/>
                <a:cs typeface="Aptos"/>
              </a:rPr>
              <a:t>GRAPH</a:t>
            </a:r>
          </a:p>
        </p:txBody>
      </p:sp>
      <p:sp>
        <p:nvSpPr>
          <p:cNvPr id="8" name="hero-plus">
            <a:extLst xmlns:a="http://schemas.openxmlformats.org/drawingml/2006/main">
              <a:ext uri="{FF2B5EF4-FFF2-40B4-BE49-F238E27FC236}">
                <a16:creationId xmlns:a16="http://schemas.microsoft.com/office/drawing/2014/main" id="{DED623D9-C8F5-4936-BF50-4549218E09F0}"/>
              </a:ext>
            </a:extLst>
          </p:cNvPr>
          <p:cNvSpPr>
            <a:spLocks xmlns:a="http://schemas.openxmlformats.org/drawingml/2006/main" noGrp="1"/>
          </p:cNvSpPr>
          <p:nvPr/>
        </p:nvSpPr>
        <p:spPr>
          <a:xfrm xmlns:a="http://schemas.openxmlformats.org/drawingml/2006/main">
            <a:off x="9525000" y="1885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B65C3C"/>
                </a:solidFill>
                <a:latin typeface="Aptos"/>
                <a:ea typeface="Aptos"/>
                <a:cs typeface="Aptos"/>
              </a:defRPr>
            </a:pPr>
            <a:r>
              <a:rPr sz="2100" b="1">
                <a:solidFill>
                  <a:srgbClr val="B65C3C"/>
                </a:solidFill>
                <a:latin typeface="Aptos"/>
                <a:ea typeface="Aptos"/>
                <a:cs typeface="Aptos"/>
              </a:rPr>
              <a:t>+</a:t>
            </a:r>
          </a:p>
        </p:txBody>
      </p:sp>
      <p:sp>
        <p:nvSpPr>
          <p:cNvPr id="9" name="hero-vector">
            <a:extLst xmlns:a="http://schemas.openxmlformats.org/drawingml/2006/main">
              <a:ext uri="{FF2B5EF4-FFF2-40B4-BE49-F238E27FC236}">
                <a16:creationId xmlns:a16="http://schemas.microsoft.com/office/drawing/2014/main" id="{EAC192F2-EF24-486F-8EEA-04B6ECF816DE}"/>
              </a:ext>
            </a:extLst>
          </p:cNvPr>
          <p:cNvSpPr>
            <a:spLocks xmlns:a="http://schemas.openxmlformats.org/drawingml/2006/main" noGrp="1"/>
          </p:cNvSpPr>
          <p:nvPr/>
        </p:nvSpPr>
        <p:spPr>
          <a:xfrm xmlns:a="http://schemas.openxmlformats.org/drawingml/2006/main">
            <a:off x="8286750" y="25527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B65C3C"/>
                </a:solidFill>
                <a:latin typeface="Aptos"/>
                <a:ea typeface="Aptos"/>
                <a:cs typeface="Aptos"/>
              </a:defRPr>
            </a:pPr>
            <a:r>
              <a:rPr sz="1500" b="1">
                <a:solidFill>
                  <a:srgbClr val="B65C3C"/>
                </a:solidFill>
                <a:latin typeface="Aptos"/>
                <a:ea typeface="Aptos"/>
                <a:cs typeface="Aptos"/>
              </a:rPr>
              <a:t>VECTOR</a:t>
            </a:r>
          </a:p>
        </p:txBody>
      </p:sp>
      <p:sp>
        <p:nvSpPr>
          <p:cNvPr id="10" name="hero-line">
            <a:extLst xmlns:a="http://schemas.openxmlformats.org/drawingml/2006/main">
              <a:ext uri="{FF2B5EF4-FFF2-40B4-BE49-F238E27FC236}">
                <a16:creationId xmlns:a16="http://schemas.microsoft.com/office/drawing/2014/main" id="{DCBAD7AD-53C6-4FE1-A9E1-AF1DD984EB40}"/>
              </a:ext>
            </a:extLst>
          </p:cNvPr>
          <p:cNvSpPr>
            <a:spLocks xmlns:a="http://schemas.openxmlformats.org/drawingml/2006/main" noGrp="1"/>
          </p:cNvSpPr>
          <p:nvPr/>
        </p:nvSpPr>
        <p:spPr>
          <a:xfrm xmlns:a="http://schemas.openxmlformats.org/drawingml/2006/main">
            <a:off x="8286750" y="3143250"/>
            <a:ext cx="1809750" cy="0"/>
          </a:xfrm>
          <a:prstGeom xmlns:a="http://schemas.openxmlformats.org/drawingml/2006/main" prst="line">
            <a:avLst/>
          </a:prstGeom>
          <a:noFill xmlns:a="http://schemas.openxmlformats.org/drawingml/2006/main"/>
          <a:ln xmlns:a="http://schemas.openxmlformats.org/drawingml/2006/main" w="19050">
            <a:solidFill>
              <a:srgbClr val="C9D1D1"/>
            </a:solidFill>
            <a:prstDash val="solid"/>
          </a:ln>
        </p:spPr>
      </p:sp>
      <p:sp>
        <p:nvSpPr>
          <p:cNvPr id="11" name="hero-provenance">
            <a:extLst xmlns:a="http://schemas.openxmlformats.org/drawingml/2006/main">
              <a:ext uri="{FF2B5EF4-FFF2-40B4-BE49-F238E27FC236}">
                <a16:creationId xmlns:a16="http://schemas.microsoft.com/office/drawing/2014/main" id="{E177509F-C8C7-4E63-A4BF-17872E54414A}"/>
              </a:ext>
            </a:extLst>
          </p:cNvPr>
          <p:cNvSpPr>
            <a:spLocks xmlns:a="http://schemas.openxmlformats.org/drawingml/2006/main" noGrp="1"/>
          </p:cNvSpPr>
          <p:nvPr/>
        </p:nvSpPr>
        <p:spPr>
          <a:xfrm xmlns:a="http://schemas.openxmlformats.org/drawingml/2006/main">
            <a:off x="8286750" y="34290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3D6F58"/>
                </a:solidFill>
                <a:latin typeface="Aptos"/>
                <a:ea typeface="Aptos"/>
                <a:cs typeface="Aptos"/>
              </a:defRPr>
            </a:pPr>
            <a:r>
              <a:rPr sz="1500" b="1">
                <a:solidFill>
                  <a:srgbClr val="3D6F58"/>
                </a:solidFill>
                <a:latin typeface="Aptos"/>
                <a:ea typeface="Aptos"/>
                <a:cs typeface="Aptos"/>
              </a:rPr>
              <a:t>PROVENANCE</a:t>
            </a:r>
          </a:p>
        </p:txBody>
      </p:sp>
      <p:sp>
        <p:nvSpPr>
          <p:cNvPr id="12" name="hero-caption">
            <a:extLst xmlns:a="http://schemas.openxmlformats.org/drawingml/2006/main">
              <a:ext uri="{FF2B5EF4-FFF2-40B4-BE49-F238E27FC236}">
                <a16:creationId xmlns:a16="http://schemas.microsoft.com/office/drawing/2014/main" id="{6CD27B35-DA3B-4A31-823F-2D213694E77A}"/>
              </a:ext>
            </a:extLst>
          </p:cNvPr>
          <p:cNvSpPr>
            <a:spLocks xmlns:a="http://schemas.openxmlformats.org/drawingml/2006/main" noGrp="1"/>
          </p:cNvSpPr>
          <p:nvPr/>
        </p:nvSpPr>
        <p:spPr>
          <a:xfrm xmlns:a="http://schemas.openxmlformats.org/drawingml/2006/main">
            <a:off x="8286750" y="38862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Inspectable evidence</a:t>
            </a:r>
          </a:p>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for code questions</a:t>
            </a:r>
          </a:p>
        </p:txBody>
      </p:sp>
      <p:sp>
        <p:nvSpPr>
          <p:cNvPr id="13" name="footer-label">
            <a:extLst xmlns:a="http://schemas.openxmlformats.org/drawingml/2006/main">
              <a:ext uri="{FF2B5EF4-FFF2-40B4-BE49-F238E27FC236}">
                <a16:creationId xmlns:a16="http://schemas.microsoft.com/office/drawing/2014/main" id="{58A968FA-FE82-4474-A29E-04ED37311BC3}"/>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01 / 15</a:t>
            </a:r>
          </a:p>
        </p:txBody>
      </p:sp>
      <p:sp>
        <p:nvSpPr>
          <p:cNvPr id="14" name="footer-number">
            <a:extLst xmlns:a="http://schemas.openxmlformats.org/drawingml/2006/main">
              <a:ext uri="{FF2B5EF4-FFF2-40B4-BE49-F238E27FC236}">
                <a16:creationId xmlns:a16="http://schemas.microsoft.com/office/drawing/2014/main" id="{6C05AA54-642D-47DF-9954-33B807D09449}"/>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1949782357"/>
      </p:ext>
    </p:extLst>
  </p:cSld>
</p:sld>
</file>

<file path=ppt/slides/slide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22" name="kicker">
            <a:extLst xmlns:a="http://schemas.openxmlformats.org/drawingml/2006/main">
              <a:ext uri="{FF2B5EF4-FFF2-40B4-BE49-F238E27FC236}">
                <a16:creationId xmlns:a16="http://schemas.microsoft.com/office/drawing/2014/main" id="{62E36096-B068-4BDD-BF34-2A1905095026}"/>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MOTIVATION  ·  02 / 15</a:t>
            </a:r>
          </a:p>
        </p:txBody>
      </p:sp>
      <p:sp>
        <p:nvSpPr>
          <p:cNvPr id="2" name="kicker-rule">
            <a:extLst xmlns:a="http://schemas.openxmlformats.org/drawingml/2006/main">
              <a:ext uri="{FF2B5EF4-FFF2-40B4-BE49-F238E27FC236}">
                <a16:creationId xmlns:a16="http://schemas.microsoft.com/office/drawing/2014/main" id="{0D60FC39-B3F8-4A80-B171-5091FC78D26A}"/>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BD9DE582-A7BE-4C43-BE60-EBCCC85435AC}"/>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A code question is often a relationship question.</a:t>
            </a:r>
          </a:p>
        </p:txBody>
      </p:sp>
      <p:sp>
        <p:nvSpPr>
          <p:cNvPr id="4" name="running-case-core-02-label">
            <a:extLst xmlns:a="http://schemas.openxmlformats.org/drawingml/2006/main">
              <a:ext uri="{FF2B5EF4-FFF2-40B4-BE49-F238E27FC236}">
                <a16:creationId xmlns:a16="http://schemas.microsoft.com/office/drawing/2014/main" id="{F482D275-E86F-4766-9260-59645737A778}"/>
              </a:ext>
            </a:extLst>
          </p:cNvPr>
          <p:cNvSpPr>
            <a:spLocks xmlns:a="http://schemas.openxmlformats.org/drawingml/2006/main" noGrp="1"/>
          </p:cNvSpPr>
          <p:nvPr/>
        </p:nvSpPr>
        <p:spPr>
          <a:xfrm xmlns:a="http://schemas.openxmlformats.org/drawingml/2006/main">
            <a:off x="685800" y="161925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RUNNING CASE</a:t>
            </a:r>
          </a:p>
        </p:txBody>
      </p:sp>
      <p:sp>
        <p:nvSpPr>
          <p:cNvPr id="5" name="running-case-core-02-query">
            <a:extLst xmlns:a="http://schemas.openxmlformats.org/drawingml/2006/main">
              <a:ext uri="{FF2B5EF4-FFF2-40B4-BE49-F238E27FC236}">
                <a16:creationId xmlns:a16="http://schemas.microsoft.com/office/drawing/2014/main" id="{5CB410AB-C0EA-4B92-A47C-8C2550956F3F}"/>
              </a:ext>
            </a:extLst>
          </p:cNvPr>
          <p:cNvSpPr>
            <a:spLocks xmlns:a="http://schemas.openxmlformats.org/drawingml/2006/main" noGrp="1"/>
          </p:cNvSpPr>
          <p:nvPr/>
        </p:nvSpPr>
        <p:spPr>
          <a:xfrm xmlns:a="http://schemas.openxmlformats.org/drawingml/2006/main">
            <a:off x="2000250" y="1619250"/>
            <a:ext cx="2762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D6F58"/>
                </a:solidFill>
                <a:latin typeface="Aptos Mono"/>
                <a:ea typeface="Aptos Mono"/>
                <a:cs typeface="Aptos Mono"/>
              </a:defRPr>
            </a:pPr>
            <a:r>
              <a:rPr sz="825" b="1">
                <a:solidFill>
                  <a:srgbClr val="3D6F58"/>
                </a:solidFill>
                <a:latin typeface="Aptos Mono"/>
                <a:ea typeface="Aptos Mono"/>
                <a:cs typeface="Aptos Mono"/>
              </a:rPr>
              <a:t>BaseRetriever.retrieve</a:t>
            </a:r>
          </a:p>
        </p:txBody>
      </p:sp>
      <p:sp>
        <p:nvSpPr>
          <p:cNvPr id="6" name="running-case-core-02-stage">
            <a:extLst xmlns:a="http://schemas.openxmlformats.org/drawingml/2006/main">
              <a:ext uri="{FF2B5EF4-FFF2-40B4-BE49-F238E27FC236}">
                <a16:creationId xmlns:a16="http://schemas.microsoft.com/office/drawing/2014/main" id="{1D08AB74-69BF-4763-BD3B-E63734470EF2}"/>
              </a:ext>
            </a:extLst>
          </p:cNvPr>
          <p:cNvSpPr>
            <a:spLocks xmlns:a="http://schemas.openxmlformats.org/drawingml/2006/main" noGrp="1"/>
          </p:cNvSpPr>
          <p:nvPr/>
        </p:nvSpPr>
        <p:spPr>
          <a:xfrm xmlns:a="http://schemas.openxmlformats.org/drawingml/2006/main">
            <a:off x="4857750" y="1619250"/>
            <a:ext cx="619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B65C3C"/>
                </a:solidFill>
                <a:latin typeface="Aptos"/>
                <a:ea typeface="Aptos"/>
                <a:cs typeface="Aptos"/>
              </a:defRPr>
            </a:pPr>
            <a:r>
              <a:rPr sz="825" b="1">
                <a:solidFill>
                  <a:srgbClr val="B65C3C"/>
                </a:solidFill>
                <a:latin typeface="Aptos"/>
                <a:ea typeface="Aptos"/>
                <a:cs typeface="Aptos"/>
              </a:rPr>
              <a:t>question → evidence trace</a:t>
            </a:r>
          </a:p>
        </p:txBody>
      </p:sp>
      <p:sp>
        <p:nvSpPr>
          <p:cNvPr id="7" name="question-box">
            <a:extLst xmlns:a="http://schemas.openxmlformats.org/drawingml/2006/main">
              <a:ext uri="{FF2B5EF4-FFF2-40B4-BE49-F238E27FC236}">
                <a16:creationId xmlns:a16="http://schemas.microsoft.com/office/drawing/2014/main" id="{1B058F0E-2F4D-42E9-8F81-2036B3E676B4}"/>
              </a:ext>
            </a:extLst>
          </p:cNvPr>
          <p:cNvSpPr>
            <a:spLocks xmlns:a="http://schemas.openxmlformats.org/drawingml/2006/main" noGrp="1"/>
          </p:cNvSpPr>
          <p:nvPr/>
        </p:nvSpPr>
        <p:spPr>
          <a:xfrm xmlns:a="http://schemas.openxmlformats.org/drawingml/2006/main">
            <a:off x="685800" y="2000250"/>
            <a:ext cx="4762500" cy="1809750"/>
          </a:xfrm>
          <a:prstGeom xmlns:a="http://schemas.openxmlformats.org/drawingml/2006/main" prst="roundRect">
            <a:avLst>
              <a:gd name="adj" fmla="val 6316"/>
            </a:avLst>
          </a:prstGeom>
          <a:solidFill xmlns:a="http://schemas.openxmlformats.org/drawingml/2006/main">
            <a:srgbClr val="FFFDF8"/>
          </a:solidFill>
          <a:ln xmlns:a="http://schemas.openxmlformats.org/drawingml/2006/main" w="9525">
            <a:solidFill>
              <a:srgbClr val="C9D1D1"/>
            </a:solidFill>
            <a:prstDash val="solid"/>
          </a:ln>
        </p:spPr>
      </p:sp>
      <p:sp>
        <p:nvSpPr>
          <p:cNvPr id="8" name="question-label">
            <a:extLst xmlns:a="http://schemas.openxmlformats.org/drawingml/2006/main">
              <a:ext uri="{FF2B5EF4-FFF2-40B4-BE49-F238E27FC236}">
                <a16:creationId xmlns:a16="http://schemas.microsoft.com/office/drawing/2014/main" id="{DF92939A-DF3B-41C7-BD1F-B696678E848F}"/>
              </a:ext>
            </a:extLst>
          </p:cNvPr>
          <p:cNvSpPr>
            <a:spLocks xmlns:a="http://schemas.openxmlformats.org/drawingml/2006/main" noGrp="1"/>
          </p:cNvSpPr>
          <p:nvPr/>
        </p:nvSpPr>
        <p:spPr>
          <a:xfrm xmlns:a="http://schemas.openxmlformats.org/drawingml/2006/main">
            <a:off x="952500" y="22669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REPRESENTATIVE QUESTION</a:t>
            </a:r>
          </a:p>
        </p:txBody>
      </p:sp>
      <p:sp>
        <p:nvSpPr>
          <p:cNvPr id="9" name="question">
            <a:extLst xmlns:a="http://schemas.openxmlformats.org/drawingml/2006/main">
              <a:ext uri="{FF2B5EF4-FFF2-40B4-BE49-F238E27FC236}">
                <a16:creationId xmlns:a16="http://schemas.microsoft.com/office/drawing/2014/main" id="{F17DEA81-8B63-4899-BFAA-9F3CCBB61BC5}"/>
              </a:ext>
            </a:extLst>
          </p:cNvPr>
          <p:cNvSpPr>
            <a:spLocks xmlns:a="http://schemas.openxmlformats.org/drawingml/2006/main" noGrp="1"/>
          </p:cNvSpPr>
          <p:nvPr/>
        </p:nvSpPr>
        <p:spPr>
          <a:xfrm xmlns:a="http://schemas.openxmlformats.org/drawingml/2006/main">
            <a:off x="952500" y="2667000"/>
            <a:ext cx="3905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D2A34"/>
                </a:solidFill>
                <a:latin typeface="Aptos"/>
                <a:ea typeface="Aptos"/>
                <a:cs typeface="Aptos"/>
              </a:defRPr>
            </a:pPr>
            <a:r>
              <a:rPr sz="1875" b="1">
                <a:solidFill>
                  <a:srgbClr val="1D2A34"/>
                </a:solidFill>
                <a:latin typeface="Aptos"/>
                <a:ea typeface="Aptos"/>
                <a:cs typeface="Aptos"/>
              </a:rPr>
              <a:t>What sequence does</a:t>
            </a:r>
          </a:p>
          <a:p xmlns:a="http://schemas.openxmlformats.org/drawingml/2006/main">
            <a:pPr algn="l">
              <a:buNone/>
              <a:defRPr sz="1875" b="1">
                <a:solidFill>
                  <a:srgbClr val="1D2A34"/>
                </a:solidFill>
                <a:latin typeface="Aptos"/>
                <a:ea typeface="Aptos"/>
                <a:cs typeface="Aptos"/>
              </a:defRPr>
            </a:pPr>
            <a:r>
              <a:rPr sz="1875" b="1">
                <a:solidFill>
                  <a:srgbClr val="1D2A34"/>
                </a:solidFill>
                <a:latin typeface="Aptos"/>
                <a:ea typeface="Aptos"/>
                <a:cs typeface="Aptos"/>
              </a:rPr>
              <a:t>BaseRetriever.retrieve follow?</a:t>
            </a:r>
          </a:p>
        </p:txBody>
      </p:sp>
      <p:sp>
        <p:nvSpPr>
          <p:cNvPr id="10" name="question-detail">
            <a:extLst xmlns:a="http://schemas.openxmlformats.org/drawingml/2006/main">
              <a:ext uri="{FF2B5EF4-FFF2-40B4-BE49-F238E27FC236}">
                <a16:creationId xmlns:a16="http://schemas.microsoft.com/office/drawing/2014/main" id="{0C4AB64A-F3E9-4F20-A975-1A590F3BAFCF}"/>
              </a:ext>
            </a:extLst>
          </p:cNvPr>
          <p:cNvSpPr>
            <a:spLocks xmlns:a="http://schemas.openxmlformats.org/drawingml/2006/main" noGrp="1"/>
          </p:cNvSpPr>
          <p:nvPr/>
        </p:nvSpPr>
        <p:spPr>
          <a:xfrm xmlns:a="http://schemas.openxmlformats.org/drawingml/2006/main">
            <a:off x="952500" y="358140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including callbacks and recursive retrieval</a:t>
            </a:r>
          </a:p>
        </p:txBody>
      </p:sp>
      <p:sp>
        <p:nvSpPr>
          <p:cNvPr id="11" name="semantic-box">
            <a:extLst xmlns:a="http://schemas.openxmlformats.org/drawingml/2006/main">
              <a:ext uri="{FF2B5EF4-FFF2-40B4-BE49-F238E27FC236}">
                <a16:creationId xmlns:a16="http://schemas.microsoft.com/office/drawing/2014/main" id="{7F5F2030-F320-44FC-B722-0976591CBEA3}"/>
              </a:ext>
            </a:extLst>
          </p:cNvPr>
          <p:cNvSpPr>
            <a:spLocks xmlns:a="http://schemas.openxmlformats.org/drawingml/2006/main" noGrp="1"/>
          </p:cNvSpPr>
          <p:nvPr/>
        </p:nvSpPr>
        <p:spPr>
          <a:xfrm xmlns:a="http://schemas.openxmlformats.org/drawingml/2006/main">
            <a:off x="6096000" y="2000250"/>
            <a:ext cx="4762500" cy="762000"/>
          </a:xfrm>
          <a:prstGeom xmlns:a="http://schemas.openxmlformats.org/drawingml/2006/main" prst="roundRect">
            <a:avLst>
              <a:gd name="adj" fmla="val 10000"/>
            </a:avLst>
          </a:prstGeom>
          <a:solidFill xmlns:a="http://schemas.openxmlformats.org/drawingml/2006/main">
            <a:srgbClr val="DCEBED"/>
          </a:solidFill>
          <a:ln xmlns:a="http://schemas.openxmlformats.org/drawingml/2006/main" w="9525">
            <a:solidFill>
              <a:srgbClr val="2D6F78"/>
            </a:solidFill>
            <a:prstDash val="solid"/>
          </a:ln>
        </p:spPr>
      </p:sp>
      <p:sp>
        <p:nvSpPr>
          <p:cNvPr id="12" name="semantic-label">
            <a:extLst xmlns:a="http://schemas.openxmlformats.org/drawingml/2006/main">
              <a:ext uri="{FF2B5EF4-FFF2-40B4-BE49-F238E27FC236}">
                <a16:creationId xmlns:a16="http://schemas.microsoft.com/office/drawing/2014/main" id="{650B15C7-E239-42AF-AA7D-BDF37BC19F6E}"/>
              </a:ext>
            </a:extLst>
          </p:cNvPr>
          <p:cNvSpPr>
            <a:spLocks xmlns:a="http://schemas.openxmlformats.org/drawingml/2006/main" noGrp="1"/>
          </p:cNvSpPr>
          <p:nvPr/>
        </p:nvSpPr>
        <p:spPr>
          <a:xfrm xmlns:a="http://schemas.openxmlformats.org/drawingml/2006/main">
            <a:off x="6381750" y="21717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SEMANTIC EVIDENCE</a:t>
            </a:r>
          </a:p>
        </p:txBody>
      </p:sp>
      <p:sp>
        <p:nvSpPr>
          <p:cNvPr id="13" name="semantic-copy">
            <a:extLst xmlns:a="http://schemas.openxmlformats.org/drawingml/2006/main">
              <a:ext uri="{FF2B5EF4-FFF2-40B4-BE49-F238E27FC236}">
                <a16:creationId xmlns:a16="http://schemas.microsoft.com/office/drawing/2014/main" id="{3D1A484F-752D-4DBC-B9C3-FD5619CE060F}"/>
              </a:ext>
            </a:extLst>
          </p:cNvPr>
          <p:cNvSpPr>
            <a:spLocks xmlns:a="http://schemas.openxmlformats.org/drawingml/2006/main" noGrp="1"/>
          </p:cNvSpPr>
          <p:nvPr/>
        </p:nvSpPr>
        <p:spPr>
          <a:xfrm xmlns:a="http://schemas.openxmlformats.org/drawingml/2006/main">
            <a:off x="6381750" y="2428875"/>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a:solidFill>
                  <a:srgbClr val="1D2A34"/>
                </a:solidFill>
                <a:latin typeface="Aptos"/>
                <a:ea typeface="Aptos"/>
                <a:cs typeface="Aptos"/>
              </a:defRPr>
            </a:pPr>
            <a:r>
              <a:rPr sz="1275">
                <a:solidFill>
                  <a:srgbClr val="1D2A34"/>
                </a:solidFill>
                <a:latin typeface="Aptos"/>
                <a:ea typeface="Aptos"/>
                <a:cs typeface="Aptos"/>
              </a:rPr>
              <a:t>Finds code about retrievers, callbacks and queries.</a:t>
            </a:r>
          </a:p>
        </p:txBody>
      </p:sp>
      <p:sp>
        <p:nvSpPr>
          <p:cNvPr id="14" name="structural-box">
            <a:extLst xmlns:a="http://schemas.openxmlformats.org/drawingml/2006/main">
              <a:ext uri="{FF2B5EF4-FFF2-40B4-BE49-F238E27FC236}">
                <a16:creationId xmlns:a16="http://schemas.microsoft.com/office/drawing/2014/main" id="{EB47339F-A8DC-4F21-A320-BD8AF7405867}"/>
              </a:ext>
            </a:extLst>
          </p:cNvPr>
          <p:cNvSpPr>
            <a:spLocks xmlns:a="http://schemas.openxmlformats.org/drawingml/2006/main" noGrp="1"/>
          </p:cNvSpPr>
          <p:nvPr/>
        </p:nvSpPr>
        <p:spPr>
          <a:xfrm xmlns:a="http://schemas.openxmlformats.org/drawingml/2006/main">
            <a:off x="6096000" y="3048000"/>
            <a:ext cx="4762500" cy="762000"/>
          </a:xfrm>
          <a:prstGeom xmlns:a="http://schemas.openxmlformats.org/drawingml/2006/main" prst="roundRect">
            <a:avLst>
              <a:gd name="adj" fmla="val 10000"/>
            </a:avLst>
          </a:prstGeom>
          <a:solidFill xmlns:a="http://schemas.openxmlformats.org/drawingml/2006/main">
            <a:srgbClr val="E3F0E6"/>
          </a:solidFill>
          <a:ln xmlns:a="http://schemas.openxmlformats.org/drawingml/2006/main" w="9525">
            <a:solidFill>
              <a:srgbClr val="3D6F58"/>
            </a:solidFill>
            <a:prstDash val="solid"/>
          </a:ln>
        </p:spPr>
      </p:sp>
      <p:sp>
        <p:nvSpPr>
          <p:cNvPr id="15" name="structural-label">
            <a:extLst xmlns:a="http://schemas.openxmlformats.org/drawingml/2006/main">
              <a:ext uri="{FF2B5EF4-FFF2-40B4-BE49-F238E27FC236}">
                <a16:creationId xmlns:a16="http://schemas.microsoft.com/office/drawing/2014/main" id="{B7C5EE66-E503-451B-A1A6-ECC2B01AC2D7}"/>
              </a:ext>
            </a:extLst>
          </p:cNvPr>
          <p:cNvSpPr>
            <a:spLocks xmlns:a="http://schemas.openxmlformats.org/drawingml/2006/main" noGrp="1"/>
          </p:cNvSpPr>
          <p:nvPr/>
        </p:nvSpPr>
        <p:spPr>
          <a:xfrm xmlns:a="http://schemas.openxmlformats.org/drawingml/2006/main">
            <a:off x="6381750" y="32194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3D6F58"/>
                </a:solidFill>
                <a:latin typeface="Aptos"/>
                <a:ea typeface="Aptos"/>
                <a:cs typeface="Aptos"/>
              </a:defRPr>
            </a:pPr>
            <a:r>
              <a:rPr sz="975" b="1">
                <a:solidFill>
                  <a:srgbClr val="3D6F58"/>
                </a:solidFill>
                <a:latin typeface="Aptos"/>
                <a:ea typeface="Aptos"/>
                <a:cs typeface="Aptos"/>
              </a:rPr>
              <a:t>STRUCTURAL EVIDENCE</a:t>
            </a:r>
          </a:p>
        </p:txBody>
      </p:sp>
      <p:sp>
        <p:nvSpPr>
          <p:cNvPr id="16" name="structural-copy">
            <a:extLst xmlns:a="http://schemas.openxmlformats.org/drawingml/2006/main">
              <a:ext uri="{FF2B5EF4-FFF2-40B4-BE49-F238E27FC236}">
                <a16:creationId xmlns:a16="http://schemas.microsoft.com/office/drawing/2014/main" id="{2E8C758A-FC53-493F-827E-A319684F0E31}"/>
              </a:ext>
            </a:extLst>
          </p:cNvPr>
          <p:cNvSpPr>
            <a:spLocks xmlns:a="http://schemas.openxmlformats.org/drawingml/2006/main" noGrp="1"/>
          </p:cNvSpPr>
          <p:nvPr/>
        </p:nvSpPr>
        <p:spPr>
          <a:xfrm xmlns:a="http://schemas.openxmlformats.org/drawingml/2006/main">
            <a:off x="6381750" y="3476625"/>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a:solidFill>
                  <a:srgbClr val="1D2A34"/>
                </a:solidFill>
                <a:latin typeface="Aptos"/>
                <a:ea typeface="Aptos"/>
                <a:cs typeface="Aptos"/>
              </a:defRPr>
            </a:pPr>
            <a:r>
              <a:rPr sz="1275">
                <a:solidFill>
                  <a:srgbClr val="1D2A34"/>
                </a:solidFill>
                <a:latin typeface="Aptos"/>
                <a:ea typeface="Aptos"/>
                <a:cs typeface="Aptos"/>
              </a:rPr>
              <a:t>Connects methods and events into an execution path.</a:t>
            </a:r>
          </a:p>
        </p:txBody>
      </p:sp>
      <p:sp>
        <p:nvSpPr>
          <p:cNvPr id="17" name="claim-box">
            <a:extLst xmlns:a="http://schemas.openxmlformats.org/drawingml/2006/main">
              <a:ext uri="{FF2B5EF4-FFF2-40B4-BE49-F238E27FC236}">
                <a16:creationId xmlns:a16="http://schemas.microsoft.com/office/drawing/2014/main" id="{05AB9B4E-C9EF-4F33-947A-6334716772F1}"/>
              </a:ext>
            </a:extLst>
          </p:cNvPr>
          <p:cNvSpPr>
            <a:spLocks xmlns:a="http://schemas.openxmlformats.org/drawingml/2006/main" noGrp="1"/>
          </p:cNvSpPr>
          <p:nvPr/>
        </p:nvSpPr>
        <p:spPr>
          <a:xfrm xmlns:a="http://schemas.openxmlformats.org/drawingml/2006/main">
            <a:off x="685800" y="4476750"/>
            <a:ext cx="10172700" cy="723900"/>
          </a:xfrm>
          <a:prstGeom xmlns:a="http://schemas.openxmlformats.org/drawingml/2006/main" prst="roundRect">
            <a:avLst>
              <a:gd name="adj" fmla="val 10526"/>
            </a:avLst>
          </a:prstGeom>
          <a:solidFill xmlns:a="http://schemas.openxmlformats.org/drawingml/2006/main">
            <a:srgbClr val="FFFDF8"/>
          </a:solidFill>
          <a:ln xmlns:a="http://schemas.openxmlformats.org/drawingml/2006/main" w="9525">
            <a:solidFill>
              <a:srgbClr val="2D6F78"/>
            </a:solidFill>
            <a:prstDash val="solid"/>
          </a:ln>
        </p:spPr>
      </p:sp>
      <p:sp>
        <p:nvSpPr>
          <p:cNvPr id="18" name="claim-box-label">
            <a:extLst xmlns:a="http://schemas.openxmlformats.org/drawingml/2006/main">
              <a:ext uri="{FF2B5EF4-FFF2-40B4-BE49-F238E27FC236}">
                <a16:creationId xmlns:a16="http://schemas.microsoft.com/office/drawing/2014/main" id="{E3B0591F-407B-4337-8AAB-E24B53B574C4}"/>
              </a:ext>
            </a:extLst>
          </p:cNvPr>
          <p:cNvSpPr>
            <a:spLocks xmlns:a="http://schemas.openxmlformats.org/drawingml/2006/main" noGrp="1"/>
          </p:cNvSpPr>
          <p:nvPr/>
        </p:nvSpPr>
        <p:spPr>
          <a:xfrm xmlns:a="http://schemas.openxmlformats.org/drawingml/2006/main">
            <a:off x="952500" y="46101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9" name="claim-box-copy">
            <a:extLst xmlns:a="http://schemas.openxmlformats.org/drawingml/2006/main">
              <a:ext uri="{FF2B5EF4-FFF2-40B4-BE49-F238E27FC236}">
                <a16:creationId xmlns:a16="http://schemas.microsoft.com/office/drawing/2014/main" id="{6D721AE1-6072-4C2C-9D6A-30B34339463F}"/>
              </a:ext>
            </a:extLst>
          </p:cNvPr>
          <p:cNvSpPr>
            <a:spLocks xmlns:a="http://schemas.openxmlformats.org/drawingml/2006/main" noGrp="1"/>
          </p:cNvSpPr>
          <p:nvPr/>
        </p:nvSpPr>
        <p:spPr>
          <a:xfrm xmlns:a="http://schemas.openxmlformats.org/drawingml/2006/main">
            <a:off x="952500" y="4581525"/>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D2A34"/>
                </a:solidFill>
                <a:latin typeface="Aptos"/>
                <a:ea typeface="Aptos"/>
                <a:cs typeface="Aptos"/>
              </a:defRPr>
            </a:pPr>
            <a:r>
              <a:rPr sz="1350" b="1">
                <a:solidFill>
                  <a:srgbClr val="1D2A34"/>
                </a:solidFill>
                <a:latin typeface="Aptos"/>
                <a:ea typeface="Aptos"/>
                <a:cs typeface="Aptos"/>
              </a:rPr>
              <a:t>A semantically similar chunk can mention retrieval without containing the relationships needed to explain the sequence.</a:t>
            </a:r>
          </a:p>
        </p:txBody>
      </p:sp>
      <p:sp>
        <p:nvSpPr>
          <p:cNvPr id="20" name="footer-label">
            <a:extLst xmlns:a="http://schemas.openxmlformats.org/drawingml/2006/main">
              <a:ext uri="{FF2B5EF4-FFF2-40B4-BE49-F238E27FC236}">
                <a16:creationId xmlns:a16="http://schemas.microsoft.com/office/drawing/2014/main" id="{F55DCCCA-32A0-4345-9BB4-9F8F538CC1DC}"/>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02 / 15</a:t>
            </a:r>
          </a:p>
        </p:txBody>
      </p:sp>
      <p:sp>
        <p:nvSpPr>
          <p:cNvPr id="21" name="footer-number">
            <a:extLst xmlns:a="http://schemas.openxmlformats.org/drawingml/2006/main">
              <a:ext uri="{FF2B5EF4-FFF2-40B4-BE49-F238E27FC236}">
                <a16:creationId xmlns:a16="http://schemas.microsoft.com/office/drawing/2014/main" id="{BF685993-EF07-4816-A177-D4B0E6E081D4}"/>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673959523"/>
      </p:ext>
    </p:extLst>
  </p:cSld>
</p:sld>
</file>

<file path=ppt/slides/slide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21" name="kicker">
            <a:extLst xmlns:a="http://schemas.openxmlformats.org/drawingml/2006/main">
              <a:ext uri="{FF2B5EF4-FFF2-40B4-BE49-F238E27FC236}">
                <a16:creationId xmlns:a16="http://schemas.microsoft.com/office/drawing/2014/main" id="{C314425C-8555-4B0B-8C80-069AA690BC53}"/>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RESEARCH QUESTIONS  ·  03 / 15</a:t>
            </a:r>
          </a:p>
        </p:txBody>
      </p:sp>
      <p:sp>
        <p:nvSpPr>
          <p:cNvPr id="2" name="kicker-rule">
            <a:extLst xmlns:a="http://schemas.openxmlformats.org/drawingml/2006/main">
              <a:ext uri="{FF2B5EF4-FFF2-40B4-BE49-F238E27FC236}">
                <a16:creationId xmlns:a16="http://schemas.microsoft.com/office/drawing/2014/main" id="{42873C4A-2490-4A72-BEC3-ED99FD8F56F6}"/>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E9090E8A-86C5-424D-890D-076E2F83BA1B}"/>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Three questions connect usefulness, cost and evidence.</a:t>
            </a:r>
          </a:p>
        </p:txBody>
      </p:sp>
      <p:sp>
        <p:nvSpPr>
          <p:cNvPr id="4" name="rq-0">
            <a:extLst xmlns:a="http://schemas.openxmlformats.org/drawingml/2006/main">
              <a:ext uri="{FF2B5EF4-FFF2-40B4-BE49-F238E27FC236}">
                <a16:creationId xmlns:a16="http://schemas.microsoft.com/office/drawing/2014/main" id="{9644CC9B-E7BD-4BED-A5B3-F30A3A2FBEB9}"/>
              </a:ext>
            </a:extLst>
          </p:cNvPr>
          <p:cNvSpPr>
            <a:spLocks xmlns:a="http://schemas.openxmlformats.org/drawingml/2006/main" noGrp="1"/>
          </p:cNvSpPr>
          <p:nvPr/>
        </p:nvSpPr>
        <p:spPr>
          <a:xfrm xmlns:a="http://schemas.openxmlformats.org/drawingml/2006/main">
            <a:off x="685800" y="2000250"/>
            <a:ext cx="3143250" cy="2476500"/>
          </a:xfrm>
          <a:prstGeom xmlns:a="http://schemas.openxmlformats.org/drawingml/2006/main" prst="roundRect">
            <a:avLst>
              <a:gd name="adj" fmla="val 4615"/>
            </a:avLst>
          </a:prstGeom>
          <a:solidFill xmlns:a="http://schemas.openxmlformats.org/drawingml/2006/main">
            <a:srgbClr val="DCEBED"/>
          </a:solidFill>
          <a:ln xmlns:a="http://schemas.openxmlformats.org/drawingml/2006/main" w="9525">
            <a:solidFill>
              <a:srgbClr val="2D6F78"/>
            </a:solidFill>
            <a:prstDash val="solid"/>
          </a:ln>
        </p:spPr>
      </p:sp>
      <p:sp>
        <p:nvSpPr>
          <p:cNvPr id="5" name="rq-label-0">
            <a:extLst xmlns:a="http://schemas.openxmlformats.org/drawingml/2006/main">
              <a:ext uri="{FF2B5EF4-FFF2-40B4-BE49-F238E27FC236}">
                <a16:creationId xmlns:a16="http://schemas.microsoft.com/office/drawing/2014/main" id="{097C70A7-A477-4B2A-98AB-DE033746BE45}"/>
              </a:ext>
            </a:extLst>
          </p:cNvPr>
          <p:cNvSpPr>
            <a:spLocks xmlns:a="http://schemas.openxmlformats.org/drawingml/2006/main" noGrp="1"/>
          </p:cNvSpPr>
          <p:nvPr/>
        </p:nvSpPr>
        <p:spPr>
          <a:xfrm xmlns:a="http://schemas.openxmlformats.org/drawingml/2006/main">
            <a:off x="933450" y="22669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2D6F78"/>
                </a:solidFill>
                <a:latin typeface="Aptos"/>
                <a:ea typeface="Aptos"/>
                <a:cs typeface="Aptos"/>
              </a:defRPr>
            </a:pPr>
            <a:r>
              <a:rPr sz="1500" b="1">
                <a:solidFill>
                  <a:srgbClr val="2D6F78"/>
                </a:solidFill>
                <a:latin typeface="Aptos"/>
                <a:ea typeface="Aptos"/>
                <a:cs typeface="Aptos"/>
              </a:rPr>
              <a:t>RQ1</a:t>
            </a:r>
          </a:p>
        </p:txBody>
      </p:sp>
      <p:sp>
        <p:nvSpPr>
          <p:cNvPr id="6" name="rq-title-0">
            <a:extLst xmlns:a="http://schemas.openxmlformats.org/drawingml/2006/main">
              <a:ext uri="{FF2B5EF4-FFF2-40B4-BE49-F238E27FC236}">
                <a16:creationId xmlns:a16="http://schemas.microsoft.com/office/drawing/2014/main" id="{127B0716-31D5-4896-8B71-806E1903C2EA}"/>
              </a:ext>
            </a:extLst>
          </p:cNvPr>
          <p:cNvSpPr>
            <a:spLocks xmlns:a="http://schemas.openxmlformats.org/drawingml/2006/main" noGrp="1"/>
          </p:cNvSpPr>
          <p:nvPr/>
        </p:nvSpPr>
        <p:spPr>
          <a:xfrm xmlns:a="http://schemas.openxmlformats.org/drawingml/2006/main">
            <a:off x="933450" y="268605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D2A34"/>
                </a:solidFill>
                <a:latin typeface="Aptos"/>
                <a:ea typeface="Aptos"/>
                <a:cs typeface="Aptos"/>
              </a:defRPr>
            </a:pPr>
            <a:r>
              <a:rPr sz="1950" b="1">
                <a:solidFill>
                  <a:srgbClr val="1D2A34"/>
                </a:solidFill>
                <a:latin typeface="Aptos"/>
                <a:ea typeface="Aptos"/>
                <a:cs typeface="Aptos"/>
              </a:rPr>
              <a:t>Answer quality</a:t>
            </a:r>
          </a:p>
        </p:txBody>
      </p:sp>
      <p:sp>
        <p:nvSpPr>
          <p:cNvPr id="7" name="rq-copy-0">
            <a:extLst xmlns:a="http://schemas.openxmlformats.org/drawingml/2006/main">
              <a:ext uri="{FF2B5EF4-FFF2-40B4-BE49-F238E27FC236}">
                <a16:creationId xmlns:a16="http://schemas.microsoft.com/office/drawing/2014/main" id="{74C9BE62-5A45-4567-A595-F0F4C31745D3}"/>
              </a:ext>
            </a:extLst>
          </p:cNvPr>
          <p:cNvSpPr>
            <a:spLocks xmlns:a="http://schemas.openxmlformats.org/drawingml/2006/main" noGrp="1"/>
          </p:cNvSpPr>
          <p:nvPr/>
        </p:nvSpPr>
        <p:spPr>
          <a:xfrm xmlns:a="http://schemas.openxmlformats.org/drawingml/2006/main">
            <a:off x="933450" y="3429000"/>
            <a:ext cx="247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Faithfulness</a:t>
            </a:r>
          </a:p>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Relevancy</a:t>
            </a:r>
          </a:p>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Correctness</a:t>
            </a:r>
          </a:p>
        </p:txBody>
      </p:sp>
      <p:sp>
        <p:nvSpPr>
          <p:cNvPr id="8" name="rq-1">
            <a:extLst xmlns:a="http://schemas.openxmlformats.org/drawingml/2006/main">
              <a:ext uri="{FF2B5EF4-FFF2-40B4-BE49-F238E27FC236}">
                <a16:creationId xmlns:a16="http://schemas.microsoft.com/office/drawing/2014/main" id="{98E44262-2575-43BD-B7FB-1E7AFE2E2961}"/>
              </a:ext>
            </a:extLst>
          </p:cNvPr>
          <p:cNvSpPr>
            <a:spLocks xmlns:a="http://schemas.openxmlformats.org/drawingml/2006/main" noGrp="1"/>
          </p:cNvSpPr>
          <p:nvPr/>
        </p:nvSpPr>
        <p:spPr>
          <a:xfrm xmlns:a="http://schemas.openxmlformats.org/drawingml/2006/main">
            <a:off x="4191000" y="2000250"/>
            <a:ext cx="3143250" cy="2476500"/>
          </a:xfrm>
          <a:prstGeom xmlns:a="http://schemas.openxmlformats.org/drawingml/2006/main" prst="roundRect">
            <a:avLst>
              <a:gd name="adj" fmla="val 4615"/>
            </a:avLst>
          </a:prstGeom>
          <a:solidFill xmlns:a="http://schemas.openxmlformats.org/drawingml/2006/main">
            <a:srgbClr val="E6EEF5"/>
          </a:solidFill>
          <a:ln xmlns:a="http://schemas.openxmlformats.org/drawingml/2006/main" w="9525">
            <a:solidFill>
              <a:srgbClr val="B65C3C"/>
            </a:solidFill>
            <a:prstDash val="solid"/>
          </a:ln>
        </p:spPr>
      </p:sp>
      <p:sp>
        <p:nvSpPr>
          <p:cNvPr id="9" name="rq-label-1">
            <a:extLst xmlns:a="http://schemas.openxmlformats.org/drawingml/2006/main">
              <a:ext uri="{FF2B5EF4-FFF2-40B4-BE49-F238E27FC236}">
                <a16:creationId xmlns:a16="http://schemas.microsoft.com/office/drawing/2014/main" id="{5F810831-E033-4DBD-A304-81778431C355}"/>
              </a:ext>
            </a:extLst>
          </p:cNvPr>
          <p:cNvSpPr>
            <a:spLocks xmlns:a="http://schemas.openxmlformats.org/drawingml/2006/main" noGrp="1"/>
          </p:cNvSpPr>
          <p:nvPr/>
        </p:nvSpPr>
        <p:spPr>
          <a:xfrm xmlns:a="http://schemas.openxmlformats.org/drawingml/2006/main">
            <a:off x="4438650" y="22669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B65C3C"/>
                </a:solidFill>
                <a:latin typeface="Aptos"/>
                <a:ea typeface="Aptos"/>
                <a:cs typeface="Aptos"/>
              </a:defRPr>
            </a:pPr>
            <a:r>
              <a:rPr sz="1500" b="1">
                <a:solidFill>
                  <a:srgbClr val="B65C3C"/>
                </a:solidFill>
                <a:latin typeface="Aptos"/>
                <a:ea typeface="Aptos"/>
                <a:cs typeface="Aptos"/>
              </a:rPr>
              <a:t>RQ2</a:t>
            </a:r>
          </a:p>
        </p:txBody>
      </p:sp>
      <p:sp>
        <p:nvSpPr>
          <p:cNvPr id="10" name="rq-title-1">
            <a:extLst xmlns:a="http://schemas.openxmlformats.org/drawingml/2006/main">
              <a:ext uri="{FF2B5EF4-FFF2-40B4-BE49-F238E27FC236}">
                <a16:creationId xmlns:a16="http://schemas.microsoft.com/office/drawing/2014/main" id="{AEAA5CE1-14A2-4150-B648-EC0D580CE3B7}"/>
              </a:ext>
            </a:extLst>
          </p:cNvPr>
          <p:cNvSpPr>
            <a:spLocks xmlns:a="http://schemas.openxmlformats.org/drawingml/2006/main" noGrp="1"/>
          </p:cNvSpPr>
          <p:nvPr/>
        </p:nvSpPr>
        <p:spPr>
          <a:xfrm xmlns:a="http://schemas.openxmlformats.org/drawingml/2006/main">
            <a:off x="4438650" y="268605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D2A34"/>
                </a:solidFill>
                <a:latin typeface="Aptos"/>
                <a:ea typeface="Aptos"/>
                <a:cs typeface="Aptos"/>
              </a:defRPr>
            </a:pPr>
            <a:r>
              <a:rPr sz="1950" b="1">
                <a:solidFill>
                  <a:srgbClr val="1D2A34"/>
                </a:solidFill>
                <a:latin typeface="Aptos"/>
                <a:ea typeface="Aptos"/>
                <a:cs typeface="Aptos"/>
              </a:rPr>
              <a:t>Efficiency trade-off</a:t>
            </a:r>
          </a:p>
        </p:txBody>
      </p:sp>
      <p:sp>
        <p:nvSpPr>
          <p:cNvPr id="11" name="rq-copy-1">
            <a:extLst xmlns:a="http://schemas.openxmlformats.org/drawingml/2006/main">
              <a:ext uri="{FF2B5EF4-FFF2-40B4-BE49-F238E27FC236}">
                <a16:creationId xmlns:a16="http://schemas.microsoft.com/office/drawing/2014/main" id="{BF154CEC-0642-4D9C-AD33-DCD0BB62FE31}"/>
              </a:ext>
            </a:extLst>
          </p:cNvPr>
          <p:cNvSpPr>
            <a:spLocks xmlns:a="http://schemas.openxmlformats.org/drawingml/2006/main" noGrp="1"/>
          </p:cNvSpPr>
          <p:nvPr/>
        </p:nvSpPr>
        <p:spPr>
          <a:xfrm xmlns:a="http://schemas.openxmlformats.org/drawingml/2006/main">
            <a:off x="4438650" y="3429000"/>
            <a:ext cx="247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Retrieval latency</a:t>
            </a:r>
          </a:p>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Generation latency</a:t>
            </a:r>
          </a:p>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Token footprint</a:t>
            </a:r>
          </a:p>
        </p:txBody>
      </p:sp>
      <p:sp>
        <p:nvSpPr>
          <p:cNvPr id="12" name="rq-2">
            <a:extLst xmlns:a="http://schemas.openxmlformats.org/drawingml/2006/main">
              <a:ext uri="{FF2B5EF4-FFF2-40B4-BE49-F238E27FC236}">
                <a16:creationId xmlns:a16="http://schemas.microsoft.com/office/drawing/2014/main" id="{0B7A61DE-F3F0-498C-920C-7693CEB852B1}"/>
              </a:ext>
            </a:extLst>
          </p:cNvPr>
          <p:cNvSpPr>
            <a:spLocks xmlns:a="http://schemas.openxmlformats.org/drawingml/2006/main" noGrp="1"/>
          </p:cNvSpPr>
          <p:nvPr/>
        </p:nvSpPr>
        <p:spPr>
          <a:xfrm xmlns:a="http://schemas.openxmlformats.org/drawingml/2006/main">
            <a:off x="7696200" y="2000250"/>
            <a:ext cx="3143250" cy="2476500"/>
          </a:xfrm>
          <a:prstGeom xmlns:a="http://schemas.openxmlformats.org/drawingml/2006/main" prst="roundRect">
            <a:avLst>
              <a:gd name="adj" fmla="val 4615"/>
            </a:avLst>
          </a:prstGeom>
          <a:solidFill xmlns:a="http://schemas.openxmlformats.org/drawingml/2006/main">
            <a:srgbClr val="E3F0E6"/>
          </a:solidFill>
          <a:ln xmlns:a="http://schemas.openxmlformats.org/drawingml/2006/main" w="9525">
            <a:solidFill>
              <a:srgbClr val="3D6F58"/>
            </a:solidFill>
            <a:prstDash val="solid"/>
          </a:ln>
        </p:spPr>
      </p:sp>
      <p:sp>
        <p:nvSpPr>
          <p:cNvPr id="13" name="rq-label-2">
            <a:extLst xmlns:a="http://schemas.openxmlformats.org/drawingml/2006/main">
              <a:ext uri="{FF2B5EF4-FFF2-40B4-BE49-F238E27FC236}">
                <a16:creationId xmlns:a16="http://schemas.microsoft.com/office/drawing/2014/main" id="{C41BA3D1-918A-49B8-9C6A-E731AAF372CC}"/>
              </a:ext>
            </a:extLst>
          </p:cNvPr>
          <p:cNvSpPr>
            <a:spLocks xmlns:a="http://schemas.openxmlformats.org/drawingml/2006/main" noGrp="1"/>
          </p:cNvSpPr>
          <p:nvPr/>
        </p:nvSpPr>
        <p:spPr>
          <a:xfrm xmlns:a="http://schemas.openxmlformats.org/drawingml/2006/main">
            <a:off x="7943850" y="22669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3D6F58"/>
                </a:solidFill>
                <a:latin typeface="Aptos"/>
                <a:ea typeface="Aptos"/>
                <a:cs typeface="Aptos"/>
              </a:defRPr>
            </a:pPr>
            <a:r>
              <a:rPr sz="1500" b="1">
                <a:solidFill>
                  <a:srgbClr val="3D6F58"/>
                </a:solidFill>
                <a:latin typeface="Aptos"/>
                <a:ea typeface="Aptos"/>
                <a:cs typeface="Aptos"/>
              </a:rPr>
              <a:t>RQ3</a:t>
            </a:r>
          </a:p>
        </p:txBody>
      </p:sp>
      <p:sp>
        <p:nvSpPr>
          <p:cNvPr id="14" name="rq-title-2">
            <a:extLst xmlns:a="http://schemas.openxmlformats.org/drawingml/2006/main">
              <a:ext uri="{FF2B5EF4-FFF2-40B4-BE49-F238E27FC236}">
                <a16:creationId xmlns:a16="http://schemas.microsoft.com/office/drawing/2014/main" id="{4DA52830-C973-48ED-B103-90C7EB791E5C}"/>
              </a:ext>
            </a:extLst>
          </p:cNvPr>
          <p:cNvSpPr>
            <a:spLocks xmlns:a="http://schemas.openxmlformats.org/drawingml/2006/main" noGrp="1"/>
          </p:cNvSpPr>
          <p:nvPr/>
        </p:nvSpPr>
        <p:spPr>
          <a:xfrm xmlns:a="http://schemas.openxmlformats.org/drawingml/2006/main">
            <a:off x="7943850" y="268605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D2A34"/>
                </a:solidFill>
                <a:latin typeface="Aptos"/>
                <a:ea typeface="Aptos"/>
                <a:cs typeface="Aptos"/>
              </a:defRPr>
            </a:pPr>
            <a:r>
              <a:rPr sz="1950" b="1">
                <a:solidFill>
                  <a:srgbClr val="1D2A34"/>
                </a:solidFill>
                <a:latin typeface="Aptos"/>
                <a:ea typeface="Aptos"/>
                <a:cs typeface="Aptos"/>
              </a:rPr>
              <a:t>Evidence strength</a:t>
            </a:r>
          </a:p>
        </p:txBody>
      </p:sp>
      <p:sp>
        <p:nvSpPr>
          <p:cNvPr id="15" name="rq-copy-2">
            <a:extLst xmlns:a="http://schemas.openxmlformats.org/drawingml/2006/main">
              <a:ext uri="{FF2B5EF4-FFF2-40B4-BE49-F238E27FC236}">
                <a16:creationId xmlns:a16="http://schemas.microsoft.com/office/drawing/2014/main" id="{D60C047D-31A5-4D69-AB51-65292843A517}"/>
              </a:ext>
            </a:extLst>
          </p:cNvPr>
          <p:cNvSpPr>
            <a:spLocks xmlns:a="http://schemas.openxmlformats.org/drawingml/2006/main" noGrp="1"/>
          </p:cNvSpPr>
          <p:nvPr/>
        </p:nvSpPr>
        <p:spPr>
          <a:xfrm xmlns:a="http://schemas.openxmlformats.org/drawingml/2006/main">
            <a:off x="7943850" y="3429000"/>
            <a:ext cx="247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Paired differences</a:t>
            </a:r>
          </a:p>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95% confidence intervals</a:t>
            </a:r>
          </a:p>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Statistical confidence</a:t>
            </a:r>
          </a:p>
        </p:txBody>
      </p:sp>
      <p:sp>
        <p:nvSpPr>
          <p:cNvPr id="16" name="rq-takeaway">
            <a:extLst xmlns:a="http://schemas.openxmlformats.org/drawingml/2006/main">
              <a:ext uri="{FF2B5EF4-FFF2-40B4-BE49-F238E27FC236}">
                <a16:creationId xmlns:a16="http://schemas.microsoft.com/office/drawing/2014/main" id="{74BFC227-2E21-43FD-B81B-8C966FDEAD1D}"/>
              </a:ext>
            </a:extLst>
          </p:cNvPr>
          <p:cNvSpPr>
            <a:spLocks xmlns:a="http://schemas.openxmlformats.org/drawingml/2006/main" noGrp="1"/>
          </p:cNvSpPr>
          <p:nvPr/>
        </p:nvSpPr>
        <p:spPr>
          <a:xfrm xmlns:a="http://schemas.openxmlformats.org/drawingml/2006/main">
            <a:off x="685800" y="5048250"/>
            <a:ext cx="101727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7" name="rq-takeaway-label">
            <a:extLst xmlns:a="http://schemas.openxmlformats.org/drawingml/2006/main">
              <a:ext uri="{FF2B5EF4-FFF2-40B4-BE49-F238E27FC236}">
                <a16:creationId xmlns:a16="http://schemas.microsoft.com/office/drawing/2014/main" id="{922DCCA5-D790-4490-9174-C7D800511F2A}"/>
              </a:ext>
            </a:extLst>
          </p:cNvPr>
          <p:cNvSpPr>
            <a:spLocks xmlns:a="http://schemas.openxmlformats.org/drawingml/2006/main" noGrp="1"/>
          </p:cNvSpPr>
          <p:nvPr/>
        </p:nvSpPr>
        <p:spPr>
          <a:xfrm xmlns:a="http://schemas.openxmlformats.org/drawingml/2006/main">
            <a:off x="952500" y="51816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8" name="rq-takeaway-copy">
            <a:extLst xmlns:a="http://schemas.openxmlformats.org/drawingml/2006/main">
              <a:ext uri="{FF2B5EF4-FFF2-40B4-BE49-F238E27FC236}">
                <a16:creationId xmlns:a16="http://schemas.microsoft.com/office/drawing/2014/main" id="{FF2018CA-1726-4D58-9A84-13B6452059FC}"/>
              </a:ext>
            </a:extLst>
          </p:cNvPr>
          <p:cNvSpPr>
            <a:spLocks xmlns:a="http://schemas.openxmlformats.org/drawingml/2006/main" noGrp="1"/>
          </p:cNvSpPr>
          <p:nvPr/>
        </p:nvSpPr>
        <p:spPr>
          <a:xfrm xmlns:a="http://schemas.openxmlformats.org/drawingml/2006/main">
            <a:off x="952500" y="5153025"/>
            <a:ext cx="962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D2A34"/>
                </a:solidFill>
                <a:latin typeface="Aptos"/>
                <a:ea typeface="Aptos"/>
                <a:cs typeface="Aptos"/>
              </a:defRPr>
            </a:pPr>
            <a:r>
              <a:rPr sz="1350" b="1">
                <a:solidFill>
                  <a:srgbClr val="1D2A34"/>
                </a:solidFill>
                <a:latin typeface="Aptos"/>
                <a:ea typeface="Aptos"/>
                <a:cs typeface="Aptos"/>
              </a:rPr>
              <a:t>A positive average is not enough; the interval determines how strongly the result can be stated.</a:t>
            </a:r>
          </a:p>
        </p:txBody>
      </p:sp>
      <p:sp>
        <p:nvSpPr>
          <p:cNvPr id="19" name="footer-label">
            <a:extLst xmlns:a="http://schemas.openxmlformats.org/drawingml/2006/main">
              <a:ext uri="{FF2B5EF4-FFF2-40B4-BE49-F238E27FC236}">
                <a16:creationId xmlns:a16="http://schemas.microsoft.com/office/drawing/2014/main" id="{C6DE8374-1530-42D7-9661-E3CA08A4CC2D}"/>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03 / 15</a:t>
            </a:r>
          </a:p>
        </p:txBody>
      </p:sp>
      <p:sp>
        <p:nvSpPr>
          <p:cNvPr id="20" name="footer-number">
            <a:extLst xmlns:a="http://schemas.openxmlformats.org/drawingml/2006/main">
              <a:ext uri="{FF2B5EF4-FFF2-40B4-BE49-F238E27FC236}">
                <a16:creationId xmlns:a16="http://schemas.microsoft.com/office/drawing/2014/main" id="{B0CFD207-C930-4E6B-937C-A044B5F0106D}"/>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506539140"/>
      </p:ext>
    </p:extLst>
  </p:cSld>
</p:sld>
</file>

<file path=ppt/slides/slide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21" name="kicker">
            <a:extLst xmlns:a="http://schemas.openxmlformats.org/drawingml/2006/main">
              <a:ext uri="{FF2B5EF4-FFF2-40B4-BE49-F238E27FC236}">
                <a16:creationId xmlns:a16="http://schemas.microsoft.com/office/drawing/2014/main" id="{CC549816-488B-4367-8F50-2EBEA4941976}"/>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SCOPE &amp; RELATED WORK  ·  04 / 15</a:t>
            </a:r>
          </a:p>
        </p:txBody>
      </p:sp>
      <p:sp>
        <p:nvSpPr>
          <p:cNvPr id="2" name="kicker-rule">
            <a:extLst xmlns:a="http://schemas.openxmlformats.org/drawingml/2006/main">
              <a:ext uri="{FF2B5EF4-FFF2-40B4-BE49-F238E27FC236}">
                <a16:creationId xmlns:a16="http://schemas.microsoft.com/office/drawing/2014/main" id="{5E19BEE3-0E18-44CF-A351-73D993270324}"/>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DD0BEC19-E0EA-4C0F-8309-DDEB842A1178}"/>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The experiment is controlled—but deliberately narrow.</a:t>
            </a:r>
          </a:p>
        </p:txBody>
      </p:sp>
      <p:sp>
        <p:nvSpPr>
          <p:cNvPr id="4" name="scope-0">
            <a:extLst xmlns:a="http://schemas.openxmlformats.org/drawingml/2006/main">
              <a:ext uri="{FF2B5EF4-FFF2-40B4-BE49-F238E27FC236}">
                <a16:creationId xmlns:a16="http://schemas.microsoft.com/office/drawing/2014/main" id="{2FFBCE9F-9582-45BE-B627-68A4316BE51F}"/>
              </a:ext>
            </a:extLst>
          </p:cNvPr>
          <p:cNvSpPr>
            <a:spLocks xmlns:a="http://schemas.openxmlformats.org/drawingml/2006/main" noGrp="1"/>
          </p:cNvSpPr>
          <p:nvPr/>
        </p:nvSpPr>
        <p:spPr>
          <a:xfrm xmlns:a="http://schemas.openxmlformats.org/drawingml/2006/main">
            <a:off x="685800" y="1809750"/>
            <a:ext cx="2857500" cy="1619250"/>
          </a:xfrm>
          <a:prstGeom xmlns:a="http://schemas.openxmlformats.org/drawingml/2006/main" prst="roundRect">
            <a:avLst>
              <a:gd name="adj" fmla="val 7059"/>
            </a:avLst>
          </a:prstGeom>
          <a:solidFill xmlns:a="http://schemas.openxmlformats.org/drawingml/2006/main">
            <a:srgbClr val="DCEBED"/>
          </a:solidFill>
          <a:ln xmlns:a="http://schemas.openxmlformats.org/drawingml/2006/main" w="9525">
            <a:solidFill>
              <a:srgbClr val="2D6F78"/>
            </a:solidFill>
            <a:prstDash val="solid"/>
          </a:ln>
        </p:spPr>
      </p:sp>
      <p:sp>
        <p:nvSpPr>
          <p:cNvPr id="5" name="scope-label-0">
            <a:extLst xmlns:a="http://schemas.openxmlformats.org/drawingml/2006/main">
              <a:ext uri="{FF2B5EF4-FFF2-40B4-BE49-F238E27FC236}">
                <a16:creationId xmlns:a16="http://schemas.microsoft.com/office/drawing/2014/main" id="{2B492B40-E7C7-4819-A2B8-386A1A878154}"/>
              </a:ext>
            </a:extLst>
          </p:cNvPr>
          <p:cNvSpPr>
            <a:spLocks xmlns:a="http://schemas.openxmlformats.org/drawingml/2006/main" noGrp="1"/>
          </p:cNvSpPr>
          <p:nvPr/>
        </p:nvSpPr>
        <p:spPr>
          <a:xfrm xmlns:a="http://schemas.openxmlformats.org/drawingml/2006/main">
            <a:off x="895350" y="204787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CONTROLLED</a:t>
            </a:r>
          </a:p>
        </p:txBody>
      </p:sp>
      <p:sp>
        <p:nvSpPr>
          <p:cNvPr id="6" name="scope-copy-0">
            <a:extLst xmlns:a="http://schemas.openxmlformats.org/drawingml/2006/main">
              <a:ext uri="{FF2B5EF4-FFF2-40B4-BE49-F238E27FC236}">
                <a16:creationId xmlns:a16="http://schemas.microsoft.com/office/drawing/2014/main" id="{7DE2E2AE-6875-4004-899B-60E2BEDFEB83}"/>
              </a:ext>
            </a:extLst>
          </p:cNvPr>
          <p:cNvSpPr>
            <a:spLocks xmlns:a="http://schemas.openxmlformats.org/drawingml/2006/main" noGrp="1"/>
          </p:cNvSpPr>
          <p:nvPr/>
        </p:nvSpPr>
        <p:spPr>
          <a:xfrm xmlns:a="http://schemas.openxmlformats.org/drawingml/2006/main">
            <a:off x="895350" y="2457450"/>
            <a:ext cx="238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Same source snapshot</a:t>
            </a:r>
          </a:p>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Same questions</a:t>
            </a:r>
          </a:p>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Same models and repeats</a:t>
            </a:r>
          </a:p>
        </p:txBody>
      </p:sp>
      <p:sp>
        <p:nvSpPr>
          <p:cNvPr id="7" name="scope-1">
            <a:extLst xmlns:a="http://schemas.openxmlformats.org/drawingml/2006/main">
              <a:ext uri="{FF2B5EF4-FFF2-40B4-BE49-F238E27FC236}">
                <a16:creationId xmlns:a16="http://schemas.microsoft.com/office/drawing/2014/main" id="{759B3DA6-30A4-4C33-AC2D-D32CDBF5DC4F}"/>
              </a:ext>
            </a:extLst>
          </p:cNvPr>
          <p:cNvSpPr>
            <a:spLocks xmlns:a="http://schemas.openxmlformats.org/drawingml/2006/main" noGrp="1"/>
          </p:cNvSpPr>
          <p:nvPr/>
        </p:nvSpPr>
        <p:spPr>
          <a:xfrm xmlns:a="http://schemas.openxmlformats.org/drawingml/2006/main">
            <a:off x="3905250" y="1809750"/>
            <a:ext cx="2857500" cy="1619250"/>
          </a:xfrm>
          <a:prstGeom xmlns:a="http://schemas.openxmlformats.org/drawingml/2006/main" prst="roundRect">
            <a:avLst>
              <a:gd name="adj" fmla="val 7059"/>
            </a:avLst>
          </a:prstGeom>
          <a:solidFill xmlns:a="http://schemas.openxmlformats.org/drawingml/2006/main">
            <a:srgbClr val="E3F0E6"/>
          </a:solidFill>
          <a:ln xmlns:a="http://schemas.openxmlformats.org/drawingml/2006/main" w="9525">
            <a:solidFill>
              <a:srgbClr val="3D6F58"/>
            </a:solidFill>
            <a:prstDash val="solid"/>
          </a:ln>
        </p:spPr>
      </p:sp>
      <p:sp>
        <p:nvSpPr>
          <p:cNvPr id="8" name="scope-label-1">
            <a:extLst xmlns:a="http://schemas.openxmlformats.org/drawingml/2006/main">
              <a:ext uri="{FF2B5EF4-FFF2-40B4-BE49-F238E27FC236}">
                <a16:creationId xmlns:a16="http://schemas.microsoft.com/office/drawing/2014/main" id="{15E985A8-69C6-4C54-8B8F-5C9E9DDC02A1}"/>
              </a:ext>
            </a:extLst>
          </p:cNvPr>
          <p:cNvSpPr>
            <a:spLocks xmlns:a="http://schemas.openxmlformats.org/drawingml/2006/main" noGrp="1"/>
          </p:cNvSpPr>
          <p:nvPr/>
        </p:nvSpPr>
        <p:spPr>
          <a:xfrm xmlns:a="http://schemas.openxmlformats.org/drawingml/2006/main">
            <a:off x="4114800" y="204787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3D6F58"/>
                </a:solidFill>
                <a:latin typeface="Aptos"/>
                <a:ea typeface="Aptos"/>
                <a:cs typeface="Aptos"/>
              </a:defRPr>
            </a:pPr>
            <a:r>
              <a:rPr sz="975" b="1">
                <a:solidFill>
                  <a:srgbClr val="3D6F58"/>
                </a:solidFill>
                <a:latin typeface="Aptos"/>
                <a:ea typeface="Aptos"/>
                <a:cs typeface="Aptos"/>
              </a:rPr>
              <a:t>EXECUTED</a:t>
            </a:r>
          </a:p>
        </p:txBody>
      </p:sp>
      <p:sp>
        <p:nvSpPr>
          <p:cNvPr id="9" name="scope-copy-1">
            <a:extLst xmlns:a="http://schemas.openxmlformats.org/drawingml/2006/main">
              <a:ext uri="{FF2B5EF4-FFF2-40B4-BE49-F238E27FC236}">
                <a16:creationId xmlns:a16="http://schemas.microsoft.com/office/drawing/2014/main" id="{86D7E9BE-0F34-4F92-A103-F3285532C2E2}"/>
              </a:ext>
            </a:extLst>
          </p:cNvPr>
          <p:cNvSpPr>
            <a:spLocks xmlns:a="http://schemas.openxmlformats.org/drawingml/2006/main" noGrp="1"/>
          </p:cNvSpPr>
          <p:nvPr/>
        </p:nvSpPr>
        <p:spPr>
          <a:xfrm xmlns:a="http://schemas.openxmlformats.org/drawingml/2006/main">
            <a:off x="4114800" y="2457450"/>
            <a:ext cx="238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Python AST semantics</a:t>
            </a:r>
          </a:p>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Vector-only baseline</a:t>
            </a:r>
          </a:p>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AI source-reviewed references</a:t>
            </a:r>
          </a:p>
        </p:txBody>
      </p:sp>
      <p:sp>
        <p:nvSpPr>
          <p:cNvPr id="10" name="scope-2">
            <a:extLst xmlns:a="http://schemas.openxmlformats.org/drawingml/2006/main">
              <a:ext uri="{FF2B5EF4-FFF2-40B4-BE49-F238E27FC236}">
                <a16:creationId xmlns:a16="http://schemas.microsoft.com/office/drawing/2014/main" id="{EBFA1AB3-363C-49D4-BAAF-8B974C95A034}"/>
              </a:ext>
            </a:extLst>
          </p:cNvPr>
          <p:cNvSpPr>
            <a:spLocks xmlns:a="http://schemas.openxmlformats.org/drawingml/2006/main" noGrp="1"/>
          </p:cNvSpPr>
          <p:nvPr/>
        </p:nvSpPr>
        <p:spPr>
          <a:xfrm xmlns:a="http://schemas.openxmlformats.org/drawingml/2006/main">
            <a:off x="7124700" y="1809750"/>
            <a:ext cx="2857500" cy="1619250"/>
          </a:xfrm>
          <a:prstGeom xmlns:a="http://schemas.openxmlformats.org/drawingml/2006/main" prst="roundRect">
            <a:avLst>
              <a:gd name="adj" fmla="val 7059"/>
            </a:avLst>
          </a:prstGeom>
          <a:solidFill xmlns:a="http://schemas.openxmlformats.org/drawingml/2006/main">
            <a:srgbClr val="F4E2DA"/>
          </a:solidFill>
          <a:ln xmlns:a="http://schemas.openxmlformats.org/drawingml/2006/main" w="9525">
            <a:solidFill>
              <a:srgbClr val="B65C3C"/>
            </a:solidFill>
            <a:prstDash val="solid"/>
          </a:ln>
        </p:spPr>
      </p:sp>
      <p:sp>
        <p:nvSpPr>
          <p:cNvPr id="11" name="scope-label-2">
            <a:extLst xmlns:a="http://schemas.openxmlformats.org/drawingml/2006/main">
              <a:ext uri="{FF2B5EF4-FFF2-40B4-BE49-F238E27FC236}">
                <a16:creationId xmlns:a16="http://schemas.microsoft.com/office/drawing/2014/main" id="{38812386-A222-4C2D-AE52-1BD7696A6FF8}"/>
              </a:ext>
            </a:extLst>
          </p:cNvPr>
          <p:cNvSpPr>
            <a:spLocks xmlns:a="http://schemas.openxmlformats.org/drawingml/2006/main" noGrp="1"/>
          </p:cNvSpPr>
          <p:nvPr/>
        </p:nvSpPr>
        <p:spPr>
          <a:xfrm xmlns:a="http://schemas.openxmlformats.org/drawingml/2006/main">
            <a:off x="7334250" y="204787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B65C3C"/>
                </a:solidFill>
                <a:latin typeface="Aptos"/>
                <a:ea typeface="Aptos"/>
                <a:cs typeface="Aptos"/>
              </a:defRPr>
            </a:pPr>
            <a:r>
              <a:rPr sz="975" b="1">
                <a:solidFill>
                  <a:srgbClr val="B65C3C"/>
                </a:solidFill>
                <a:latin typeface="Aptos"/>
                <a:ea typeface="Aptos"/>
                <a:cs typeface="Aptos"/>
              </a:rPr>
              <a:t>NOT ESTABLISHED</a:t>
            </a:r>
          </a:p>
        </p:txBody>
      </p:sp>
      <p:sp>
        <p:nvSpPr>
          <p:cNvPr id="12" name="scope-copy-2">
            <a:extLst xmlns:a="http://schemas.openxmlformats.org/drawingml/2006/main">
              <a:ext uri="{FF2B5EF4-FFF2-40B4-BE49-F238E27FC236}">
                <a16:creationId xmlns:a16="http://schemas.microsoft.com/office/drawing/2014/main" id="{1BFCE269-6732-4AB9-AFC0-DE9833939C20}"/>
              </a:ext>
            </a:extLst>
          </p:cNvPr>
          <p:cNvSpPr>
            <a:spLocks xmlns:a="http://schemas.openxmlformats.org/drawingml/2006/main" noGrp="1"/>
          </p:cNvSpPr>
          <p:nvPr/>
        </p:nvSpPr>
        <p:spPr>
          <a:xfrm xmlns:a="http://schemas.openxmlformats.org/drawingml/2006/main">
            <a:off x="7334250" y="2457450"/>
            <a:ext cx="238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Cross-repository generality</a:t>
            </a:r>
          </a:p>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Human accuracy</a:t>
            </a:r>
          </a:p>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BM25, graph-only, CodeBERT, GraphRAG</a:t>
            </a:r>
          </a:p>
        </p:txBody>
      </p:sp>
      <p:sp>
        <p:nvSpPr>
          <p:cNvPr id="13" name="scope-rule">
            <a:extLst xmlns:a="http://schemas.openxmlformats.org/drawingml/2006/main">
              <a:ext uri="{FF2B5EF4-FFF2-40B4-BE49-F238E27FC236}">
                <a16:creationId xmlns:a16="http://schemas.microsoft.com/office/drawing/2014/main" id="{E5732004-D83A-4026-9D29-10F031F11B91}"/>
              </a:ext>
            </a:extLst>
          </p:cNvPr>
          <p:cNvSpPr>
            <a:spLocks xmlns:a="http://schemas.openxmlformats.org/drawingml/2006/main" noGrp="1"/>
          </p:cNvSpPr>
          <p:nvPr/>
        </p:nvSpPr>
        <p:spPr>
          <a:xfrm xmlns:a="http://schemas.openxmlformats.org/drawingml/2006/main">
            <a:off x="685800" y="3810000"/>
            <a:ext cx="1017270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14" name="related-label">
            <a:extLst xmlns:a="http://schemas.openxmlformats.org/drawingml/2006/main">
              <a:ext uri="{FF2B5EF4-FFF2-40B4-BE49-F238E27FC236}">
                <a16:creationId xmlns:a16="http://schemas.microsoft.com/office/drawing/2014/main" id="{72F75CFF-42A2-4C56-9D58-A579C89B9B86}"/>
              </a:ext>
            </a:extLst>
          </p:cNvPr>
          <p:cNvSpPr>
            <a:spLocks xmlns:a="http://schemas.openxmlformats.org/drawingml/2006/main" noGrp="1"/>
          </p:cNvSpPr>
          <p:nvPr/>
        </p:nvSpPr>
        <p:spPr>
          <a:xfrm xmlns:a="http://schemas.openxmlformats.org/drawingml/2006/main">
            <a:off x="685800" y="409575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RELATED-WORK POSITIONING · LITERATURE ONLY</a:t>
            </a:r>
          </a:p>
        </p:txBody>
      </p:sp>
      <p:sp>
        <p:nvSpPr>
          <p:cNvPr id="15" name="related-copy">
            <a:extLst xmlns:a="http://schemas.openxmlformats.org/drawingml/2006/main">
              <a:ext uri="{FF2B5EF4-FFF2-40B4-BE49-F238E27FC236}">
                <a16:creationId xmlns:a16="http://schemas.microsoft.com/office/drawing/2014/main" id="{7D58F684-E12F-40B7-8F86-BB0D6D1D4750}"/>
              </a:ext>
            </a:extLst>
          </p:cNvPr>
          <p:cNvSpPr>
            <a:spLocks xmlns:a="http://schemas.openxmlformats.org/drawingml/2006/main" noGrp="1"/>
          </p:cNvSpPr>
          <p:nvPr/>
        </p:nvSpPr>
        <p:spPr>
          <a:xfrm xmlns:a="http://schemas.openxmlformats.org/drawingml/2006/main">
            <a:off x="685800" y="4400550"/>
            <a:ext cx="10172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a:solidFill>
                  <a:srgbClr val="586671"/>
                </a:solidFill>
                <a:latin typeface="Aptos"/>
                <a:ea typeface="Aptos"/>
                <a:cs typeface="Aptos"/>
              </a:defRPr>
            </a:pPr>
            <a:r>
              <a:rPr sz="1275">
                <a:solidFill>
                  <a:srgbClr val="586671"/>
                </a:solidFill>
                <a:latin typeface="Aptos"/>
                <a:ea typeface="Aptos"/>
                <a:cs typeface="Aptos"/>
              </a:rPr>
              <a:t>BM25 = lexical matching   ·   CodeBERT/GraphCodeBERT = code representation   ·   Microsoft GraphRAG = corpus-level graph reasoning</a:t>
            </a:r>
          </a:p>
        </p:txBody>
      </p:sp>
      <p:sp>
        <p:nvSpPr>
          <p:cNvPr id="16" name="scope-claim">
            <a:extLst xmlns:a="http://schemas.openxmlformats.org/drawingml/2006/main">
              <a:ext uri="{FF2B5EF4-FFF2-40B4-BE49-F238E27FC236}">
                <a16:creationId xmlns:a16="http://schemas.microsoft.com/office/drawing/2014/main" id="{0E935AD0-AC09-443D-B700-FEBF2C31DB9C}"/>
              </a:ext>
            </a:extLst>
          </p:cNvPr>
          <p:cNvSpPr>
            <a:spLocks xmlns:a="http://schemas.openxmlformats.org/drawingml/2006/main" noGrp="1"/>
          </p:cNvSpPr>
          <p:nvPr/>
        </p:nvSpPr>
        <p:spPr>
          <a:xfrm xmlns:a="http://schemas.openxmlformats.org/drawingml/2006/main">
            <a:off x="685800" y="5048250"/>
            <a:ext cx="101727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7" name="scope-claim-label">
            <a:extLst xmlns:a="http://schemas.openxmlformats.org/drawingml/2006/main">
              <a:ext uri="{FF2B5EF4-FFF2-40B4-BE49-F238E27FC236}">
                <a16:creationId xmlns:a16="http://schemas.microsoft.com/office/drawing/2014/main" id="{A68D79ED-E138-48E6-B133-BAEFEA570074}"/>
              </a:ext>
            </a:extLst>
          </p:cNvPr>
          <p:cNvSpPr>
            <a:spLocks xmlns:a="http://schemas.openxmlformats.org/drawingml/2006/main" noGrp="1"/>
          </p:cNvSpPr>
          <p:nvPr/>
        </p:nvSpPr>
        <p:spPr>
          <a:xfrm xmlns:a="http://schemas.openxmlformats.org/drawingml/2006/main">
            <a:off x="952500" y="51816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8" name="scope-claim-copy">
            <a:extLst xmlns:a="http://schemas.openxmlformats.org/drawingml/2006/main">
              <a:ext uri="{FF2B5EF4-FFF2-40B4-BE49-F238E27FC236}">
                <a16:creationId xmlns:a16="http://schemas.microsoft.com/office/drawing/2014/main" id="{112F71ED-0A89-4DE1-877F-A77AB3042E9F}"/>
              </a:ext>
            </a:extLst>
          </p:cNvPr>
          <p:cNvSpPr>
            <a:spLocks xmlns:a="http://schemas.openxmlformats.org/drawingml/2006/main" noGrp="1"/>
          </p:cNvSpPr>
          <p:nvPr/>
        </p:nvSpPr>
        <p:spPr>
          <a:xfrm xmlns:a="http://schemas.openxmlformats.org/drawingml/2006/main">
            <a:off x="952500" y="5153025"/>
            <a:ext cx="962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D2A34"/>
                </a:solidFill>
                <a:latin typeface="Aptos"/>
                <a:ea typeface="Aptos"/>
                <a:cs typeface="Aptos"/>
              </a:defRPr>
            </a:pPr>
            <a:r>
              <a:rPr sz="1350" b="1">
                <a:solidFill>
                  <a:srgbClr val="1D2A34"/>
                </a:solidFill>
                <a:latin typeface="Aptos"/>
                <a:ea typeface="Aptos"/>
                <a:cs typeface="Aptos"/>
              </a:rPr>
              <a:t>The valid claim is “better on this pinned paired workload,” not “universally better RAG.”</a:t>
            </a:r>
          </a:p>
        </p:txBody>
      </p:sp>
      <p:sp>
        <p:nvSpPr>
          <p:cNvPr id="19" name="footer-label">
            <a:extLst xmlns:a="http://schemas.openxmlformats.org/drawingml/2006/main">
              <a:ext uri="{FF2B5EF4-FFF2-40B4-BE49-F238E27FC236}">
                <a16:creationId xmlns:a16="http://schemas.microsoft.com/office/drawing/2014/main" id="{67AAD2C2-B667-4DA5-9E0C-EBEC81BCEC7B}"/>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04 / 15</a:t>
            </a:r>
          </a:p>
        </p:txBody>
      </p:sp>
      <p:sp>
        <p:nvSpPr>
          <p:cNvPr id="20" name="footer-number">
            <a:extLst xmlns:a="http://schemas.openxmlformats.org/drawingml/2006/main">
              <a:ext uri="{FF2B5EF4-FFF2-40B4-BE49-F238E27FC236}">
                <a16:creationId xmlns:a16="http://schemas.microsoft.com/office/drawing/2014/main" id="{363C85B8-C1F3-4214-AD11-DA9178E159F5}"/>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350893125"/>
      </p:ext>
    </p:extLst>
  </p:cSld>
</p:sld>
</file>

<file path=ppt/slides/slide5.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EAB3FEA0-0B59-4B35-B16D-84C0BC0D66F6}"/>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SCOPE &amp; RELATED WORK  ·  DETAIL  ·  01 / 13</a:t>
            </a:r>
          </a:p>
        </p:txBody>
      </p:sp>
      <p:sp>
        <p:nvSpPr>
          <p:cNvPr id="2" name="kicker-rule">
            <a:extLst xmlns:a="http://schemas.openxmlformats.org/drawingml/2006/main">
              <a:ext uri="{FF2B5EF4-FFF2-40B4-BE49-F238E27FC236}">
                <a16:creationId xmlns:a16="http://schemas.microsoft.com/office/drawing/2014/main" id="{31B8209F-28B7-491F-8083-6158DFCA4708}"/>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DF5B3DB3-DEA7-4A07-937B-09A5E55B0FC2}"/>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1D2A34"/>
                </a:solidFill>
                <a:latin typeface="Aptos Display"/>
                <a:ea typeface="Aptos Display"/>
                <a:cs typeface="Aptos Display"/>
              </a:defRPr>
            </a:pPr>
            <a:r>
              <a:rPr sz="2250" b="1">
                <a:solidFill>
                  <a:srgbClr val="1D2A34"/>
                </a:solidFill>
                <a:latin typeface="Aptos Display"/>
                <a:ea typeface="Aptos Display"/>
                <a:cs typeface="Aptos Display"/>
              </a:rPr>
              <a:t>The older 50-case structural result is diagnostic—not confirmatory.</a:t>
            </a:r>
          </a:p>
        </p:txBody>
      </p:sp>
      <p:sp>
        <p:nvSpPr>
          <p:cNvPr id="4" name="depth-box-0">
            <a:extLst xmlns:a="http://schemas.openxmlformats.org/drawingml/2006/main">
              <a:ext uri="{FF2B5EF4-FFF2-40B4-BE49-F238E27FC236}">
                <a16:creationId xmlns:a16="http://schemas.microsoft.com/office/drawing/2014/main" id="{507AD4F0-42B9-4E52-9FC4-8E6D87D2CD2D}"/>
              </a:ext>
            </a:extLst>
          </p:cNvPr>
          <p:cNvSpPr>
            <a:spLocks xmlns:a="http://schemas.openxmlformats.org/drawingml/2006/main" noGrp="1"/>
          </p:cNvSpPr>
          <p:nvPr/>
        </p:nvSpPr>
        <p:spPr>
          <a:xfrm xmlns:a="http://schemas.openxmlformats.org/drawingml/2006/main">
            <a:off x="685800" y="1981200"/>
            <a:ext cx="108204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9525">
            <a:solidFill>
              <a:srgbClr val="C9D1D1"/>
            </a:solidFill>
            <a:prstDash val="solid"/>
          </a:ln>
        </p:spPr>
      </p:sp>
      <p:sp>
        <p:nvSpPr>
          <p:cNvPr id="5" name="depth-label-0">
            <a:extLst xmlns:a="http://schemas.openxmlformats.org/drawingml/2006/main">
              <a:ext uri="{FF2B5EF4-FFF2-40B4-BE49-F238E27FC236}">
                <a16:creationId xmlns:a16="http://schemas.microsoft.com/office/drawing/2014/main" id="{04FAE411-3239-4D2E-B813-1367B7F93EF4}"/>
              </a:ext>
            </a:extLst>
          </p:cNvPr>
          <p:cNvSpPr>
            <a:spLocks xmlns:a="http://schemas.openxmlformats.org/drawingml/2006/main" noGrp="1"/>
          </p:cNvSpPr>
          <p:nvPr/>
        </p:nvSpPr>
        <p:spPr>
          <a:xfrm xmlns:a="http://schemas.openxmlformats.org/drawingml/2006/main">
            <a:off x="990600" y="2286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EVIDENCE DETAIL</a:t>
            </a:r>
          </a:p>
        </p:txBody>
      </p:sp>
      <p:sp>
        <p:nvSpPr>
          <p:cNvPr id="6" name="depth-copy-0">
            <a:extLst xmlns:a="http://schemas.openxmlformats.org/drawingml/2006/main">
              <a:ext uri="{FF2B5EF4-FFF2-40B4-BE49-F238E27FC236}">
                <a16:creationId xmlns:a16="http://schemas.microsoft.com/office/drawing/2014/main" id="{EB897652-1ECA-40B8-916A-2A68401B741F}"/>
              </a:ext>
            </a:extLst>
          </p:cNvPr>
          <p:cNvSpPr>
            <a:spLocks xmlns:a="http://schemas.openxmlformats.org/drawingml/2006/main" noGrp="1"/>
          </p:cNvSpPr>
          <p:nvPr/>
        </p:nvSpPr>
        <p:spPr>
          <a:xfrm xmlns:a="http://schemas.openxmlformats.org/drawingml/2006/main">
            <a:off x="990600" y="2724150"/>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D2A34"/>
                </a:solidFill>
                <a:latin typeface="Aptos"/>
                <a:ea typeface="Aptos"/>
                <a:cs typeface="Aptos"/>
              </a:defRPr>
            </a:pPr>
            <a:r>
              <a:rPr sz="2100" b="1">
                <a:solidFill>
                  <a:srgbClr val="1D2A34"/>
                </a:solidFill>
                <a:latin typeface="Aptos"/>
                <a:ea typeface="Aptos"/>
                <a:cs typeface="Aptos"/>
              </a:rPr>
              <a:t>Historical schema-two result; useful for regression diagnosis, excluded from the confirmatory schema-three evidence.</a:t>
            </a:r>
          </a:p>
        </p:txBody>
      </p:sp>
      <p:sp>
        <p:nvSpPr>
          <p:cNvPr id="7" name="depth-rule-0">
            <a:extLst xmlns:a="http://schemas.openxmlformats.org/drawingml/2006/main">
              <a:ext uri="{FF2B5EF4-FFF2-40B4-BE49-F238E27FC236}">
                <a16:creationId xmlns:a16="http://schemas.microsoft.com/office/drawing/2014/main" id="{E378105E-2713-41B1-8E29-1EB299B6E329}"/>
              </a:ext>
            </a:extLst>
          </p:cNvPr>
          <p:cNvSpPr>
            <a:spLocks xmlns:a="http://schemas.openxmlformats.org/drawingml/2006/main" noGrp="1"/>
          </p:cNvSpPr>
          <p:nvPr/>
        </p:nvSpPr>
        <p:spPr>
          <a:xfrm xmlns:a="http://schemas.openxmlformats.org/drawingml/2006/main">
            <a:off x="990600" y="3886200"/>
            <a:ext cx="923925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8" name="depth-source-0">
            <a:extLst xmlns:a="http://schemas.openxmlformats.org/drawingml/2006/main">
              <a:ext uri="{FF2B5EF4-FFF2-40B4-BE49-F238E27FC236}">
                <a16:creationId xmlns:a16="http://schemas.microsoft.com/office/drawing/2014/main" id="{34CA2322-9E7A-4242-946E-238718D9C12A}"/>
              </a:ext>
            </a:extLst>
          </p:cNvPr>
          <p:cNvSpPr>
            <a:spLocks xmlns:a="http://schemas.openxmlformats.org/drawingml/2006/main" noGrp="1"/>
          </p:cNvSpPr>
          <p:nvPr/>
        </p:nvSpPr>
        <p:spPr>
          <a:xfrm xmlns:a="http://schemas.openxmlformats.org/drawingml/2006/main">
            <a:off x="990600" y="407670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Evidence boundary: results/README.md; results/evaluation_results.json</a:t>
            </a:r>
          </a:p>
        </p:txBody>
      </p:sp>
      <p:sp>
        <p:nvSpPr>
          <p:cNvPr id="9" name="depth-callout-0">
            <a:extLst xmlns:a="http://schemas.openxmlformats.org/drawingml/2006/main">
              <a:ext uri="{FF2B5EF4-FFF2-40B4-BE49-F238E27FC236}">
                <a16:creationId xmlns:a16="http://schemas.microsoft.com/office/drawing/2014/main" id="{6A770CC6-5339-42FC-8989-32424043C785}"/>
              </a:ext>
            </a:extLst>
          </p:cNvPr>
          <p:cNvSpPr>
            <a:spLocks xmlns:a="http://schemas.openxmlformats.org/drawingml/2006/main" noGrp="1"/>
          </p:cNvSpPr>
          <p:nvPr/>
        </p:nvSpPr>
        <p:spPr>
          <a:xfrm xmlns:a="http://schemas.openxmlformats.org/drawingml/2006/main">
            <a:off x="685800" y="4857750"/>
            <a:ext cx="108204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0" name="depth-callout-0-label">
            <a:extLst xmlns:a="http://schemas.openxmlformats.org/drawingml/2006/main">
              <a:ext uri="{FF2B5EF4-FFF2-40B4-BE49-F238E27FC236}">
                <a16:creationId xmlns:a16="http://schemas.microsoft.com/office/drawing/2014/main" id="{7E20A939-8CF6-4E1A-A321-DEBAF62F5257}"/>
              </a:ext>
            </a:extLst>
          </p:cNvPr>
          <p:cNvSpPr>
            <a:spLocks xmlns:a="http://schemas.openxmlformats.org/drawingml/2006/main" noGrp="1"/>
          </p:cNvSpPr>
          <p:nvPr/>
        </p:nvSpPr>
        <p:spPr>
          <a:xfrm xmlns:a="http://schemas.openxmlformats.org/drawingml/2006/main">
            <a:off x="952500" y="49911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1" name="depth-callout-0-copy">
            <a:extLst xmlns:a="http://schemas.openxmlformats.org/drawingml/2006/main">
              <a:ext uri="{FF2B5EF4-FFF2-40B4-BE49-F238E27FC236}">
                <a16:creationId xmlns:a16="http://schemas.microsoft.com/office/drawing/2014/main" id="{1CE1573C-0FE2-435F-B4F6-EC07FA0540C7}"/>
              </a:ext>
            </a:extLst>
          </p:cNvPr>
          <p:cNvSpPr>
            <a:spLocks xmlns:a="http://schemas.openxmlformats.org/drawingml/2006/main" noGrp="1"/>
          </p:cNvSpPr>
          <p:nvPr/>
        </p:nvSpPr>
        <p:spPr>
          <a:xfrm xmlns:a="http://schemas.openxmlformats.org/drawingml/2006/main">
            <a:off x="952500" y="4962525"/>
            <a:ext cx="10267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It can explain system behavior, but it cannot support the current answer-quality conclusion or a SOTA claim.</a:t>
            </a:r>
          </a:p>
        </p:txBody>
      </p:sp>
      <p:sp>
        <p:nvSpPr>
          <p:cNvPr id="12" name="footer-label">
            <a:extLst xmlns:a="http://schemas.openxmlformats.org/drawingml/2006/main">
              <a:ext uri="{FF2B5EF4-FFF2-40B4-BE49-F238E27FC236}">
                <a16:creationId xmlns:a16="http://schemas.microsoft.com/office/drawing/2014/main" id="{A7964355-25F1-4DB2-88EB-0C73DE5F17E2}"/>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04 / 15 · DETAIL 1 / 1</a:t>
            </a:r>
          </a:p>
        </p:txBody>
      </p:sp>
      <p:sp>
        <p:nvSpPr>
          <p:cNvPr id="13" name="footer-number">
            <a:extLst xmlns:a="http://schemas.openxmlformats.org/drawingml/2006/main">
              <a:ext uri="{FF2B5EF4-FFF2-40B4-BE49-F238E27FC236}">
                <a16:creationId xmlns:a16="http://schemas.microsoft.com/office/drawing/2014/main" id="{4DBF9B87-4021-4733-A029-9D92C1454418}"/>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SUPPORTING DETAIL</a:t>
            </a:r>
          </a:p>
        </p:txBody>
      </p:sp>
    </p:spTree>
    <p:extLst>
      <p:ext uri="{BB962C8B-B14F-4D97-AF65-F5344CB8AC3E}">
        <p14:creationId xmlns:p14="http://schemas.microsoft.com/office/powerpoint/2010/main" val="521977814"/>
      </p:ext>
    </p:extLst>
  </p:cSld>
</p:sld>
</file>

<file path=ppt/slides/slide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6" name="kicker">
            <a:extLst xmlns:a="http://schemas.openxmlformats.org/drawingml/2006/main">
              <a:ext uri="{FF2B5EF4-FFF2-40B4-BE49-F238E27FC236}">
                <a16:creationId xmlns:a16="http://schemas.microsoft.com/office/drawing/2014/main" id="{277E18F4-E57D-49D0-9270-61D3D454C9EF}"/>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SYSTEM ARCHITECTURE  ·  05 / 15</a:t>
            </a:r>
          </a:p>
        </p:txBody>
      </p:sp>
      <p:sp>
        <p:nvSpPr>
          <p:cNvPr id="2" name="kicker-rule">
            <a:extLst xmlns:a="http://schemas.openxmlformats.org/drawingml/2006/main">
              <a:ext uri="{FF2B5EF4-FFF2-40B4-BE49-F238E27FC236}">
                <a16:creationId xmlns:a16="http://schemas.microsoft.com/office/drawing/2014/main" id="{16CD19D1-F3D0-4D60-89A5-1EDCC5E1902F}"/>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F0D0A7B6-CF29-4FC4-97B5-503276EE6E93}"/>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One indexed source supports three query-aware retrieval paths.</a:t>
            </a:r>
          </a:p>
        </p:txBody>
      </p:sp>
      <p:sp>
        <p:nvSpPr>
          <p:cNvPr id="4" name="running-case-core-05-label">
            <a:extLst xmlns:a="http://schemas.openxmlformats.org/drawingml/2006/main">
              <a:ext uri="{FF2B5EF4-FFF2-40B4-BE49-F238E27FC236}">
                <a16:creationId xmlns:a16="http://schemas.microsoft.com/office/drawing/2014/main" id="{2FD19A44-9ABB-4AEE-9BCE-F8B0752E3A69}"/>
              </a:ext>
            </a:extLst>
          </p:cNvPr>
          <p:cNvSpPr>
            <a:spLocks xmlns:a="http://schemas.openxmlformats.org/drawingml/2006/main" noGrp="1"/>
          </p:cNvSpPr>
          <p:nvPr/>
        </p:nvSpPr>
        <p:spPr>
          <a:xfrm xmlns:a="http://schemas.openxmlformats.org/drawingml/2006/main">
            <a:off x="685800" y="161925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RUNNING CASE</a:t>
            </a:r>
          </a:p>
        </p:txBody>
      </p:sp>
      <p:sp>
        <p:nvSpPr>
          <p:cNvPr id="5" name="running-case-core-05-query">
            <a:extLst xmlns:a="http://schemas.openxmlformats.org/drawingml/2006/main">
              <a:ext uri="{FF2B5EF4-FFF2-40B4-BE49-F238E27FC236}">
                <a16:creationId xmlns:a16="http://schemas.microsoft.com/office/drawing/2014/main" id="{13660173-E690-4453-8C4B-2647DFBCE97F}"/>
              </a:ext>
            </a:extLst>
          </p:cNvPr>
          <p:cNvSpPr>
            <a:spLocks xmlns:a="http://schemas.openxmlformats.org/drawingml/2006/main" noGrp="1"/>
          </p:cNvSpPr>
          <p:nvPr/>
        </p:nvSpPr>
        <p:spPr>
          <a:xfrm xmlns:a="http://schemas.openxmlformats.org/drawingml/2006/main">
            <a:off x="2000250" y="1619250"/>
            <a:ext cx="2762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D6F58"/>
                </a:solidFill>
                <a:latin typeface="Aptos Mono"/>
                <a:ea typeface="Aptos Mono"/>
                <a:cs typeface="Aptos Mono"/>
              </a:defRPr>
            </a:pPr>
            <a:r>
              <a:rPr sz="825" b="1">
                <a:solidFill>
                  <a:srgbClr val="3D6F58"/>
                </a:solidFill>
                <a:latin typeface="Aptos Mono"/>
                <a:ea typeface="Aptos Mono"/>
                <a:cs typeface="Aptos Mono"/>
              </a:rPr>
              <a:t>BaseRetriever.retrieve</a:t>
            </a:r>
          </a:p>
        </p:txBody>
      </p:sp>
      <p:sp>
        <p:nvSpPr>
          <p:cNvPr id="6" name="running-case-core-05-stage">
            <a:extLst xmlns:a="http://schemas.openxmlformats.org/drawingml/2006/main">
              <a:ext uri="{FF2B5EF4-FFF2-40B4-BE49-F238E27FC236}">
                <a16:creationId xmlns:a16="http://schemas.microsoft.com/office/drawing/2014/main" id="{434ABAEC-F354-4C2C-89CD-6DEF7F947A6F}"/>
              </a:ext>
            </a:extLst>
          </p:cNvPr>
          <p:cNvSpPr>
            <a:spLocks xmlns:a="http://schemas.openxmlformats.org/drawingml/2006/main" noGrp="1"/>
          </p:cNvSpPr>
          <p:nvPr/>
        </p:nvSpPr>
        <p:spPr>
          <a:xfrm xmlns:a="http://schemas.openxmlformats.org/drawingml/2006/main">
            <a:off x="4857750" y="1619250"/>
            <a:ext cx="619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B65C3C"/>
                </a:solidFill>
                <a:latin typeface="Aptos"/>
                <a:ea typeface="Aptos"/>
                <a:cs typeface="Aptos"/>
              </a:defRPr>
            </a:pPr>
            <a:r>
              <a:rPr sz="825" b="1">
                <a:solidFill>
                  <a:srgbClr val="B65C3C"/>
                </a:solidFill>
                <a:latin typeface="Aptos"/>
                <a:ea typeface="Aptos"/>
                <a:cs typeface="Aptos"/>
              </a:rPr>
              <a:t>query → generic local route</a:t>
            </a:r>
          </a:p>
        </p:txBody>
      </p:sp>
      <p:sp>
        <p:nvSpPr>
          <p:cNvPr id="7" name="index-label">
            <a:extLst xmlns:a="http://schemas.openxmlformats.org/drawingml/2006/main">
              <a:ext uri="{FF2B5EF4-FFF2-40B4-BE49-F238E27FC236}">
                <a16:creationId xmlns:a16="http://schemas.microsoft.com/office/drawing/2014/main" id="{CD3CA360-13E2-4219-B58C-7A25580DE949}"/>
              </a:ext>
            </a:extLst>
          </p:cNvPr>
          <p:cNvSpPr>
            <a:spLocks xmlns:a="http://schemas.openxmlformats.org/drawingml/2006/main" noGrp="1"/>
          </p:cNvSpPr>
          <p:nvPr/>
        </p:nvSpPr>
        <p:spPr>
          <a:xfrm xmlns:a="http://schemas.openxmlformats.org/drawingml/2006/main">
            <a:off x="685800" y="17621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INDEX ONCE</a:t>
            </a:r>
          </a:p>
        </p:txBody>
      </p:sp>
      <p:sp>
        <p:nvSpPr>
          <p:cNvPr id="8" name="source">
            <a:extLst xmlns:a="http://schemas.openxmlformats.org/drawingml/2006/main">
              <a:ext uri="{FF2B5EF4-FFF2-40B4-BE49-F238E27FC236}">
                <a16:creationId xmlns:a16="http://schemas.microsoft.com/office/drawing/2014/main" id="{A2BDABC2-F86D-44C6-B80B-2D5ADCA73448}"/>
              </a:ext>
            </a:extLst>
          </p:cNvPr>
          <p:cNvSpPr>
            <a:spLocks xmlns:a="http://schemas.openxmlformats.org/drawingml/2006/main" noGrp="1"/>
          </p:cNvSpPr>
          <p:nvPr/>
        </p:nvSpPr>
        <p:spPr>
          <a:xfrm xmlns:a="http://schemas.openxmlformats.org/drawingml/2006/main">
            <a:off x="685800" y="2095500"/>
            <a:ext cx="2095500" cy="742950"/>
          </a:xfrm>
          <a:prstGeom xmlns:a="http://schemas.openxmlformats.org/drawingml/2006/main" prst="roundRect">
            <a:avLst>
              <a:gd name="adj" fmla="val 10256"/>
            </a:avLst>
          </a:prstGeom>
          <a:solidFill xmlns:a="http://schemas.openxmlformats.org/drawingml/2006/main">
            <a:srgbClr val="FFFDF8"/>
          </a:solidFill>
          <a:ln xmlns:a="http://schemas.openxmlformats.org/drawingml/2006/main" w="9525">
            <a:solidFill>
              <a:srgbClr val="C9D1D1"/>
            </a:solidFill>
            <a:prstDash val="solid"/>
          </a:ln>
        </p:spPr>
      </p:sp>
      <p:sp>
        <p:nvSpPr>
          <p:cNvPr id="9" name="source-title">
            <a:extLst xmlns:a="http://schemas.openxmlformats.org/drawingml/2006/main">
              <a:ext uri="{FF2B5EF4-FFF2-40B4-BE49-F238E27FC236}">
                <a16:creationId xmlns:a16="http://schemas.microsoft.com/office/drawing/2014/main" id="{5A9138A1-2EC3-4737-963E-D3D2FB50E4D3}"/>
              </a:ext>
            </a:extLst>
          </p:cNvPr>
          <p:cNvSpPr>
            <a:spLocks xmlns:a="http://schemas.openxmlformats.org/drawingml/2006/main" noGrp="1"/>
          </p:cNvSpPr>
          <p:nvPr/>
        </p:nvSpPr>
        <p:spPr>
          <a:xfrm xmlns:a="http://schemas.openxmlformats.org/drawingml/2006/main">
            <a:off x="876300" y="23050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1D2A34"/>
                </a:solidFill>
                <a:latin typeface="Aptos"/>
                <a:ea typeface="Aptos"/>
                <a:cs typeface="Aptos"/>
              </a:defRPr>
            </a:pPr>
            <a:r>
              <a:rPr sz="1125" b="1">
                <a:solidFill>
                  <a:srgbClr val="1D2A34"/>
                </a:solidFill>
                <a:latin typeface="Aptos"/>
                <a:ea typeface="Aptos"/>
                <a:cs typeface="Aptos"/>
              </a:rPr>
              <a:t>Pinned Python</a:t>
            </a:r>
          </a:p>
        </p:txBody>
      </p:sp>
      <p:sp>
        <p:nvSpPr>
          <p:cNvPr id="10" name="source-subtitle">
            <a:extLst xmlns:a="http://schemas.openxmlformats.org/drawingml/2006/main">
              <a:ext uri="{FF2B5EF4-FFF2-40B4-BE49-F238E27FC236}">
                <a16:creationId xmlns:a16="http://schemas.microsoft.com/office/drawing/2014/main" id="{9C98B862-6302-4756-B58E-3699EADCFBA8}"/>
              </a:ext>
            </a:extLst>
          </p:cNvPr>
          <p:cNvSpPr>
            <a:spLocks xmlns:a="http://schemas.openxmlformats.org/drawingml/2006/main" noGrp="1"/>
          </p:cNvSpPr>
          <p:nvPr/>
        </p:nvSpPr>
        <p:spPr>
          <a:xfrm xmlns:a="http://schemas.openxmlformats.org/drawingml/2006/main">
            <a:off x="876300" y="25717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a:solidFill>
                  <a:srgbClr val="586671"/>
                </a:solidFill>
                <a:latin typeface="Aptos"/>
                <a:ea typeface="Aptos"/>
                <a:cs typeface="Aptos"/>
              </a:defRPr>
            </a:pPr>
            <a:r>
              <a:rPr sz="750">
                <a:solidFill>
                  <a:srgbClr val="586671"/>
                </a:solidFill>
                <a:latin typeface="Aptos"/>
                <a:ea typeface="Aptos"/>
                <a:cs typeface="Aptos"/>
              </a:rPr>
              <a:t>source · digest + namespace</a:t>
            </a:r>
          </a:p>
        </p:txBody>
      </p:sp>
      <p:sp>
        <p:nvSpPr>
          <p:cNvPr id="11" name="source-arrow">
            <a:extLst xmlns:a="http://schemas.openxmlformats.org/drawingml/2006/main">
              <a:ext uri="{FF2B5EF4-FFF2-40B4-BE49-F238E27FC236}">
                <a16:creationId xmlns:a16="http://schemas.microsoft.com/office/drawing/2014/main" id="{38F273CC-7842-491A-96F0-C0318C64735C}"/>
              </a:ext>
            </a:extLst>
          </p:cNvPr>
          <p:cNvSpPr>
            <a:spLocks xmlns:a="http://schemas.openxmlformats.org/drawingml/2006/main" noGrp="1"/>
          </p:cNvSpPr>
          <p:nvPr/>
        </p:nvSpPr>
        <p:spPr>
          <a:xfrm xmlns:a="http://schemas.openxmlformats.org/drawingml/2006/main">
            <a:off x="2914650" y="2343150"/>
            <a:ext cx="400050" cy="171450"/>
          </a:xfrm>
          <a:prstGeom xmlns:a="http://schemas.openxmlformats.org/drawingml/2006/main" prst="rightArrow">
            <a:avLst/>
          </a:prstGeom>
          <a:solidFill xmlns:a="http://schemas.openxmlformats.org/drawingml/2006/main">
            <a:srgbClr val="B65C3C"/>
          </a:solidFill>
          <a:ln xmlns:a="http://schemas.openxmlformats.org/drawingml/2006/main" w="0">
            <a:solidFill>
              <a:srgbClr val="B65C3C"/>
            </a:solidFill>
            <a:prstDash val="solid"/>
          </a:ln>
        </p:spPr>
      </p:sp>
      <p:sp>
        <p:nvSpPr>
          <p:cNvPr id="12" name="graph-store">
            <a:extLst xmlns:a="http://schemas.openxmlformats.org/drawingml/2006/main">
              <a:ext uri="{FF2B5EF4-FFF2-40B4-BE49-F238E27FC236}">
                <a16:creationId xmlns:a16="http://schemas.microsoft.com/office/drawing/2014/main" id="{9769E032-DE73-41BF-8D4C-D9D3CD2ACAB7}"/>
              </a:ext>
            </a:extLst>
          </p:cNvPr>
          <p:cNvSpPr>
            <a:spLocks xmlns:a="http://schemas.openxmlformats.org/drawingml/2006/main" noGrp="1"/>
          </p:cNvSpPr>
          <p:nvPr/>
        </p:nvSpPr>
        <p:spPr>
          <a:xfrm xmlns:a="http://schemas.openxmlformats.org/drawingml/2006/main">
            <a:off x="3543300" y="2095500"/>
            <a:ext cx="2095500" cy="742950"/>
          </a:xfrm>
          <a:prstGeom xmlns:a="http://schemas.openxmlformats.org/drawingml/2006/main" prst="roundRect">
            <a:avLst>
              <a:gd name="adj" fmla="val 10256"/>
            </a:avLst>
          </a:prstGeom>
          <a:solidFill xmlns:a="http://schemas.openxmlformats.org/drawingml/2006/main">
            <a:srgbClr val="DCEBED"/>
          </a:solidFill>
          <a:ln xmlns:a="http://schemas.openxmlformats.org/drawingml/2006/main" w="9525">
            <a:solidFill>
              <a:srgbClr val="2D6F78"/>
            </a:solidFill>
            <a:prstDash val="solid"/>
          </a:ln>
        </p:spPr>
      </p:sp>
      <p:sp>
        <p:nvSpPr>
          <p:cNvPr id="13" name="graph-title">
            <a:extLst xmlns:a="http://schemas.openxmlformats.org/drawingml/2006/main">
              <a:ext uri="{FF2B5EF4-FFF2-40B4-BE49-F238E27FC236}">
                <a16:creationId xmlns:a16="http://schemas.microsoft.com/office/drawing/2014/main" id="{F34A89C3-80F0-45DC-926F-423191D803B7}"/>
              </a:ext>
            </a:extLst>
          </p:cNvPr>
          <p:cNvSpPr>
            <a:spLocks xmlns:a="http://schemas.openxmlformats.org/drawingml/2006/main" noGrp="1"/>
          </p:cNvSpPr>
          <p:nvPr/>
        </p:nvSpPr>
        <p:spPr>
          <a:xfrm xmlns:a="http://schemas.openxmlformats.org/drawingml/2006/main">
            <a:off x="3733800" y="23050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D2A34"/>
                </a:solidFill>
                <a:latin typeface="Aptos"/>
                <a:ea typeface="Aptos"/>
                <a:cs typeface="Aptos"/>
              </a:defRPr>
            </a:pPr>
            <a:r>
              <a:rPr sz="1575" b="1">
                <a:solidFill>
                  <a:srgbClr val="1D2A34"/>
                </a:solidFill>
                <a:latin typeface="Aptos"/>
                <a:ea typeface="Aptos"/>
                <a:cs typeface="Aptos"/>
              </a:rPr>
              <a:t>Graph store</a:t>
            </a:r>
          </a:p>
        </p:txBody>
      </p:sp>
      <p:sp>
        <p:nvSpPr>
          <p:cNvPr id="14" name="graph-subtitle">
            <a:extLst xmlns:a="http://schemas.openxmlformats.org/drawingml/2006/main">
              <a:ext uri="{FF2B5EF4-FFF2-40B4-BE49-F238E27FC236}">
                <a16:creationId xmlns:a16="http://schemas.microsoft.com/office/drawing/2014/main" id="{3E5A24C7-6B56-47EA-8465-98F7DBD1BDDE}"/>
              </a:ext>
            </a:extLst>
          </p:cNvPr>
          <p:cNvSpPr>
            <a:spLocks xmlns:a="http://schemas.openxmlformats.org/drawingml/2006/main" noGrp="1"/>
          </p:cNvSpPr>
          <p:nvPr/>
        </p:nvSpPr>
        <p:spPr>
          <a:xfrm xmlns:a="http://schemas.openxmlformats.org/drawingml/2006/main">
            <a:off x="3733800" y="25717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a:solidFill>
                  <a:srgbClr val="586671"/>
                </a:solidFill>
                <a:latin typeface="Aptos"/>
                <a:ea typeface="Aptos"/>
                <a:cs typeface="Aptos"/>
              </a:defRPr>
            </a:pPr>
            <a:r>
              <a:rPr sz="1050">
                <a:solidFill>
                  <a:srgbClr val="586671"/>
                </a:solidFill>
                <a:latin typeface="Aptos"/>
                <a:ea typeface="Aptos"/>
                <a:cs typeface="Aptos"/>
              </a:rPr>
              <a:t>explicit relationships</a:t>
            </a:r>
          </a:p>
        </p:txBody>
      </p:sp>
      <p:sp>
        <p:nvSpPr>
          <p:cNvPr id="15" name="store-arrow">
            <a:extLst xmlns:a="http://schemas.openxmlformats.org/drawingml/2006/main">
              <a:ext uri="{FF2B5EF4-FFF2-40B4-BE49-F238E27FC236}">
                <a16:creationId xmlns:a16="http://schemas.microsoft.com/office/drawing/2014/main" id="{7B0AFF5F-ED6E-41F1-A21D-93FE47E20F52}"/>
              </a:ext>
            </a:extLst>
          </p:cNvPr>
          <p:cNvSpPr>
            <a:spLocks xmlns:a="http://schemas.openxmlformats.org/drawingml/2006/main" noGrp="1"/>
          </p:cNvSpPr>
          <p:nvPr/>
        </p:nvSpPr>
        <p:spPr>
          <a:xfrm xmlns:a="http://schemas.openxmlformats.org/drawingml/2006/main">
            <a:off x="5772150" y="2343150"/>
            <a:ext cx="400050" cy="171450"/>
          </a:xfrm>
          <a:prstGeom xmlns:a="http://schemas.openxmlformats.org/drawingml/2006/main" prst="rightArrow">
            <a:avLst/>
          </a:prstGeom>
          <a:solidFill xmlns:a="http://schemas.openxmlformats.org/drawingml/2006/main">
            <a:srgbClr val="B65C3C"/>
          </a:solidFill>
          <a:ln xmlns:a="http://schemas.openxmlformats.org/drawingml/2006/main" w="0">
            <a:solidFill>
              <a:srgbClr val="B65C3C"/>
            </a:solidFill>
            <a:prstDash val="solid"/>
          </a:ln>
        </p:spPr>
      </p:sp>
      <p:sp>
        <p:nvSpPr>
          <p:cNvPr id="16" name="vector-store">
            <a:extLst xmlns:a="http://schemas.openxmlformats.org/drawingml/2006/main">
              <a:ext uri="{FF2B5EF4-FFF2-40B4-BE49-F238E27FC236}">
                <a16:creationId xmlns:a16="http://schemas.microsoft.com/office/drawing/2014/main" id="{FB02AADB-2157-4A25-A552-A718EAF9F957}"/>
              </a:ext>
            </a:extLst>
          </p:cNvPr>
          <p:cNvSpPr>
            <a:spLocks xmlns:a="http://schemas.openxmlformats.org/drawingml/2006/main" noGrp="1"/>
          </p:cNvSpPr>
          <p:nvPr/>
        </p:nvSpPr>
        <p:spPr>
          <a:xfrm xmlns:a="http://schemas.openxmlformats.org/drawingml/2006/main">
            <a:off x="6400800" y="2095500"/>
            <a:ext cx="2095500" cy="742950"/>
          </a:xfrm>
          <a:prstGeom xmlns:a="http://schemas.openxmlformats.org/drawingml/2006/main" prst="roundRect">
            <a:avLst>
              <a:gd name="adj" fmla="val 10256"/>
            </a:avLst>
          </a:prstGeom>
          <a:solidFill xmlns:a="http://schemas.openxmlformats.org/drawingml/2006/main">
            <a:srgbClr val="E6EEF5"/>
          </a:solidFill>
          <a:ln xmlns:a="http://schemas.openxmlformats.org/drawingml/2006/main" w="9525">
            <a:solidFill>
              <a:srgbClr val="B65C3C"/>
            </a:solidFill>
            <a:prstDash val="solid"/>
          </a:ln>
        </p:spPr>
      </p:sp>
      <p:sp>
        <p:nvSpPr>
          <p:cNvPr id="17" name="vector-title">
            <a:extLst xmlns:a="http://schemas.openxmlformats.org/drawingml/2006/main">
              <a:ext uri="{FF2B5EF4-FFF2-40B4-BE49-F238E27FC236}">
                <a16:creationId xmlns:a16="http://schemas.microsoft.com/office/drawing/2014/main" id="{82B9A01F-3040-4C3E-908C-9E38C2A0CEBD}"/>
              </a:ext>
            </a:extLst>
          </p:cNvPr>
          <p:cNvSpPr>
            <a:spLocks xmlns:a="http://schemas.openxmlformats.org/drawingml/2006/main" noGrp="1"/>
          </p:cNvSpPr>
          <p:nvPr/>
        </p:nvSpPr>
        <p:spPr>
          <a:xfrm xmlns:a="http://schemas.openxmlformats.org/drawingml/2006/main">
            <a:off x="6591300" y="23050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D2A34"/>
                </a:solidFill>
                <a:latin typeface="Aptos"/>
                <a:ea typeface="Aptos"/>
                <a:cs typeface="Aptos"/>
              </a:defRPr>
            </a:pPr>
            <a:r>
              <a:rPr sz="1575" b="1">
                <a:solidFill>
                  <a:srgbClr val="1D2A34"/>
                </a:solidFill>
                <a:latin typeface="Aptos"/>
                <a:ea typeface="Aptos"/>
                <a:cs typeface="Aptos"/>
              </a:rPr>
              <a:t>Vector store</a:t>
            </a:r>
          </a:p>
        </p:txBody>
      </p:sp>
      <p:sp>
        <p:nvSpPr>
          <p:cNvPr id="18" name="vector-subtitle">
            <a:extLst xmlns:a="http://schemas.openxmlformats.org/drawingml/2006/main">
              <a:ext uri="{FF2B5EF4-FFF2-40B4-BE49-F238E27FC236}">
                <a16:creationId xmlns:a16="http://schemas.microsoft.com/office/drawing/2014/main" id="{B7B40F8A-180B-42C6-BEF9-390FFEA301E3}"/>
              </a:ext>
            </a:extLst>
          </p:cNvPr>
          <p:cNvSpPr>
            <a:spLocks xmlns:a="http://schemas.openxmlformats.org/drawingml/2006/main" noGrp="1"/>
          </p:cNvSpPr>
          <p:nvPr/>
        </p:nvSpPr>
        <p:spPr>
          <a:xfrm xmlns:a="http://schemas.openxmlformats.org/drawingml/2006/main">
            <a:off x="6591300" y="25717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a:solidFill>
                  <a:srgbClr val="586671"/>
                </a:solidFill>
                <a:latin typeface="Aptos"/>
                <a:ea typeface="Aptos"/>
                <a:cs typeface="Aptos"/>
              </a:defRPr>
            </a:pPr>
            <a:r>
              <a:rPr sz="1050">
                <a:solidFill>
                  <a:srgbClr val="586671"/>
                </a:solidFill>
                <a:latin typeface="Aptos"/>
                <a:ea typeface="Aptos"/>
                <a:cs typeface="Aptos"/>
              </a:rPr>
              <a:t>semantic chunks</a:t>
            </a:r>
          </a:p>
        </p:txBody>
      </p:sp>
      <p:sp>
        <p:nvSpPr>
          <p:cNvPr id="19" name="identity-arrow">
            <a:extLst xmlns:a="http://schemas.openxmlformats.org/drawingml/2006/main">
              <a:ext uri="{FF2B5EF4-FFF2-40B4-BE49-F238E27FC236}">
                <a16:creationId xmlns:a16="http://schemas.microsoft.com/office/drawing/2014/main" id="{FC0EB7B5-8982-4E3A-8D0E-5B38B980831B}"/>
              </a:ext>
            </a:extLst>
          </p:cNvPr>
          <p:cNvSpPr>
            <a:spLocks xmlns:a="http://schemas.openxmlformats.org/drawingml/2006/main" noGrp="1"/>
          </p:cNvSpPr>
          <p:nvPr/>
        </p:nvSpPr>
        <p:spPr>
          <a:xfrm xmlns:a="http://schemas.openxmlformats.org/drawingml/2006/main">
            <a:off x="8629650" y="2343150"/>
            <a:ext cx="400050" cy="171450"/>
          </a:xfrm>
          <a:prstGeom xmlns:a="http://schemas.openxmlformats.org/drawingml/2006/main" prst="rightArrow">
            <a:avLst/>
          </a:prstGeom>
          <a:solidFill xmlns:a="http://schemas.openxmlformats.org/drawingml/2006/main">
            <a:srgbClr val="B65C3C"/>
          </a:solidFill>
          <a:ln xmlns:a="http://schemas.openxmlformats.org/drawingml/2006/main" w="0">
            <a:solidFill>
              <a:srgbClr val="B65C3C"/>
            </a:solidFill>
            <a:prstDash val="solid"/>
          </a:ln>
        </p:spPr>
      </p:sp>
      <p:sp>
        <p:nvSpPr>
          <p:cNvPr id="20" name="identity">
            <a:extLst xmlns:a="http://schemas.openxmlformats.org/drawingml/2006/main">
              <a:ext uri="{FF2B5EF4-FFF2-40B4-BE49-F238E27FC236}">
                <a16:creationId xmlns:a16="http://schemas.microsoft.com/office/drawing/2014/main" id="{C531443F-3E9B-46CC-9DE8-76E525F691BD}"/>
              </a:ext>
            </a:extLst>
          </p:cNvPr>
          <p:cNvSpPr>
            <a:spLocks xmlns:a="http://schemas.openxmlformats.org/drawingml/2006/main" noGrp="1"/>
          </p:cNvSpPr>
          <p:nvPr/>
        </p:nvSpPr>
        <p:spPr>
          <a:xfrm xmlns:a="http://schemas.openxmlformats.org/drawingml/2006/main">
            <a:off x="9258300" y="2095500"/>
            <a:ext cx="1600200" cy="742950"/>
          </a:xfrm>
          <a:prstGeom xmlns:a="http://schemas.openxmlformats.org/drawingml/2006/main" prst="roundRect">
            <a:avLst>
              <a:gd name="adj" fmla="val 10256"/>
            </a:avLst>
          </a:prstGeom>
          <a:solidFill xmlns:a="http://schemas.openxmlformats.org/drawingml/2006/main">
            <a:srgbClr val="E3F0E6"/>
          </a:solidFill>
          <a:ln xmlns:a="http://schemas.openxmlformats.org/drawingml/2006/main" w="9525">
            <a:solidFill>
              <a:srgbClr val="3D6F58"/>
            </a:solidFill>
            <a:prstDash val="solid"/>
          </a:ln>
        </p:spPr>
      </p:sp>
      <p:sp>
        <p:nvSpPr>
          <p:cNvPr id="21" name="identity-title">
            <a:extLst xmlns:a="http://schemas.openxmlformats.org/drawingml/2006/main">
              <a:ext uri="{FF2B5EF4-FFF2-40B4-BE49-F238E27FC236}">
                <a16:creationId xmlns:a16="http://schemas.microsoft.com/office/drawing/2014/main" id="{BCD47D05-35E5-4980-AC95-FEBCB0B484E1}"/>
              </a:ext>
            </a:extLst>
          </p:cNvPr>
          <p:cNvSpPr>
            <a:spLocks xmlns:a="http://schemas.openxmlformats.org/drawingml/2006/main" noGrp="1"/>
          </p:cNvSpPr>
          <p:nvPr/>
        </p:nvSpPr>
        <p:spPr>
          <a:xfrm xmlns:a="http://schemas.openxmlformats.org/drawingml/2006/main">
            <a:off x="9448800" y="23050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1D2A34"/>
                </a:solidFill>
                <a:latin typeface="Aptos"/>
                <a:ea typeface="Aptos"/>
                <a:cs typeface="Aptos"/>
              </a:defRPr>
            </a:pPr>
            <a:r>
              <a:rPr sz="1125" b="1">
                <a:solidFill>
                  <a:srgbClr val="1D2A34"/>
                </a:solidFill>
                <a:latin typeface="Aptos"/>
                <a:ea typeface="Aptos"/>
                <a:cs typeface="Aptos"/>
              </a:rPr>
              <a:t>Index identity</a:t>
            </a:r>
          </a:p>
        </p:txBody>
      </p:sp>
      <p:sp>
        <p:nvSpPr>
          <p:cNvPr id="22" name="identity-subtitle">
            <a:extLst xmlns:a="http://schemas.openxmlformats.org/drawingml/2006/main">
              <a:ext uri="{FF2B5EF4-FFF2-40B4-BE49-F238E27FC236}">
                <a16:creationId xmlns:a16="http://schemas.microsoft.com/office/drawing/2014/main" id="{5D16ECEC-31AC-4EA1-BFC0-2006212D2004}"/>
              </a:ext>
            </a:extLst>
          </p:cNvPr>
          <p:cNvSpPr>
            <a:spLocks xmlns:a="http://schemas.openxmlformats.org/drawingml/2006/main" noGrp="1"/>
          </p:cNvSpPr>
          <p:nvPr/>
        </p:nvSpPr>
        <p:spPr>
          <a:xfrm xmlns:a="http://schemas.openxmlformats.org/drawingml/2006/main">
            <a:off x="9448800" y="2571750"/>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a:solidFill>
                  <a:srgbClr val="586671"/>
                </a:solidFill>
                <a:latin typeface="Aptos"/>
                <a:ea typeface="Aptos"/>
                <a:cs typeface="Aptos"/>
              </a:defRPr>
            </a:pPr>
            <a:r>
              <a:rPr sz="750">
                <a:solidFill>
                  <a:srgbClr val="586671"/>
                </a:solidFill>
                <a:latin typeface="Aptos"/>
                <a:ea typeface="Aptos"/>
                <a:cs typeface="Aptos"/>
              </a:rPr>
              <a:t>schema · model · run</a:t>
            </a:r>
          </a:p>
        </p:txBody>
      </p:sp>
      <p:sp>
        <p:nvSpPr>
          <p:cNvPr id="23" name="route-label">
            <a:extLst xmlns:a="http://schemas.openxmlformats.org/drawingml/2006/main">
              <a:ext uri="{FF2B5EF4-FFF2-40B4-BE49-F238E27FC236}">
                <a16:creationId xmlns:a16="http://schemas.microsoft.com/office/drawing/2014/main" id="{70D422C2-6FDB-4B66-B25A-3D4B7FBE8E5B}"/>
              </a:ext>
            </a:extLst>
          </p:cNvPr>
          <p:cNvSpPr>
            <a:spLocks xmlns:a="http://schemas.openxmlformats.org/drawingml/2006/main" noGrp="1"/>
          </p:cNvSpPr>
          <p:nvPr/>
        </p:nvSpPr>
        <p:spPr>
          <a:xfrm xmlns:a="http://schemas.openxmlformats.org/drawingml/2006/main">
            <a:off x="685800" y="34290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ROUTE PER QUESTION</a:t>
            </a:r>
          </a:p>
        </p:txBody>
      </p:sp>
      <p:sp>
        <p:nvSpPr>
          <p:cNvPr id="24" name="query">
            <a:extLst xmlns:a="http://schemas.openxmlformats.org/drawingml/2006/main">
              <a:ext uri="{FF2B5EF4-FFF2-40B4-BE49-F238E27FC236}">
                <a16:creationId xmlns:a16="http://schemas.microsoft.com/office/drawing/2014/main" id="{B1042DE1-AED5-4181-8B7B-85402738FA9A}"/>
              </a:ext>
            </a:extLst>
          </p:cNvPr>
          <p:cNvSpPr>
            <a:spLocks xmlns:a="http://schemas.openxmlformats.org/drawingml/2006/main" noGrp="1"/>
          </p:cNvSpPr>
          <p:nvPr/>
        </p:nvSpPr>
        <p:spPr>
          <a:xfrm xmlns:a="http://schemas.openxmlformats.org/drawingml/2006/main">
            <a:off x="685800" y="3886200"/>
            <a:ext cx="2095500" cy="838200"/>
          </a:xfrm>
          <a:prstGeom xmlns:a="http://schemas.openxmlformats.org/drawingml/2006/main" prst="roundRect">
            <a:avLst>
              <a:gd name="adj" fmla="val 9091"/>
            </a:avLst>
          </a:prstGeom>
          <a:solidFill xmlns:a="http://schemas.openxmlformats.org/drawingml/2006/main">
            <a:srgbClr val="FFFDF8"/>
          </a:solidFill>
          <a:ln xmlns:a="http://schemas.openxmlformats.org/drawingml/2006/main" w="9525">
            <a:solidFill>
              <a:srgbClr val="C9D1D1"/>
            </a:solidFill>
            <a:prstDash val="solid"/>
          </a:ln>
        </p:spPr>
      </p:sp>
      <p:sp>
        <p:nvSpPr>
          <p:cNvPr id="25" name="query-title">
            <a:extLst xmlns:a="http://schemas.openxmlformats.org/drawingml/2006/main">
              <a:ext uri="{FF2B5EF4-FFF2-40B4-BE49-F238E27FC236}">
                <a16:creationId xmlns:a16="http://schemas.microsoft.com/office/drawing/2014/main" id="{2D598260-BFFA-4071-AD66-85AE2083291E}"/>
              </a:ext>
            </a:extLst>
          </p:cNvPr>
          <p:cNvSpPr>
            <a:spLocks xmlns:a="http://schemas.openxmlformats.org/drawingml/2006/main" noGrp="1"/>
          </p:cNvSpPr>
          <p:nvPr/>
        </p:nvSpPr>
        <p:spPr>
          <a:xfrm xmlns:a="http://schemas.openxmlformats.org/drawingml/2006/main">
            <a:off x="895350" y="41148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D2A34"/>
                </a:solidFill>
                <a:latin typeface="Aptos"/>
                <a:ea typeface="Aptos"/>
                <a:cs typeface="Aptos"/>
              </a:defRPr>
            </a:pPr>
            <a:r>
              <a:rPr sz="1575" b="1">
                <a:solidFill>
                  <a:srgbClr val="1D2A34"/>
                </a:solidFill>
                <a:latin typeface="Aptos"/>
                <a:ea typeface="Aptos"/>
                <a:cs typeface="Aptos"/>
              </a:rPr>
              <a:t>User question</a:t>
            </a:r>
          </a:p>
        </p:txBody>
      </p:sp>
      <p:sp>
        <p:nvSpPr>
          <p:cNvPr id="26" name="query-subtitle">
            <a:extLst xmlns:a="http://schemas.openxmlformats.org/drawingml/2006/main">
              <a:ext uri="{FF2B5EF4-FFF2-40B4-BE49-F238E27FC236}">
                <a16:creationId xmlns:a16="http://schemas.microsoft.com/office/drawing/2014/main" id="{D9183183-D2D6-474A-ADAC-C55F5C0A7AFB}"/>
              </a:ext>
            </a:extLst>
          </p:cNvPr>
          <p:cNvSpPr>
            <a:spLocks xmlns:a="http://schemas.openxmlformats.org/drawingml/2006/main" noGrp="1"/>
          </p:cNvSpPr>
          <p:nvPr/>
        </p:nvSpPr>
        <p:spPr>
          <a:xfrm xmlns:a="http://schemas.openxmlformats.org/drawingml/2006/main">
            <a:off x="895350" y="44005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a:solidFill>
                  <a:srgbClr val="586671"/>
                </a:solidFill>
                <a:latin typeface="Aptos"/>
                <a:ea typeface="Aptos"/>
                <a:cs typeface="Aptos"/>
              </a:defRPr>
            </a:pPr>
            <a:r>
              <a:rPr sz="975">
                <a:solidFill>
                  <a:srgbClr val="586671"/>
                </a:solidFill>
                <a:latin typeface="Aptos"/>
                <a:ea typeface="Aptos"/>
                <a:cs typeface="Aptos"/>
              </a:rPr>
              <a:t>repository scope optional</a:t>
            </a:r>
          </a:p>
        </p:txBody>
      </p:sp>
      <p:sp>
        <p:nvSpPr>
          <p:cNvPr id="27" name="query-arrow">
            <a:extLst xmlns:a="http://schemas.openxmlformats.org/drawingml/2006/main">
              <a:ext uri="{FF2B5EF4-FFF2-40B4-BE49-F238E27FC236}">
                <a16:creationId xmlns:a16="http://schemas.microsoft.com/office/drawing/2014/main" id="{C88CCD4B-E5ED-4AD3-BC0F-FF5EE9ACB9D3}"/>
              </a:ext>
            </a:extLst>
          </p:cNvPr>
          <p:cNvSpPr>
            <a:spLocks xmlns:a="http://schemas.openxmlformats.org/drawingml/2006/main" noGrp="1"/>
          </p:cNvSpPr>
          <p:nvPr/>
        </p:nvSpPr>
        <p:spPr>
          <a:xfrm xmlns:a="http://schemas.openxmlformats.org/drawingml/2006/main">
            <a:off x="2914650" y="4219575"/>
            <a:ext cx="400050" cy="171450"/>
          </a:xfrm>
          <a:prstGeom xmlns:a="http://schemas.openxmlformats.org/drawingml/2006/main" prst="rightArrow">
            <a:avLst/>
          </a:prstGeom>
          <a:solidFill xmlns:a="http://schemas.openxmlformats.org/drawingml/2006/main">
            <a:srgbClr val="B65C3C"/>
          </a:solidFill>
          <a:ln xmlns:a="http://schemas.openxmlformats.org/drawingml/2006/main" w="0">
            <a:solidFill>
              <a:srgbClr val="B65C3C"/>
            </a:solidFill>
            <a:prstDash val="solid"/>
          </a:ln>
        </p:spPr>
      </p:sp>
      <p:sp>
        <p:nvSpPr>
          <p:cNvPr id="28" name="analyzer">
            <a:extLst xmlns:a="http://schemas.openxmlformats.org/drawingml/2006/main">
              <a:ext uri="{FF2B5EF4-FFF2-40B4-BE49-F238E27FC236}">
                <a16:creationId xmlns:a16="http://schemas.microsoft.com/office/drawing/2014/main" id="{71DEC014-8CA7-4FA5-8591-066CCEA1E87A}"/>
              </a:ext>
            </a:extLst>
          </p:cNvPr>
          <p:cNvSpPr>
            <a:spLocks xmlns:a="http://schemas.openxmlformats.org/drawingml/2006/main" noGrp="1"/>
          </p:cNvSpPr>
          <p:nvPr/>
        </p:nvSpPr>
        <p:spPr>
          <a:xfrm xmlns:a="http://schemas.openxmlformats.org/drawingml/2006/main">
            <a:off x="3543300" y="3886200"/>
            <a:ext cx="2095500" cy="838200"/>
          </a:xfrm>
          <a:prstGeom xmlns:a="http://schemas.openxmlformats.org/drawingml/2006/main" prst="roundRect">
            <a:avLst>
              <a:gd name="adj" fmla="val 9091"/>
            </a:avLst>
          </a:prstGeom>
          <a:solidFill xmlns:a="http://schemas.openxmlformats.org/drawingml/2006/main">
            <a:srgbClr val="FFFDF8"/>
          </a:solidFill>
          <a:ln xmlns:a="http://schemas.openxmlformats.org/drawingml/2006/main" w="9525">
            <a:solidFill>
              <a:srgbClr val="C9D1D1"/>
            </a:solidFill>
            <a:prstDash val="solid"/>
          </a:ln>
        </p:spPr>
      </p:sp>
      <p:sp>
        <p:nvSpPr>
          <p:cNvPr id="29" name="analyzer-title">
            <a:extLst xmlns:a="http://schemas.openxmlformats.org/drawingml/2006/main">
              <a:ext uri="{FF2B5EF4-FFF2-40B4-BE49-F238E27FC236}">
                <a16:creationId xmlns:a16="http://schemas.microsoft.com/office/drawing/2014/main" id="{6E3BCA73-2311-4BC2-91E9-2F104F0242D7}"/>
              </a:ext>
            </a:extLst>
          </p:cNvPr>
          <p:cNvSpPr>
            <a:spLocks xmlns:a="http://schemas.openxmlformats.org/drawingml/2006/main" noGrp="1"/>
          </p:cNvSpPr>
          <p:nvPr/>
        </p:nvSpPr>
        <p:spPr>
          <a:xfrm xmlns:a="http://schemas.openxmlformats.org/drawingml/2006/main">
            <a:off x="3752850" y="41148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D2A34"/>
                </a:solidFill>
                <a:latin typeface="Aptos"/>
                <a:ea typeface="Aptos"/>
                <a:cs typeface="Aptos"/>
              </a:defRPr>
            </a:pPr>
            <a:r>
              <a:rPr sz="1575" b="1">
                <a:solidFill>
                  <a:srgbClr val="1D2A34"/>
                </a:solidFill>
                <a:latin typeface="Aptos"/>
                <a:ea typeface="Aptos"/>
                <a:cs typeface="Aptos"/>
              </a:rPr>
              <a:t>Query analyzer</a:t>
            </a:r>
          </a:p>
        </p:txBody>
      </p:sp>
      <p:sp>
        <p:nvSpPr>
          <p:cNvPr id="30" name="analyzer-subtitle">
            <a:extLst xmlns:a="http://schemas.openxmlformats.org/drawingml/2006/main">
              <a:ext uri="{FF2B5EF4-FFF2-40B4-BE49-F238E27FC236}">
                <a16:creationId xmlns:a16="http://schemas.microsoft.com/office/drawing/2014/main" id="{E95323EB-C197-4BE4-B42D-E0749575E6FA}"/>
              </a:ext>
            </a:extLst>
          </p:cNvPr>
          <p:cNvSpPr>
            <a:spLocks xmlns:a="http://schemas.openxmlformats.org/drawingml/2006/main" noGrp="1"/>
          </p:cNvSpPr>
          <p:nvPr/>
        </p:nvSpPr>
        <p:spPr>
          <a:xfrm xmlns:a="http://schemas.openxmlformats.org/drawingml/2006/main">
            <a:off x="3752850" y="44005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a:solidFill>
                  <a:srgbClr val="586671"/>
                </a:solidFill>
                <a:latin typeface="Aptos"/>
                <a:ea typeface="Aptos"/>
                <a:cs typeface="Aptos"/>
              </a:defRPr>
            </a:pPr>
            <a:r>
              <a:rPr sz="975">
                <a:solidFill>
                  <a:srgbClr val="586671"/>
                </a:solidFill>
                <a:latin typeface="Aptos"/>
                <a:ea typeface="Aptos"/>
                <a:cs typeface="Aptos"/>
              </a:rPr>
              <a:t>intent + entity signals</a:t>
            </a:r>
          </a:p>
        </p:txBody>
      </p:sp>
      <p:sp>
        <p:nvSpPr>
          <p:cNvPr id="31" name="route-arrow">
            <a:extLst xmlns:a="http://schemas.openxmlformats.org/drawingml/2006/main">
              <a:ext uri="{FF2B5EF4-FFF2-40B4-BE49-F238E27FC236}">
                <a16:creationId xmlns:a16="http://schemas.microsoft.com/office/drawing/2014/main" id="{814D6858-A7CF-47A4-B35E-AFE6DD8AB44F}"/>
              </a:ext>
            </a:extLst>
          </p:cNvPr>
          <p:cNvSpPr>
            <a:spLocks xmlns:a="http://schemas.openxmlformats.org/drawingml/2006/main" noGrp="1"/>
          </p:cNvSpPr>
          <p:nvPr/>
        </p:nvSpPr>
        <p:spPr>
          <a:xfrm xmlns:a="http://schemas.openxmlformats.org/drawingml/2006/main">
            <a:off x="5772150" y="4219575"/>
            <a:ext cx="400050" cy="171450"/>
          </a:xfrm>
          <a:prstGeom xmlns:a="http://schemas.openxmlformats.org/drawingml/2006/main" prst="rightArrow">
            <a:avLst/>
          </a:prstGeom>
          <a:solidFill xmlns:a="http://schemas.openxmlformats.org/drawingml/2006/main">
            <a:srgbClr val="B65C3C"/>
          </a:solidFill>
          <a:ln xmlns:a="http://schemas.openxmlformats.org/drawingml/2006/main" w="0">
            <a:solidFill>
              <a:srgbClr val="B65C3C"/>
            </a:solidFill>
            <a:prstDash val="solid"/>
          </a:ln>
        </p:spPr>
      </p:sp>
      <p:sp>
        <p:nvSpPr>
          <p:cNvPr id="32" name="route-0">
            <a:extLst xmlns:a="http://schemas.openxmlformats.org/drawingml/2006/main">
              <a:ext uri="{FF2B5EF4-FFF2-40B4-BE49-F238E27FC236}">
                <a16:creationId xmlns:a16="http://schemas.microsoft.com/office/drawing/2014/main" id="{D0F71F96-E927-408B-B877-F64FE1AF0DE4}"/>
              </a:ext>
            </a:extLst>
          </p:cNvPr>
          <p:cNvSpPr>
            <a:spLocks xmlns:a="http://schemas.openxmlformats.org/drawingml/2006/main" noGrp="1"/>
          </p:cNvSpPr>
          <p:nvPr/>
        </p:nvSpPr>
        <p:spPr>
          <a:xfrm xmlns:a="http://schemas.openxmlformats.org/drawingml/2006/main">
            <a:off x="6400800" y="3886200"/>
            <a:ext cx="4457700" cy="590550"/>
          </a:xfrm>
          <a:prstGeom xmlns:a="http://schemas.openxmlformats.org/drawingml/2006/main" prst="roundRect">
            <a:avLst>
              <a:gd name="adj" fmla="val 12903"/>
            </a:avLst>
          </a:prstGeom>
          <a:solidFill xmlns:a="http://schemas.openxmlformats.org/drawingml/2006/main">
            <a:srgbClr val="DCEBED"/>
          </a:solidFill>
          <a:ln xmlns:a="http://schemas.openxmlformats.org/drawingml/2006/main" w="9525">
            <a:solidFill>
              <a:srgbClr val="2D6F78"/>
            </a:solidFill>
            <a:prstDash val="solid"/>
          </a:ln>
        </p:spPr>
      </p:sp>
      <p:sp>
        <p:nvSpPr>
          <p:cNvPr id="33" name="route-title-0">
            <a:extLst xmlns:a="http://schemas.openxmlformats.org/drawingml/2006/main">
              <a:ext uri="{FF2B5EF4-FFF2-40B4-BE49-F238E27FC236}">
                <a16:creationId xmlns:a16="http://schemas.microsoft.com/office/drawing/2014/main" id="{83F2A2DA-1E36-46D5-B5FB-347C352D7AD2}"/>
              </a:ext>
            </a:extLst>
          </p:cNvPr>
          <p:cNvSpPr>
            <a:spLocks xmlns:a="http://schemas.openxmlformats.org/drawingml/2006/main" noGrp="1"/>
          </p:cNvSpPr>
          <p:nvPr/>
        </p:nvSpPr>
        <p:spPr>
          <a:xfrm xmlns:a="http://schemas.openxmlformats.org/drawingml/2006/main">
            <a:off x="6610350" y="40195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2D6F78"/>
                </a:solidFill>
                <a:latin typeface="Aptos"/>
                <a:ea typeface="Aptos"/>
                <a:cs typeface="Aptos"/>
              </a:defRPr>
            </a:pPr>
            <a:r>
              <a:rPr sz="1200" b="1">
                <a:solidFill>
                  <a:srgbClr val="2D6F78"/>
                </a:solidFill>
                <a:latin typeface="Aptos"/>
                <a:ea typeface="Aptos"/>
                <a:cs typeface="Aptos"/>
              </a:rPr>
              <a:t>EXACT RELATION</a:t>
            </a:r>
          </a:p>
        </p:txBody>
      </p:sp>
      <p:sp>
        <p:nvSpPr>
          <p:cNvPr id="34" name="route-sub-0">
            <a:extLst xmlns:a="http://schemas.openxmlformats.org/drawingml/2006/main">
              <a:ext uri="{FF2B5EF4-FFF2-40B4-BE49-F238E27FC236}">
                <a16:creationId xmlns:a16="http://schemas.microsoft.com/office/drawing/2014/main" id="{3C5C2A8F-7AB2-4792-BB5F-5E87424DC724}"/>
              </a:ext>
            </a:extLst>
          </p:cNvPr>
          <p:cNvSpPr>
            <a:spLocks xmlns:a="http://schemas.openxmlformats.org/drawingml/2006/main" noGrp="1"/>
          </p:cNvSpPr>
          <p:nvPr/>
        </p:nvSpPr>
        <p:spPr>
          <a:xfrm xmlns:a="http://schemas.openxmlformats.org/drawingml/2006/main">
            <a:off x="8477250" y="4019550"/>
            <a:ext cx="2114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a:solidFill>
                  <a:srgbClr val="1D2A34"/>
                </a:solidFill>
                <a:latin typeface="Aptos"/>
                <a:ea typeface="Aptos"/>
                <a:cs typeface="Aptos"/>
              </a:defRPr>
            </a:pPr>
            <a:r>
              <a:rPr sz="1125">
                <a:solidFill>
                  <a:srgbClr val="1D2A34"/>
                </a:solidFill>
                <a:latin typeface="Aptos"/>
                <a:ea typeface="Aptos"/>
                <a:cs typeface="Aptos"/>
              </a:rPr>
              <a:t>graph plan · vector fallback</a:t>
            </a:r>
          </a:p>
        </p:txBody>
      </p:sp>
      <p:sp>
        <p:nvSpPr>
          <p:cNvPr id="35" name="route-1">
            <a:extLst xmlns:a="http://schemas.openxmlformats.org/drawingml/2006/main">
              <a:ext uri="{FF2B5EF4-FFF2-40B4-BE49-F238E27FC236}">
                <a16:creationId xmlns:a16="http://schemas.microsoft.com/office/drawing/2014/main" id="{5C641EE0-5E04-4C6F-9B54-71FD452713E7}"/>
              </a:ext>
            </a:extLst>
          </p:cNvPr>
          <p:cNvSpPr>
            <a:spLocks xmlns:a="http://schemas.openxmlformats.org/drawingml/2006/main" noGrp="1"/>
          </p:cNvSpPr>
          <p:nvPr/>
        </p:nvSpPr>
        <p:spPr>
          <a:xfrm xmlns:a="http://schemas.openxmlformats.org/drawingml/2006/main">
            <a:off x="6400800" y="4533900"/>
            <a:ext cx="4457700" cy="590550"/>
          </a:xfrm>
          <a:prstGeom xmlns:a="http://schemas.openxmlformats.org/drawingml/2006/main" prst="roundRect">
            <a:avLst>
              <a:gd name="adj" fmla="val 12903"/>
            </a:avLst>
          </a:prstGeom>
          <a:solidFill xmlns:a="http://schemas.openxmlformats.org/drawingml/2006/main">
            <a:srgbClr val="E3F0E6"/>
          </a:solidFill>
          <a:ln xmlns:a="http://schemas.openxmlformats.org/drawingml/2006/main" w="9525">
            <a:solidFill>
              <a:srgbClr val="3D6F58"/>
            </a:solidFill>
            <a:prstDash val="solid"/>
          </a:ln>
        </p:spPr>
      </p:sp>
      <p:sp>
        <p:nvSpPr>
          <p:cNvPr id="36" name="route-title-1">
            <a:extLst xmlns:a="http://schemas.openxmlformats.org/drawingml/2006/main">
              <a:ext uri="{FF2B5EF4-FFF2-40B4-BE49-F238E27FC236}">
                <a16:creationId xmlns:a16="http://schemas.microsoft.com/office/drawing/2014/main" id="{E1F2AE41-6476-4D6D-B320-30C60B522C28}"/>
              </a:ext>
            </a:extLst>
          </p:cNvPr>
          <p:cNvSpPr>
            <a:spLocks xmlns:a="http://schemas.openxmlformats.org/drawingml/2006/main" noGrp="1"/>
          </p:cNvSpPr>
          <p:nvPr/>
        </p:nvSpPr>
        <p:spPr>
          <a:xfrm xmlns:a="http://schemas.openxmlformats.org/drawingml/2006/main">
            <a:off x="6610350" y="46672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6F58"/>
                </a:solidFill>
                <a:latin typeface="Aptos"/>
                <a:ea typeface="Aptos"/>
                <a:cs typeface="Aptos"/>
              </a:defRPr>
            </a:pPr>
            <a:r>
              <a:rPr sz="1200" b="1">
                <a:solidFill>
                  <a:srgbClr val="3D6F58"/>
                </a:solidFill>
                <a:latin typeface="Aptos"/>
                <a:ea typeface="Aptos"/>
                <a:cs typeface="Aptos"/>
              </a:rPr>
              <a:t>GENERIC LOCAL</a:t>
            </a:r>
          </a:p>
        </p:txBody>
      </p:sp>
      <p:sp>
        <p:nvSpPr>
          <p:cNvPr id="37" name="route-sub-1">
            <a:extLst xmlns:a="http://schemas.openxmlformats.org/drawingml/2006/main">
              <a:ext uri="{FF2B5EF4-FFF2-40B4-BE49-F238E27FC236}">
                <a16:creationId xmlns:a16="http://schemas.microsoft.com/office/drawing/2014/main" id="{6B6EB7AB-FDB3-43EB-9658-8934FCFCD986}"/>
              </a:ext>
            </a:extLst>
          </p:cNvPr>
          <p:cNvSpPr>
            <a:spLocks xmlns:a="http://schemas.openxmlformats.org/drawingml/2006/main" noGrp="1"/>
          </p:cNvSpPr>
          <p:nvPr/>
        </p:nvSpPr>
        <p:spPr>
          <a:xfrm xmlns:a="http://schemas.openxmlformats.org/drawingml/2006/main">
            <a:off x="8477250" y="4667250"/>
            <a:ext cx="2114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a:solidFill>
                  <a:srgbClr val="1D2A34"/>
                </a:solidFill>
                <a:latin typeface="Aptos"/>
                <a:ea typeface="Aptos"/>
                <a:cs typeface="Aptos"/>
              </a:defRPr>
            </a:pPr>
            <a:r>
              <a:rPr sz="1125">
                <a:solidFill>
                  <a:srgbClr val="1D2A34"/>
                </a:solidFill>
                <a:latin typeface="Aptos"/>
                <a:ea typeface="Aptos"/>
                <a:cs typeface="Aptos"/>
              </a:rPr>
              <a:t>graph + vector → weighted RRF</a:t>
            </a:r>
          </a:p>
        </p:txBody>
      </p:sp>
      <p:sp>
        <p:nvSpPr>
          <p:cNvPr id="38" name="route-2">
            <a:extLst xmlns:a="http://schemas.openxmlformats.org/drawingml/2006/main">
              <a:ext uri="{FF2B5EF4-FFF2-40B4-BE49-F238E27FC236}">
                <a16:creationId xmlns:a16="http://schemas.microsoft.com/office/drawing/2014/main" id="{9C149942-210B-4A64-B13E-B6EBA7104041}"/>
              </a:ext>
            </a:extLst>
          </p:cNvPr>
          <p:cNvSpPr>
            <a:spLocks xmlns:a="http://schemas.openxmlformats.org/drawingml/2006/main" noGrp="1"/>
          </p:cNvSpPr>
          <p:nvPr/>
        </p:nvSpPr>
        <p:spPr>
          <a:xfrm xmlns:a="http://schemas.openxmlformats.org/drawingml/2006/main">
            <a:off x="6400800" y="5181600"/>
            <a:ext cx="4457700" cy="590550"/>
          </a:xfrm>
          <a:prstGeom xmlns:a="http://schemas.openxmlformats.org/drawingml/2006/main" prst="roundRect">
            <a:avLst>
              <a:gd name="adj" fmla="val 12903"/>
            </a:avLst>
          </a:prstGeom>
          <a:solidFill xmlns:a="http://schemas.openxmlformats.org/drawingml/2006/main">
            <a:srgbClr val="E6EEF5"/>
          </a:solidFill>
          <a:ln xmlns:a="http://schemas.openxmlformats.org/drawingml/2006/main" w="9525">
            <a:solidFill>
              <a:srgbClr val="B65C3C"/>
            </a:solidFill>
            <a:prstDash val="solid"/>
          </a:ln>
        </p:spPr>
      </p:sp>
      <p:sp>
        <p:nvSpPr>
          <p:cNvPr id="39" name="route-title-2">
            <a:extLst xmlns:a="http://schemas.openxmlformats.org/drawingml/2006/main">
              <a:ext uri="{FF2B5EF4-FFF2-40B4-BE49-F238E27FC236}">
                <a16:creationId xmlns:a16="http://schemas.microsoft.com/office/drawing/2014/main" id="{35D62539-2555-46E2-B0DE-C2CF451F26B2}"/>
              </a:ext>
            </a:extLst>
          </p:cNvPr>
          <p:cNvSpPr>
            <a:spLocks xmlns:a="http://schemas.openxmlformats.org/drawingml/2006/main" noGrp="1"/>
          </p:cNvSpPr>
          <p:nvPr/>
        </p:nvSpPr>
        <p:spPr>
          <a:xfrm xmlns:a="http://schemas.openxmlformats.org/drawingml/2006/main">
            <a:off x="6610350" y="53149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B65C3C"/>
                </a:solidFill>
                <a:latin typeface="Aptos"/>
                <a:ea typeface="Aptos"/>
                <a:cs typeface="Aptos"/>
              </a:defRPr>
            </a:pPr>
            <a:r>
              <a:rPr sz="1200" b="1">
                <a:solidFill>
                  <a:srgbClr val="B65C3C"/>
                </a:solidFill>
                <a:latin typeface="Aptos"/>
                <a:ea typeface="Aptos"/>
                <a:cs typeface="Aptos"/>
              </a:rPr>
              <a:t>GLOBAL</a:t>
            </a:r>
          </a:p>
        </p:txBody>
      </p:sp>
      <p:sp>
        <p:nvSpPr>
          <p:cNvPr id="40" name="route-sub-2">
            <a:extLst xmlns:a="http://schemas.openxmlformats.org/drawingml/2006/main">
              <a:ext uri="{FF2B5EF4-FFF2-40B4-BE49-F238E27FC236}">
                <a16:creationId xmlns:a16="http://schemas.microsoft.com/office/drawing/2014/main" id="{6DAAD72C-AB64-4B49-B508-346102128B67}"/>
              </a:ext>
            </a:extLst>
          </p:cNvPr>
          <p:cNvSpPr>
            <a:spLocks xmlns:a="http://schemas.openxmlformats.org/drawingml/2006/main" noGrp="1"/>
          </p:cNvSpPr>
          <p:nvPr/>
        </p:nvSpPr>
        <p:spPr>
          <a:xfrm xmlns:a="http://schemas.openxmlformats.org/drawingml/2006/main">
            <a:off x="8477250" y="5314950"/>
            <a:ext cx="2114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a:solidFill>
                  <a:srgbClr val="1D2A34"/>
                </a:solidFill>
                <a:latin typeface="Aptos"/>
                <a:ea typeface="Aptos"/>
                <a:cs typeface="Aptos"/>
              </a:defRPr>
            </a:pPr>
            <a:r>
              <a:rPr sz="1125">
                <a:solidFill>
                  <a:srgbClr val="1D2A34"/>
                </a:solidFill>
                <a:latin typeface="Aptos"/>
                <a:ea typeface="Aptos"/>
                <a:cs typeface="Aptos"/>
              </a:rPr>
              <a:t>directory communities → summary</a:t>
            </a:r>
          </a:p>
        </p:txBody>
      </p:sp>
      <p:sp>
        <p:nvSpPr>
          <p:cNvPr id="41" name="route-takeaway">
            <a:extLst xmlns:a="http://schemas.openxmlformats.org/drawingml/2006/main">
              <a:ext uri="{FF2B5EF4-FFF2-40B4-BE49-F238E27FC236}">
                <a16:creationId xmlns:a16="http://schemas.microsoft.com/office/drawing/2014/main" id="{40011E78-CB03-4D5F-8AFB-1BD0769EF063}"/>
              </a:ext>
            </a:extLst>
          </p:cNvPr>
          <p:cNvSpPr>
            <a:spLocks xmlns:a="http://schemas.openxmlformats.org/drawingml/2006/main" noGrp="1"/>
          </p:cNvSpPr>
          <p:nvPr/>
        </p:nvSpPr>
        <p:spPr>
          <a:xfrm xmlns:a="http://schemas.openxmlformats.org/drawingml/2006/main">
            <a:off x="685800" y="5848350"/>
            <a:ext cx="10172700" cy="4191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2D6F78"/>
            </a:solidFill>
            <a:prstDash val="solid"/>
          </a:ln>
        </p:spPr>
      </p:sp>
      <p:sp>
        <p:nvSpPr>
          <p:cNvPr id="42" name="route-takeaway-label">
            <a:extLst xmlns:a="http://schemas.openxmlformats.org/drawingml/2006/main">
              <a:ext uri="{FF2B5EF4-FFF2-40B4-BE49-F238E27FC236}">
                <a16:creationId xmlns:a16="http://schemas.microsoft.com/office/drawing/2014/main" id="{33194A9A-D698-4503-B61C-37E324274975}"/>
              </a:ext>
            </a:extLst>
          </p:cNvPr>
          <p:cNvSpPr>
            <a:spLocks xmlns:a="http://schemas.openxmlformats.org/drawingml/2006/main" noGrp="1"/>
          </p:cNvSpPr>
          <p:nvPr/>
        </p:nvSpPr>
        <p:spPr>
          <a:xfrm xmlns:a="http://schemas.openxmlformats.org/drawingml/2006/main">
            <a:off x="952500" y="59817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43" name="route-takeaway-copy">
            <a:extLst xmlns:a="http://schemas.openxmlformats.org/drawingml/2006/main">
              <a:ext uri="{FF2B5EF4-FFF2-40B4-BE49-F238E27FC236}">
                <a16:creationId xmlns:a16="http://schemas.microsoft.com/office/drawing/2014/main" id="{D102083A-D4F8-4D94-9A75-D45BA8213328}"/>
              </a:ext>
            </a:extLst>
          </p:cNvPr>
          <p:cNvSpPr>
            <a:spLocks xmlns:a="http://schemas.openxmlformats.org/drawingml/2006/main" noGrp="1"/>
          </p:cNvSpPr>
          <p:nvPr/>
        </p:nvSpPr>
        <p:spPr>
          <a:xfrm xmlns:a="http://schemas.openxmlformats.org/drawingml/2006/main">
            <a:off x="952500" y="5953125"/>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D2A34"/>
                </a:solidFill>
                <a:latin typeface="Aptos"/>
                <a:ea typeface="Aptos"/>
                <a:cs typeface="Aptos"/>
              </a:defRPr>
            </a:pPr>
            <a:r>
              <a:rPr sz="1200" b="1">
                <a:solidFill>
                  <a:srgbClr val="1D2A34"/>
                </a:solidFill>
                <a:latin typeface="Aptos"/>
                <a:ea typeface="Aptos"/>
                <a:cs typeface="Aptos"/>
              </a:rPr>
              <a:t>Parallel graph–vector fusion is one route, not the universal control flow.</a:t>
            </a:r>
          </a:p>
        </p:txBody>
      </p:sp>
      <p:sp>
        <p:nvSpPr>
          <p:cNvPr id="44" name="footer-label">
            <a:extLst xmlns:a="http://schemas.openxmlformats.org/drawingml/2006/main">
              <a:ext uri="{FF2B5EF4-FFF2-40B4-BE49-F238E27FC236}">
                <a16:creationId xmlns:a16="http://schemas.microsoft.com/office/drawing/2014/main" id="{A6B621B4-4130-4228-9158-2B6D48F412B6}"/>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05 / 15</a:t>
            </a:r>
          </a:p>
        </p:txBody>
      </p:sp>
      <p:sp>
        <p:nvSpPr>
          <p:cNvPr id="45" name="footer-number">
            <a:extLst xmlns:a="http://schemas.openxmlformats.org/drawingml/2006/main">
              <a:ext uri="{FF2B5EF4-FFF2-40B4-BE49-F238E27FC236}">
                <a16:creationId xmlns:a16="http://schemas.microsoft.com/office/drawing/2014/main" id="{B14DAF02-1B1E-4502-9BAB-53EF4B80FA74}"/>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897065342"/>
      </p:ext>
    </p:extLst>
  </p:cSld>
</p:sld>
</file>

<file path=ppt/slides/slide7.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9258CF6A-3923-4CA7-AC09-02DCDCC4C40F}"/>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SYSTEM ARCHITECTURE  ·  DETAIL  ·  02 / 13</a:t>
            </a:r>
          </a:p>
        </p:txBody>
      </p:sp>
      <p:sp>
        <p:nvSpPr>
          <p:cNvPr id="2" name="kicker-rule">
            <a:extLst xmlns:a="http://schemas.openxmlformats.org/drawingml/2006/main">
              <a:ext uri="{FF2B5EF4-FFF2-40B4-BE49-F238E27FC236}">
                <a16:creationId xmlns:a16="http://schemas.microsoft.com/office/drawing/2014/main" id="{A1B5025F-99DE-43C1-9553-47A5D0151362}"/>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FD1485BB-17BE-49A0-A9A1-F551AF336DD5}"/>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1D2A34"/>
                </a:solidFill>
                <a:latin typeface="Aptos Display"/>
                <a:ea typeface="Aptos Display"/>
                <a:cs typeface="Aptos Display"/>
              </a:defRPr>
            </a:pPr>
            <a:r>
              <a:rPr sz="2250" b="1">
                <a:solidFill>
                  <a:srgbClr val="1D2A34"/>
                </a:solidFill>
                <a:latin typeface="Aptos Display"/>
                <a:ea typeface="Aptos Display"/>
                <a:cs typeface="Aptos Display"/>
              </a:rPr>
              <a:t>Routing avoids unnecessary work and preserves deterministic answers.</a:t>
            </a:r>
          </a:p>
        </p:txBody>
      </p:sp>
      <p:sp>
        <p:nvSpPr>
          <p:cNvPr id="4" name="depth-box-1">
            <a:extLst xmlns:a="http://schemas.openxmlformats.org/drawingml/2006/main">
              <a:ext uri="{FF2B5EF4-FFF2-40B4-BE49-F238E27FC236}">
                <a16:creationId xmlns:a16="http://schemas.microsoft.com/office/drawing/2014/main" id="{2E7B583A-430B-473F-B43B-E189F1D806BF}"/>
              </a:ext>
            </a:extLst>
          </p:cNvPr>
          <p:cNvSpPr>
            <a:spLocks xmlns:a="http://schemas.openxmlformats.org/drawingml/2006/main" noGrp="1"/>
          </p:cNvSpPr>
          <p:nvPr/>
        </p:nvSpPr>
        <p:spPr>
          <a:xfrm xmlns:a="http://schemas.openxmlformats.org/drawingml/2006/main">
            <a:off x="685800" y="1981200"/>
            <a:ext cx="108204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9525">
            <a:solidFill>
              <a:srgbClr val="C9D1D1"/>
            </a:solidFill>
            <a:prstDash val="solid"/>
          </a:ln>
        </p:spPr>
      </p:sp>
      <p:sp>
        <p:nvSpPr>
          <p:cNvPr id="5" name="depth-label-1">
            <a:extLst xmlns:a="http://schemas.openxmlformats.org/drawingml/2006/main">
              <a:ext uri="{FF2B5EF4-FFF2-40B4-BE49-F238E27FC236}">
                <a16:creationId xmlns:a16="http://schemas.microsoft.com/office/drawing/2014/main" id="{A3453F34-4101-461C-A262-E920A3A7FA99}"/>
              </a:ext>
            </a:extLst>
          </p:cNvPr>
          <p:cNvSpPr>
            <a:spLocks xmlns:a="http://schemas.openxmlformats.org/drawingml/2006/main" noGrp="1"/>
          </p:cNvSpPr>
          <p:nvPr/>
        </p:nvSpPr>
        <p:spPr>
          <a:xfrm xmlns:a="http://schemas.openxmlformats.org/drawingml/2006/main">
            <a:off x="990600" y="2286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EVIDENCE DETAIL</a:t>
            </a:r>
          </a:p>
        </p:txBody>
      </p:sp>
      <p:sp>
        <p:nvSpPr>
          <p:cNvPr id="6" name="depth-copy-1">
            <a:extLst xmlns:a="http://schemas.openxmlformats.org/drawingml/2006/main">
              <a:ext uri="{FF2B5EF4-FFF2-40B4-BE49-F238E27FC236}">
                <a16:creationId xmlns:a16="http://schemas.microsoft.com/office/drawing/2014/main" id="{7ED134E4-741B-419E-81BE-7B628E6A36AB}"/>
              </a:ext>
            </a:extLst>
          </p:cNvPr>
          <p:cNvSpPr>
            <a:spLocks xmlns:a="http://schemas.openxmlformats.org/drawingml/2006/main" noGrp="1"/>
          </p:cNvSpPr>
          <p:nvPr/>
        </p:nvSpPr>
        <p:spPr>
          <a:xfrm xmlns:a="http://schemas.openxmlformats.org/drawingml/2006/main">
            <a:off x="990600" y="2724150"/>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D2A34"/>
                </a:solidFill>
                <a:latin typeface="Aptos"/>
                <a:ea typeface="Aptos"/>
                <a:cs typeface="Aptos"/>
              </a:defRPr>
            </a:pPr>
            <a:r>
              <a:rPr sz="2100" b="1">
                <a:solidFill>
                  <a:srgbClr val="1D2A34"/>
                </a:solidFill>
                <a:latin typeface="Aptos"/>
                <a:ea typeface="Aptos"/>
                <a:cs typeface="Aptos"/>
              </a:rPr>
              <a:t>Exact relation is graph-first; generic local is concurrent graph + vector; global uses summaries.</a:t>
            </a:r>
          </a:p>
        </p:txBody>
      </p:sp>
      <p:sp>
        <p:nvSpPr>
          <p:cNvPr id="7" name="depth-rule-1">
            <a:extLst xmlns:a="http://schemas.openxmlformats.org/drawingml/2006/main">
              <a:ext uri="{FF2B5EF4-FFF2-40B4-BE49-F238E27FC236}">
                <a16:creationId xmlns:a16="http://schemas.microsoft.com/office/drawing/2014/main" id="{A75B8B5D-5225-4286-A637-5305347C2C91}"/>
              </a:ext>
            </a:extLst>
          </p:cNvPr>
          <p:cNvSpPr>
            <a:spLocks xmlns:a="http://schemas.openxmlformats.org/drawingml/2006/main" noGrp="1"/>
          </p:cNvSpPr>
          <p:nvPr/>
        </p:nvSpPr>
        <p:spPr>
          <a:xfrm xmlns:a="http://schemas.openxmlformats.org/drawingml/2006/main">
            <a:off x="990600" y="3886200"/>
            <a:ext cx="923925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8" name="depth-source-1">
            <a:extLst xmlns:a="http://schemas.openxmlformats.org/drawingml/2006/main">
              <a:ext uri="{FF2B5EF4-FFF2-40B4-BE49-F238E27FC236}">
                <a16:creationId xmlns:a16="http://schemas.microsoft.com/office/drawing/2014/main" id="{5B0EFD26-62F8-4062-B92A-1ED96F81587A}"/>
              </a:ext>
            </a:extLst>
          </p:cNvPr>
          <p:cNvSpPr>
            <a:spLocks xmlns:a="http://schemas.openxmlformats.org/drawingml/2006/main" noGrp="1"/>
          </p:cNvSpPr>
          <p:nvPr/>
        </p:nvSpPr>
        <p:spPr>
          <a:xfrm xmlns:a="http://schemas.openxmlformats.org/drawingml/2006/main">
            <a:off x="990600" y="407670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Evidence boundary: src/hybrid_rag/retrieval/query_analyzer.py; src/hybrid_rag/retrieval/hybrid_retriever.py</a:t>
            </a:r>
          </a:p>
        </p:txBody>
      </p:sp>
      <p:sp>
        <p:nvSpPr>
          <p:cNvPr id="9" name="depth-callout-1">
            <a:extLst xmlns:a="http://schemas.openxmlformats.org/drawingml/2006/main">
              <a:ext uri="{FF2B5EF4-FFF2-40B4-BE49-F238E27FC236}">
                <a16:creationId xmlns:a16="http://schemas.microsoft.com/office/drawing/2014/main" id="{4FA5511B-E7A3-49AE-9C0F-3CE22AB78DC3}"/>
              </a:ext>
            </a:extLst>
          </p:cNvPr>
          <p:cNvSpPr>
            <a:spLocks xmlns:a="http://schemas.openxmlformats.org/drawingml/2006/main" noGrp="1"/>
          </p:cNvSpPr>
          <p:nvPr/>
        </p:nvSpPr>
        <p:spPr>
          <a:xfrm xmlns:a="http://schemas.openxmlformats.org/drawingml/2006/main">
            <a:off x="685800" y="4857750"/>
            <a:ext cx="108204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0" name="depth-callout-1-label">
            <a:extLst xmlns:a="http://schemas.openxmlformats.org/drawingml/2006/main">
              <a:ext uri="{FF2B5EF4-FFF2-40B4-BE49-F238E27FC236}">
                <a16:creationId xmlns:a16="http://schemas.microsoft.com/office/drawing/2014/main" id="{E5CDB820-49FE-4690-9430-F40B41BDEA40}"/>
              </a:ext>
            </a:extLst>
          </p:cNvPr>
          <p:cNvSpPr>
            <a:spLocks xmlns:a="http://schemas.openxmlformats.org/drawingml/2006/main" noGrp="1"/>
          </p:cNvSpPr>
          <p:nvPr/>
        </p:nvSpPr>
        <p:spPr>
          <a:xfrm xmlns:a="http://schemas.openxmlformats.org/drawingml/2006/main">
            <a:off x="952500" y="49911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1" name="depth-callout-1-copy">
            <a:extLst xmlns:a="http://schemas.openxmlformats.org/drawingml/2006/main">
              <a:ext uri="{FF2B5EF4-FFF2-40B4-BE49-F238E27FC236}">
                <a16:creationId xmlns:a16="http://schemas.microsoft.com/office/drawing/2014/main" id="{951053DA-21ED-438C-BFF7-118F264D93C7}"/>
              </a:ext>
            </a:extLst>
          </p:cNvPr>
          <p:cNvSpPr>
            <a:spLocks xmlns:a="http://schemas.openxmlformats.org/drawingml/2006/main" noGrp="1"/>
          </p:cNvSpPr>
          <p:nvPr/>
        </p:nvSpPr>
        <p:spPr>
          <a:xfrm xmlns:a="http://schemas.openxmlformats.org/drawingml/2006/main">
            <a:off x="952500" y="4962525"/>
            <a:ext cx="10267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The running query stays on the generic-local route; exact-relation and global/community are sibling paths.</a:t>
            </a:r>
          </a:p>
        </p:txBody>
      </p:sp>
      <p:sp>
        <p:nvSpPr>
          <p:cNvPr id="12" name="footer-label">
            <a:extLst xmlns:a="http://schemas.openxmlformats.org/drawingml/2006/main">
              <a:ext uri="{FF2B5EF4-FFF2-40B4-BE49-F238E27FC236}">
                <a16:creationId xmlns:a16="http://schemas.microsoft.com/office/drawing/2014/main" id="{43C0A286-5001-4D05-A871-1C81A7A3BFD8}"/>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05 / 15 · DETAIL 1 / 2</a:t>
            </a:r>
          </a:p>
        </p:txBody>
      </p:sp>
      <p:sp>
        <p:nvSpPr>
          <p:cNvPr id="13" name="footer-number">
            <a:extLst xmlns:a="http://schemas.openxmlformats.org/drawingml/2006/main">
              <a:ext uri="{FF2B5EF4-FFF2-40B4-BE49-F238E27FC236}">
                <a16:creationId xmlns:a16="http://schemas.microsoft.com/office/drawing/2014/main" id="{7343F8BA-6B05-46D1-B458-BA5D35D0B80A}"/>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SUPPORTING DETAIL</a:t>
            </a:r>
          </a:p>
        </p:txBody>
      </p:sp>
    </p:spTree>
    <p:extLst>
      <p:ext uri="{BB962C8B-B14F-4D97-AF65-F5344CB8AC3E}">
        <p14:creationId xmlns:p14="http://schemas.microsoft.com/office/powerpoint/2010/main" val="1179758849"/>
      </p:ext>
    </p:extLst>
  </p:cSld>
</p:sld>
</file>

<file path=ppt/slides/slide8.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60B6446E-0EF4-4139-94CE-C22F4B640CFC}"/>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GLOBAL COMMUNITIES  ·  DETAIL  ·  03 / 13</a:t>
            </a:r>
          </a:p>
        </p:txBody>
      </p:sp>
      <p:sp>
        <p:nvSpPr>
          <p:cNvPr id="2" name="kicker-rule">
            <a:extLst xmlns:a="http://schemas.openxmlformats.org/drawingml/2006/main">
              <a:ext uri="{FF2B5EF4-FFF2-40B4-BE49-F238E27FC236}">
                <a16:creationId xmlns:a16="http://schemas.microsoft.com/office/drawing/2014/main" id="{03906C8C-B285-4D1C-BFA2-0E469D9C03FC}"/>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5CE894AE-FF15-4F0F-A48A-6D1041DCC3A9}"/>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1D2A34"/>
                </a:solidFill>
                <a:latin typeface="Aptos Display"/>
                <a:ea typeface="Aptos Display"/>
                <a:cs typeface="Aptos Display"/>
              </a:defRPr>
            </a:pPr>
            <a:r>
              <a:rPr sz="2250" b="1">
                <a:solidFill>
                  <a:srgbClr val="1D2A34"/>
                </a:solidFill>
                <a:latin typeface="Aptos Display"/>
                <a:ea typeface="Aptos Display"/>
                <a:cs typeface="Aptos Display"/>
              </a:rPr>
              <a:t>Directory communities provide a deterministic architectural layer.</a:t>
            </a:r>
          </a:p>
        </p:txBody>
      </p:sp>
      <p:sp>
        <p:nvSpPr>
          <p:cNvPr id="4" name="depth-box-2">
            <a:extLst xmlns:a="http://schemas.openxmlformats.org/drawingml/2006/main">
              <a:ext uri="{FF2B5EF4-FFF2-40B4-BE49-F238E27FC236}">
                <a16:creationId xmlns:a16="http://schemas.microsoft.com/office/drawing/2014/main" id="{4AFAF998-A003-4165-B635-E6E2153665AB}"/>
              </a:ext>
            </a:extLst>
          </p:cNvPr>
          <p:cNvSpPr>
            <a:spLocks xmlns:a="http://schemas.openxmlformats.org/drawingml/2006/main" noGrp="1"/>
          </p:cNvSpPr>
          <p:nvPr/>
        </p:nvSpPr>
        <p:spPr>
          <a:xfrm xmlns:a="http://schemas.openxmlformats.org/drawingml/2006/main">
            <a:off x="685800" y="1981200"/>
            <a:ext cx="108204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9525">
            <a:solidFill>
              <a:srgbClr val="C9D1D1"/>
            </a:solidFill>
            <a:prstDash val="solid"/>
          </a:ln>
        </p:spPr>
      </p:sp>
      <p:sp>
        <p:nvSpPr>
          <p:cNvPr id="5" name="depth-label-2">
            <a:extLst xmlns:a="http://schemas.openxmlformats.org/drawingml/2006/main">
              <a:ext uri="{FF2B5EF4-FFF2-40B4-BE49-F238E27FC236}">
                <a16:creationId xmlns:a16="http://schemas.microsoft.com/office/drawing/2014/main" id="{4828ADB3-A58D-4860-B97E-5CA8CB65FDDC}"/>
              </a:ext>
            </a:extLst>
          </p:cNvPr>
          <p:cNvSpPr>
            <a:spLocks xmlns:a="http://schemas.openxmlformats.org/drawingml/2006/main" noGrp="1"/>
          </p:cNvSpPr>
          <p:nvPr/>
        </p:nvSpPr>
        <p:spPr>
          <a:xfrm xmlns:a="http://schemas.openxmlformats.org/drawingml/2006/main">
            <a:off x="990600" y="2286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
            </a:r>
          </a:p>
        </p:txBody>
      </p:sp>
      <p:sp>
        <p:nvSpPr>
          <p:cNvPr id="6" name="depth-copy-2">
            <a:extLst xmlns:a="http://schemas.openxmlformats.org/drawingml/2006/main">
              <a:ext uri="{FF2B5EF4-FFF2-40B4-BE49-F238E27FC236}">
                <a16:creationId xmlns:a16="http://schemas.microsoft.com/office/drawing/2014/main" id="{9B8E0F54-6AC0-4EE1-B9A6-7274CF40C6DC}"/>
              </a:ext>
            </a:extLst>
          </p:cNvPr>
          <p:cNvSpPr>
            <a:spLocks xmlns:a="http://schemas.openxmlformats.org/drawingml/2006/main" noGrp="1"/>
          </p:cNvSpPr>
          <p:nvPr/>
        </p:nvSpPr>
        <p:spPr>
          <a:xfrm xmlns:a="http://schemas.openxmlformats.org/drawingml/2006/main">
            <a:off x="990600" y="2724150"/>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D2A34"/>
                </a:solidFill>
                <a:latin typeface="Aptos"/>
                <a:ea typeface="Aptos"/>
                <a:cs typeface="Aptos"/>
              </a:defRPr>
            </a:pPr>
            <a:r>
              <a:rPr sz="2100" b="1">
                <a:solidFill>
                  <a:srgbClr val="1D2A34"/>
                </a:solidFill>
                <a:latin typeface="Aptos"/>
                <a:ea typeface="Aptos"/>
                <a:cs typeface="Aptos"/>
              </a:rPr>
              <a:t/>
            </a:r>
          </a:p>
        </p:txBody>
      </p:sp>
      <p:sp>
        <p:nvSpPr>
          <p:cNvPr id="7" name="depth-rule-2">
            <a:extLst xmlns:a="http://schemas.openxmlformats.org/drawingml/2006/main">
              <a:ext uri="{FF2B5EF4-FFF2-40B4-BE49-F238E27FC236}">
                <a16:creationId xmlns:a16="http://schemas.microsoft.com/office/drawing/2014/main" id="{2CB4E98D-0379-403C-A783-617B3C41BBCD}"/>
              </a:ext>
            </a:extLst>
          </p:cNvPr>
          <p:cNvSpPr>
            <a:spLocks xmlns:a="http://schemas.openxmlformats.org/drawingml/2006/main" noGrp="1"/>
          </p:cNvSpPr>
          <p:nvPr/>
        </p:nvSpPr>
        <p:spPr>
          <a:xfrm xmlns:a="http://schemas.openxmlformats.org/drawingml/2006/main">
            <a:off x="990600" y="3886200"/>
            <a:ext cx="9239250" cy="0"/>
          </a:xfrm>
          <a:prstGeom xmlns:a="http://schemas.openxmlformats.org/drawingml/2006/main" prst="line">
            <a:avLst/>
          </a:prstGeom>
          <a:noFill xmlns:a="http://schemas.openxmlformats.org/drawingml/2006/main"/>
          <a:ln xmlns:a="http://schemas.openxmlformats.org/drawingml/2006/main" w="0">
            <a:noFill/>
            <a:prstDash val="solid"/>
          </a:ln>
        </p:spPr>
      </p:sp>
      <p:sp>
        <p:nvSpPr>
          <p:cNvPr id="8" name="depth-source-2">
            <a:extLst xmlns:a="http://schemas.openxmlformats.org/drawingml/2006/main">
              <a:ext uri="{FF2B5EF4-FFF2-40B4-BE49-F238E27FC236}">
                <a16:creationId xmlns:a16="http://schemas.microsoft.com/office/drawing/2014/main" id="{1514CADB-E781-4A49-9EDC-B76D59080781}"/>
              </a:ext>
            </a:extLst>
          </p:cNvPr>
          <p:cNvSpPr>
            <a:spLocks xmlns:a="http://schemas.openxmlformats.org/drawingml/2006/main" noGrp="1"/>
          </p:cNvSpPr>
          <p:nvPr/>
        </p:nvSpPr>
        <p:spPr>
          <a:xfrm xmlns:a="http://schemas.openxmlformats.org/drawingml/2006/main">
            <a:off x="990600" y="407670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
            </a:r>
          </a:p>
        </p:txBody>
      </p:sp>
      <p:sp>
        <p:nvSpPr>
          <p:cNvPr id="9" name="depth-callout-2">
            <a:extLst xmlns:a="http://schemas.openxmlformats.org/drawingml/2006/main">
              <a:ext uri="{FF2B5EF4-FFF2-40B4-BE49-F238E27FC236}">
                <a16:creationId xmlns:a16="http://schemas.microsoft.com/office/drawing/2014/main" id="{4C9AE572-5ACD-4B2D-B07D-662B7CA30286}"/>
              </a:ext>
            </a:extLst>
          </p:cNvPr>
          <p:cNvSpPr>
            <a:spLocks xmlns:a="http://schemas.openxmlformats.org/drawingml/2006/main" noGrp="1"/>
          </p:cNvSpPr>
          <p:nvPr/>
        </p:nvSpPr>
        <p:spPr>
          <a:xfrm xmlns:a="http://schemas.openxmlformats.org/drawingml/2006/main">
            <a:off x="685800" y="4857750"/>
            <a:ext cx="108204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0" name="depth-callout-2-label">
            <a:extLst xmlns:a="http://schemas.openxmlformats.org/drawingml/2006/main">
              <a:ext uri="{FF2B5EF4-FFF2-40B4-BE49-F238E27FC236}">
                <a16:creationId xmlns:a16="http://schemas.microsoft.com/office/drawing/2014/main" id="{ED40C524-EEA7-46E1-92B2-C7BA8303B5D4}"/>
              </a:ext>
            </a:extLst>
          </p:cNvPr>
          <p:cNvSpPr>
            <a:spLocks xmlns:a="http://schemas.openxmlformats.org/drawingml/2006/main" noGrp="1"/>
          </p:cNvSpPr>
          <p:nvPr/>
        </p:nvSpPr>
        <p:spPr>
          <a:xfrm xmlns:a="http://schemas.openxmlformats.org/drawingml/2006/main">
            <a:off x="952500" y="49911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1" name="depth-callout-2-copy">
            <a:extLst xmlns:a="http://schemas.openxmlformats.org/drawingml/2006/main">
              <a:ext uri="{FF2B5EF4-FFF2-40B4-BE49-F238E27FC236}">
                <a16:creationId xmlns:a16="http://schemas.microsoft.com/office/drawing/2014/main" id="{115007ED-14C3-4A1B-8B03-7F0CAFDFBB3C}"/>
              </a:ext>
            </a:extLst>
          </p:cNvPr>
          <p:cNvSpPr>
            <a:spLocks xmlns:a="http://schemas.openxmlformats.org/drawingml/2006/main" noGrp="1"/>
          </p:cNvSpPr>
          <p:nvPr/>
        </p:nvSpPr>
        <p:spPr>
          <a:xfrm xmlns:a="http://schemas.openxmlformats.org/drawingml/2006/main">
            <a:off x="952500" y="4962525"/>
            <a:ext cx="10267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This implementation does not use Louvain clustering; community identity follows repository and directory. The running query stays on the local route; this is the sibling global route.</a:t>
            </a:r>
          </a:p>
        </p:txBody>
      </p:sp>
      <p:sp>
        <p:nvSpPr>
          <p:cNvPr id="12" name="footer-label">
            <a:extLst xmlns:a="http://schemas.openxmlformats.org/drawingml/2006/main">
              <a:ext uri="{FF2B5EF4-FFF2-40B4-BE49-F238E27FC236}">
                <a16:creationId xmlns:a16="http://schemas.microsoft.com/office/drawing/2014/main" id="{F310487D-8D60-4C61-869A-9D3D02919D89}"/>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05 / 15 · DETAIL 2 / 2</a:t>
            </a:r>
          </a:p>
        </p:txBody>
      </p:sp>
      <p:sp>
        <p:nvSpPr>
          <p:cNvPr id="13" name="footer-number">
            <a:extLst xmlns:a="http://schemas.openxmlformats.org/drawingml/2006/main">
              <a:ext uri="{FF2B5EF4-FFF2-40B4-BE49-F238E27FC236}">
                <a16:creationId xmlns:a16="http://schemas.microsoft.com/office/drawing/2014/main" id="{8BA4A2BA-0425-402D-992B-12696C600E74}"/>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SUPPORTING DETAIL</a:t>
            </a:r>
          </a:p>
        </p:txBody>
      </p:sp>
      <p:sp>
        <p:nvSpPr>
          <p:cNvPr id="15" name="sync-communities-container">
            <a:extLst xmlns:a="http://schemas.openxmlformats.org/drawingml/2006/main">
              <a:ext uri="{FF2B5EF4-FFF2-40B4-BE49-F238E27FC236}">
                <a16:creationId xmlns:a16="http://schemas.microsoft.com/office/drawing/2014/main" id="{47499353-AC41-4AA9-918C-F9F8EFE962B3}"/>
              </a:ext>
            </a:extLst>
          </p:cNvPr>
          <p:cNvSpPr>
            <a:spLocks xmlns:a="http://schemas.openxmlformats.org/drawingml/2006/main" noGrp="1"/>
          </p:cNvSpPr>
          <p:nvPr/>
        </p:nvSpPr>
        <p:spPr>
          <a:xfrm xmlns:a="http://schemas.openxmlformats.org/drawingml/2006/main">
            <a:off x="990600" y="22098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2D6F78"/>
                </a:solidFill>
              </a:defRPr>
            </a:pPr>
            <a:r>
              <a:rPr sz="900" b="1">
                <a:solidFill>
                  <a:srgbClr val="2D6F78"/>
                </a:solidFill>
              </a:rPr>
              <a:t>COMMUNITIES</a:t>
            </a:r>
          </a:p>
        </p:txBody>
      </p:sp>
      <p:sp>
        <p:nvSpPr>
          <p:cNvPr id="16" name="sync-communities-a">
            <a:extLst xmlns:a="http://schemas.openxmlformats.org/drawingml/2006/main">
              <a:ext uri="{FF2B5EF4-FFF2-40B4-BE49-F238E27FC236}">
                <a16:creationId xmlns:a16="http://schemas.microsoft.com/office/drawing/2014/main" id="{E5A9E134-19FA-4D27-88D9-D9E7D8732B24}"/>
              </a:ext>
            </a:extLst>
          </p:cNvPr>
          <p:cNvSpPr>
            <a:spLocks xmlns:a="http://schemas.openxmlformats.org/drawingml/2006/main" noGrp="1"/>
          </p:cNvSpPr>
          <p:nvPr/>
        </p:nvSpPr>
        <p:spPr>
          <a:xfrm xmlns:a="http://schemas.openxmlformats.org/drawingml/2006/main">
            <a:off x="1047750" y="2714625"/>
            <a:ext cx="2095500" cy="685800"/>
          </a:xfrm>
          <a:prstGeom xmlns:a="http://schemas.openxmlformats.org/drawingml/2006/main" prst="roundRect">
            <a:avLst>
              <a:gd name="adj" fmla="val 9722"/>
            </a:avLst>
          </a:prstGeom>
          <a:solidFill xmlns:a="http://schemas.openxmlformats.org/drawingml/2006/main">
            <a:srgbClr val="E8F0EE"/>
          </a:solidFill>
          <a:ln xmlns:a="http://schemas.openxmlformats.org/drawingml/2006/main" w="14288">
            <a:solidFill>
              <a:srgbClr val="2D6F78"/>
            </a:solidFill>
            <a:prstDash val="solid"/>
          </a:ln>
        </p:spPr>
      </p:sp>
      <p:sp>
        <p:nvSpPr>
          <p:cNvPr id="17" name="sync-communities-a-title">
            <a:extLst xmlns:a="http://schemas.openxmlformats.org/drawingml/2006/main">
              <a:ext uri="{FF2B5EF4-FFF2-40B4-BE49-F238E27FC236}">
                <a16:creationId xmlns:a16="http://schemas.microsoft.com/office/drawing/2014/main" id="{E931B39E-C3D0-4276-9850-E38C30D7C2E3}"/>
              </a:ext>
            </a:extLst>
          </p:cNvPr>
          <p:cNvSpPr>
            <a:spLocks xmlns:a="http://schemas.openxmlformats.org/drawingml/2006/main" noGrp="1"/>
          </p:cNvSpPr>
          <p:nvPr/>
        </p:nvSpPr>
        <p:spPr>
          <a:xfrm xmlns:a="http://schemas.openxmlformats.org/drawingml/2006/main">
            <a:off x="1200150" y="283845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Code nodes</a:t>
            </a:r>
          </a:p>
        </p:txBody>
      </p:sp>
      <p:sp>
        <p:nvSpPr>
          <p:cNvPr id="18" name="sync-communities-a-subtitle">
            <a:extLst xmlns:a="http://schemas.openxmlformats.org/drawingml/2006/main">
              <a:ext uri="{FF2B5EF4-FFF2-40B4-BE49-F238E27FC236}">
                <a16:creationId xmlns:a16="http://schemas.microsoft.com/office/drawing/2014/main" id="{7986B965-34F5-49C2-88F8-985E2B9E646E}"/>
              </a:ext>
            </a:extLst>
          </p:cNvPr>
          <p:cNvSpPr>
            <a:spLocks xmlns:a="http://schemas.openxmlformats.org/drawingml/2006/main" noGrp="1"/>
          </p:cNvSpPr>
          <p:nvPr/>
        </p:nvSpPr>
        <p:spPr>
          <a:xfrm xmlns:a="http://schemas.openxmlformats.org/drawingml/2006/main">
            <a:off x="1200150" y="308610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repository scoped</a:t>
            </a:r>
          </a:p>
        </p:txBody>
      </p:sp>
      <p:sp>
        <p:nvSpPr>
          <p:cNvPr id="19" name="sync-communities-b">
            <a:extLst xmlns:a="http://schemas.openxmlformats.org/drawingml/2006/main">
              <a:ext uri="{FF2B5EF4-FFF2-40B4-BE49-F238E27FC236}">
                <a16:creationId xmlns:a16="http://schemas.microsoft.com/office/drawing/2014/main" id="{8D24DEAD-044E-4CE5-A4CC-1080F85BAC90}"/>
              </a:ext>
            </a:extLst>
          </p:cNvPr>
          <p:cNvSpPr>
            <a:spLocks xmlns:a="http://schemas.openxmlformats.org/drawingml/2006/main" noGrp="1"/>
          </p:cNvSpPr>
          <p:nvPr/>
        </p:nvSpPr>
        <p:spPr>
          <a:xfrm xmlns:a="http://schemas.openxmlformats.org/drawingml/2006/main">
            <a:off x="3524250" y="2714625"/>
            <a:ext cx="2095500" cy="685800"/>
          </a:xfrm>
          <a:prstGeom xmlns:a="http://schemas.openxmlformats.org/drawingml/2006/main" prst="roundRect">
            <a:avLst>
              <a:gd name="adj" fmla="val 9722"/>
            </a:avLst>
          </a:prstGeom>
          <a:solidFill xmlns:a="http://schemas.openxmlformats.org/drawingml/2006/main">
            <a:srgbClr val="FFFDF8"/>
          </a:solidFill>
          <a:ln xmlns:a="http://schemas.openxmlformats.org/drawingml/2006/main" w="14288">
            <a:solidFill>
              <a:srgbClr val="1D2A34"/>
            </a:solidFill>
            <a:prstDash val="solid"/>
          </a:ln>
        </p:spPr>
      </p:sp>
      <p:sp>
        <p:nvSpPr>
          <p:cNvPr id="20" name="sync-communities-b-title">
            <a:extLst xmlns:a="http://schemas.openxmlformats.org/drawingml/2006/main">
              <a:ext uri="{FF2B5EF4-FFF2-40B4-BE49-F238E27FC236}">
                <a16:creationId xmlns:a16="http://schemas.microsoft.com/office/drawing/2014/main" id="{5C91DB6D-3953-452B-AE95-53B6912A704C}"/>
              </a:ext>
            </a:extLst>
          </p:cNvPr>
          <p:cNvSpPr>
            <a:spLocks xmlns:a="http://schemas.openxmlformats.org/drawingml/2006/main" noGrp="1"/>
          </p:cNvSpPr>
          <p:nvPr/>
        </p:nvSpPr>
        <p:spPr>
          <a:xfrm xmlns:a="http://schemas.openxmlformats.org/drawingml/2006/main">
            <a:off x="3676650" y="283845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Directory groups</a:t>
            </a:r>
          </a:p>
        </p:txBody>
      </p:sp>
      <p:sp>
        <p:nvSpPr>
          <p:cNvPr id="21" name="sync-communities-b-subtitle">
            <a:extLst xmlns:a="http://schemas.openxmlformats.org/drawingml/2006/main">
              <a:ext uri="{FF2B5EF4-FFF2-40B4-BE49-F238E27FC236}">
                <a16:creationId xmlns:a16="http://schemas.microsoft.com/office/drawing/2014/main" id="{2DBF0509-E842-42FA-832F-DDF81AAEDD35}"/>
              </a:ext>
            </a:extLst>
          </p:cNvPr>
          <p:cNvSpPr>
            <a:spLocks xmlns:a="http://schemas.openxmlformats.org/drawingml/2006/main" noGrp="1"/>
          </p:cNvSpPr>
          <p:nvPr/>
        </p:nvSpPr>
        <p:spPr>
          <a:xfrm xmlns:a="http://schemas.openxmlformats.org/drawingml/2006/main">
            <a:off x="3676650" y="308610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deterministic partition</a:t>
            </a:r>
          </a:p>
        </p:txBody>
      </p:sp>
      <p:sp>
        <p:nvSpPr>
          <p:cNvPr id="22" name="sync-communities-c">
            <a:extLst xmlns:a="http://schemas.openxmlformats.org/drawingml/2006/main">
              <a:ext uri="{FF2B5EF4-FFF2-40B4-BE49-F238E27FC236}">
                <a16:creationId xmlns:a16="http://schemas.microsoft.com/office/drawing/2014/main" id="{15CC4BB7-523E-457A-83A7-975448438E12}"/>
              </a:ext>
            </a:extLst>
          </p:cNvPr>
          <p:cNvSpPr>
            <a:spLocks xmlns:a="http://schemas.openxmlformats.org/drawingml/2006/main" noGrp="1"/>
          </p:cNvSpPr>
          <p:nvPr/>
        </p:nvSpPr>
        <p:spPr>
          <a:xfrm xmlns:a="http://schemas.openxmlformats.org/drawingml/2006/main">
            <a:off x="6000750" y="2714625"/>
            <a:ext cx="2095500" cy="685800"/>
          </a:xfrm>
          <a:prstGeom xmlns:a="http://schemas.openxmlformats.org/drawingml/2006/main" prst="roundRect">
            <a:avLst>
              <a:gd name="adj" fmla="val 9722"/>
            </a:avLst>
          </a:prstGeom>
          <a:solidFill xmlns:a="http://schemas.openxmlformats.org/drawingml/2006/main">
            <a:srgbClr val="E3F0E6"/>
          </a:solidFill>
          <a:ln xmlns:a="http://schemas.openxmlformats.org/drawingml/2006/main" w="14288">
            <a:solidFill>
              <a:srgbClr val="3D6F58"/>
            </a:solidFill>
            <a:prstDash val="solid"/>
          </a:ln>
        </p:spPr>
      </p:sp>
      <p:sp>
        <p:nvSpPr>
          <p:cNvPr id="23" name="sync-communities-c-title">
            <a:extLst xmlns:a="http://schemas.openxmlformats.org/drawingml/2006/main">
              <a:ext uri="{FF2B5EF4-FFF2-40B4-BE49-F238E27FC236}">
                <a16:creationId xmlns:a16="http://schemas.microsoft.com/office/drawing/2014/main" id="{20ED8ABD-397A-4BD8-AC26-63607E5946F7}"/>
              </a:ext>
            </a:extLst>
          </p:cNvPr>
          <p:cNvSpPr>
            <a:spLocks xmlns:a="http://schemas.openxmlformats.org/drawingml/2006/main" noGrp="1"/>
          </p:cNvSpPr>
          <p:nvPr/>
        </p:nvSpPr>
        <p:spPr>
          <a:xfrm xmlns:a="http://schemas.openxmlformats.org/drawingml/2006/main">
            <a:off x="6153150" y="283845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Local summaries</a:t>
            </a:r>
          </a:p>
        </p:txBody>
      </p:sp>
      <p:sp>
        <p:nvSpPr>
          <p:cNvPr id="24" name="sync-communities-c-subtitle">
            <a:extLst xmlns:a="http://schemas.openxmlformats.org/drawingml/2006/main">
              <a:ext uri="{FF2B5EF4-FFF2-40B4-BE49-F238E27FC236}">
                <a16:creationId xmlns:a16="http://schemas.microsoft.com/office/drawing/2014/main" id="{B024ABAA-BA19-4AE4-854C-B79F09E5E3B6}"/>
              </a:ext>
            </a:extLst>
          </p:cNvPr>
          <p:cNvSpPr>
            <a:spLocks xmlns:a="http://schemas.openxmlformats.org/drawingml/2006/main" noGrp="1"/>
          </p:cNvSpPr>
          <p:nvPr/>
        </p:nvSpPr>
        <p:spPr>
          <a:xfrm xmlns:a="http://schemas.openxmlformats.org/drawingml/2006/main">
            <a:off x="6153150" y="308610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Ollama architectural report</a:t>
            </a:r>
          </a:p>
        </p:txBody>
      </p:sp>
      <p:sp>
        <p:nvSpPr>
          <p:cNvPr id="25" name="sync-communities-d">
            <a:extLst xmlns:a="http://schemas.openxmlformats.org/drawingml/2006/main">
              <a:ext uri="{FF2B5EF4-FFF2-40B4-BE49-F238E27FC236}">
                <a16:creationId xmlns:a16="http://schemas.microsoft.com/office/drawing/2014/main" id="{9DE6889D-E3A7-4E2C-8325-9A11C474A1EA}"/>
              </a:ext>
            </a:extLst>
          </p:cNvPr>
          <p:cNvSpPr>
            <a:spLocks xmlns:a="http://schemas.openxmlformats.org/drawingml/2006/main" noGrp="1"/>
          </p:cNvSpPr>
          <p:nvPr/>
        </p:nvSpPr>
        <p:spPr>
          <a:xfrm xmlns:a="http://schemas.openxmlformats.org/drawingml/2006/main">
            <a:off x="8477250" y="2714625"/>
            <a:ext cx="2381250" cy="685800"/>
          </a:xfrm>
          <a:prstGeom xmlns:a="http://schemas.openxmlformats.org/drawingml/2006/main" prst="roundRect">
            <a:avLst>
              <a:gd name="adj" fmla="val 9722"/>
            </a:avLst>
          </a:prstGeom>
          <a:solidFill xmlns:a="http://schemas.openxmlformats.org/drawingml/2006/main">
            <a:srgbClr val="E3F0E6"/>
          </a:solidFill>
          <a:ln xmlns:a="http://schemas.openxmlformats.org/drawingml/2006/main" w="14288">
            <a:solidFill>
              <a:srgbClr val="3D6F58"/>
            </a:solidFill>
            <a:prstDash val="solid"/>
          </a:ln>
        </p:spPr>
      </p:sp>
      <p:sp>
        <p:nvSpPr>
          <p:cNvPr id="26" name="sync-communities-d-title">
            <a:extLst xmlns:a="http://schemas.openxmlformats.org/drawingml/2006/main">
              <a:ext uri="{FF2B5EF4-FFF2-40B4-BE49-F238E27FC236}">
                <a16:creationId xmlns:a16="http://schemas.microsoft.com/office/drawing/2014/main" id="{F8E3ADE6-B014-4901-AEE8-445B1EEA1ECB}"/>
              </a:ext>
            </a:extLst>
          </p:cNvPr>
          <p:cNvSpPr>
            <a:spLocks xmlns:a="http://schemas.openxmlformats.org/drawingml/2006/main" noGrp="1"/>
          </p:cNvSpPr>
          <p:nvPr/>
        </p:nvSpPr>
        <p:spPr>
          <a:xfrm xmlns:a="http://schemas.openxmlformats.org/drawingml/2006/main">
            <a:off x="8629650" y="283845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Global retrieval</a:t>
            </a:r>
          </a:p>
        </p:txBody>
      </p:sp>
      <p:sp>
        <p:nvSpPr>
          <p:cNvPr id="27" name="sync-communities-d-subtitle">
            <a:extLst xmlns:a="http://schemas.openxmlformats.org/drawingml/2006/main">
              <a:ext uri="{FF2B5EF4-FFF2-40B4-BE49-F238E27FC236}">
                <a16:creationId xmlns:a16="http://schemas.microsoft.com/office/drawing/2014/main" id="{6EF4698F-3B27-45B8-8EA3-16E50E77600C}"/>
              </a:ext>
            </a:extLst>
          </p:cNvPr>
          <p:cNvSpPr>
            <a:spLocks xmlns:a="http://schemas.openxmlformats.org/drawingml/2006/main" noGrp="1"/>
          </p:cNvSpPr>
          <p:nvPr/>
        </p:nvSpPr>
        <p:spPr>
          <a:xfrm xmlns:a="http://schemas.openxmlformats.org/drawingml/2006/main">
            <a:off x="8629650" y="3086100"/>
            <a:ext cx="2076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community context</a:t>
            </a:r>
          </a:p>
        </p:txBody>
      </p:sp>
      <p:cxnSp>
        <p:nvCxnSpPr>
          <p:cNvPr id="174" name=""/>
          <p:cNvCxnSpPr>
            <a:stCxn xmlns:a="http://schemas.openxmlformats.org/drawingml/2006/main" id="19" idx="1"/>
            <a:endCxn xmlns:a="http://schemas.openxmlformats.org/drawingml/2006/main" id="16" idx="3"/>
          </p:cNvCxnSpPr>
          <p:nvPr/>
        </p:nvCxnSpPr>
        <p:spPr>
          <a:xfrm xmlns:a="http://schemas.openxmlformats.org/drawingml/2006/main" flipH="1">
            <a:off x="3143250" y="3057525"/>
            <a:ext cx="381000" cy="0"/>
          </a:xfrm>
          <a:prstGeom xmlns:a="http://schemas.openxmlformats.org/drawingml/2006/main" prst="straightConnector1">
            <a:avLst/>
          </a:prstGeom>
          <a:ln xmlns:a="http://schemas.openxmlformats.org/drawingml/2006/main" w="19050">
            <a:solidFill>
              <a:srgbClr val="71808A"/>
            </a:solidFill>
            <a:prstDash val="solid"/>
            <a:headEnd type="triangle" w="sm" len="sm"/>
          </a:ln>
        </p:spPr>
      </p:cxnSp>
      <p:cxnSp>
        <p:nvCxnSpPr>
          <p:cNvPr id="175" name=""/>
          <p:cNvCxnSpPr>
            <a:stCxn xmlns:a="http://schemas.openxmlformats.org/drawingml/2006/main" id="22" idx="1"/>
            <a:endCxn xmlns:a="http://schemas.openxmlformats.org/drawingml/2006/main" id="19" idx="3"/>
          </p:cNvCxnSpPr>
          <p:nvPr/>
        </p:nvCxnSpPr>
        <p:spPr>
          <a:xfrm xmlns:a="http://schemas.openxmlformats.org/drawingml/2006/main" flipH="1">
            <a:off x="5619750" y="3057525"/>
            <a:ext cx="381000" cy="0"/>
          </a:xfrm>
          <a:prstGeom xmlns:a="http://schemas.openxmlformats.org/drawingml/2006/main" prst="straightConnector1">
            <a:avLst/>
          </a:prstGeom>
          <a:ln xmlns:a="http://schemas.openxmlformats.org/drawingml/2006/main" w="19050">
            <a:solidFill>
              <a:srgbClr val="71808A"/>
            </a:solidFill>
            <a:prstDash val="solid"/>
            <a:headEnd type="triangle" w="sm" len="sm"/>
          </a:ln>
        </p:spPr>
      </p:cxnSp>
      <p:cxnSp>
        <p:nvCxnSpPr>
          <p:cNvPr id="176" name=""/>
          <p:cNvCxnSpPr>
            <a:stCxn xmlns:a="http://schemas.openxmlformats.org/drawingml/2006/main" id="25" idx="1"/>
            <a:endCxn xmlns:a="http://schemas.openxmlformats.org/drawingml/2006/main" id="22" idx="3"/>
          </p:cNvCxnSpPr>
          <p:nvPr/>
        </p:nvCxnSpPr>
        <p:spPr>
          <a:xfrm xmlns:a="http://schemas.openxmlformats.org/drawingml/2006/main" flipH="1">
            <a:off x="8096250" y="3057525"/>
            <a:ext cx="381000" cy="0"/>
          </a:xfrm>
          <a:prstGeom xmlns:a="http://schemas.openxmlformats.org/drawingml/2006/main" prst="straightConnector1">
            <a:avLst/>
          </a:prstGeom>
          <a:ln xmlns:a="http://schemas.openxmlformats.org/drawingml/2006/main" w="19050">
            <a:solidFill>
              <a:srgbClr val="71808A"/>
            </a:solidFill>
            <a:prstDash val="solid"/>
            <a:headEnd type="triangle" w="sm" len="sm"/>
          </a:ln>
        </p:spPr>
      </p:cxnSp>
      <p:sp>
        <p:nvSpPr>
          <p:cNvPr id="31" name="sync-communities-note">
            <a:extLst xmlns:a="http://schemas.openxmlformats.org/drawingml/2006/main">
              <a:ext uri="{FF2B5EF4-FFF2-40B4-BE49-F238E27FC236}">
                <a16:creationId xmlns:a16="http://schemas.microsoft.com/office/drawing/2014/main" id="{77E5B257-2B17-4DDD-B7AB-91A05D86B231}"/>
              </a:ext>
            </a:extLst>
          </p:cNvPr>
          <p:cNvSpPr>
            <a:spLocks xmlns:a="http://schemas.openxmlformats.org/drawingml/2006/main" noGrp="1"/>
          </p:cNvSpPr>
          <p:nvPr/>
        </p:nvSpPr>
        <p:spPr>
          <a:xfrm xmlns:a="http://schemas.openxmlformats.org/drawingml/2006/main">
            <a:off x="3524250" y="36671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repository + directory define identity</a:t>
            </a:r>
          </a:p>
        </p:txBody>
      </p:sp>
    </p:spTree>
    <p:extLst>
      <p:ext uri="{BB962C8B-B14F-4D97-AF65-F5344CB8AC3E}">
        <p14:creationId xmlns:p14="http://schemas.microsoft.com/office/powerpoint/2010/main" val="1108478774"/>
      </p:ext>
    </p:extLst>
  </p:cSld>
</p:sld>
</file>

<file path=ppt/slides/slide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23" name="kicker">
            <a:extLst xmlns:a="http://schemas.openxmlformats.org/drawingml/2006/main">
              <a:ext uri="{FF2B5EF4-FFF2-40B4-BE49-F238E27FC236}">
                <a16:creationId xmlns:a16="http://schemas.microsoft.com/office/drawing/2014/main" id="{A5868A68-6C20-4E00-8174-4E0A21AA7206}"/>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EVIDENCE REPRESENTATION  ·  06 / 15</a:t>
            </a:r>
          </a:p>
        </p:txBody>
      </p:sp>
      <p:sp>
        <p:nvSpPr>
          <p:cNvPr id="2" name="kicker-rule">
            <a:extLst xmlns:a="http://schemas.openxmlformats.org/drawingml/2006/main">
              <a:ext uri="{FF2B5EF4-FFF2-40B4-BE49-F238E27FC236}">
                <a16:creationId xmlns:a16="http://schemas.microsoft.com/office/drawing/2014/main" id="{C929F6AA-2878-4D17-AD99-6A7F4AF20EA8}"/>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70A6F030-8517-45DB-81A8-9D9171EB1F71}"/>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One function becomes two different kinds of evidence.</a:t>
            </a:r>
          </a:p>
        </p:txBody>
      </p:sp>
      <p:sp>
        <p:nvSpPr>
          <p:cNvPr id="4" name="running-case-core-06-label">
            <a:extLst xmlns:a="http://schemas.openxmlformats.org/drawingml/2006/main">
              <a:ext uri="{FF2B5EF4-FFF2-40B4-BE49-F238E27FC236}">
                <a16:creationId xmlns:a16="http://schemas.microsoft.com/office/drawing/2014/main" id="{576A1A4F-C902-4F9B-A077-C485339E5B0A}"/>
              </a:ext>
            </a:extLst>
          </p:cNvPr>
          <p:cNvSpPr>
            <a:spLocks xmlns:a="http://schemas.openxmlformats.org/drawingml/2006/main" noGrp="1"/>
          </p:cNvSpPr>
          <p:nvPr/>
        </p:nvSpPr>
        <p:spPr>
          <a:xfrm xmlns:a="http://schemas.openxmlformats.org/drawingml/2006/main">
            <a:off x="685800" y="161925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RUNNING CASE</a:t>
            </a:r>
          </a:p>
        </p:txBody>
      </p:sp>
      <p:sp>
        <p:nvSpPr>
          <p:cNvPr id="5" name="running-case-core-06-query">
            <a:extLst xmlns:a="http://schemas.openxmlformats.org/drawingml/2006/main">
              <a:ext uri="{FF2B5EF4-FFF2-40B4-BE49-F238E27FC236}">
                <a16:creationId xmlns:a16="http://schemas.microsoft.com/office/drawing/2014/main" id="{71D7723F-68B0-40F8-A77D-174DB6845A1E}"/>
              </a:ext>
            </a:extLst>
          </p:cNvPr>
          <p:cNvSpPr>
            <a:spLocks xmlns:a="http://schemas.openxmlformats.org/drawingml/2006/main" noGrp="1"/>
          </p:cNvSpPr>
          <p:nvPr/>
        </p:nvSpPr>
        <p:spPr>
          <a:xfrm xmlns:a="http://schemas.openxmlformats.org/drawingml/2006/main">
            <a:off x="2000250" y="1619250"/>
            <a:ext cx="2762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D6F58"/>
                </a:solidFill>
                <a:latin typeface="Aptos Mono"/>
                <a:ea typeface="Aptos Mono"/>
                <a:cs typeface="Aptos Mono"/>
              </a:defRPr>
            </a:pPr>
            <a:r>
              <a:rPr sz="825" b="1">
                <a:solidFill>
                  <a:srgbClr val="3D6F58"/>
                </a:solidFill>
                <a:latin typeface="Aptos Mono"/>
                <a:ea typeface="Aptos Mono"/>
                <a:cs typeface="Aptos Mono"/>
              </a:rPr>
              <a:t>BaseRetriever.retrieve</a:t>
            </a:r>
          </a:p>
        </p:txBody>
      </p:sp>
      <p:sp>
        <p:nvSpPr>
          <p:cNvPr id="6" name="running-case-core-06-stage">
            <a:extLst xmlns:a="http://schemas.openxmlformats.org/drawingml/2006/main">
              <a:ext uri="{FF2B5EF4-FFF2-40B4-BE49-F238E27FC236}">
                <a16:creationId xmlns:a16="http://schemas.microsoft.com/office/drawing/2014/main" id="{801CEF63-348B-4B4D-83F1-75140C2DB7C3}"/>
              </a:ext>
            </a:extLst>
          </p:cNvPr>
          <p:cNvSpPr>
            <a:spLocks xmlns:a="http://schemas.openxmlformats.org/drawingml/2006/main" noGrp="1"/>
          </p:cNvSpPr>
          <p:nvPr/>
        </p:nvSpPr>
        <p:spPr>
          <a:xfrm xmlns:a="http://schemas.openxmlformats.org/drawingml/2006/main">
            <a:off x="4857750" y="1619250"/>
            <a:ext cx="619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B65C3C"/>
                </a:solidFill>
                <a:latin typeface="Aptos"/>
                <a:ea typeface="Aptos"/>
                <a:cs typeface="Aptos"/>
              </a:defRPr>
            </a:pPr>
            <a:r>
              <a:rPr sz="825" b="1">
                <a:solidFill>
                  <a:srgbClr val="B65C3C"/>
                </a:solidFill>
                <a:latin typeface="Aptos"/>
                <a:ea typeface="Aptos"/>
                <a:cs typeface="Aptos"/>
              </a:rPr>
              <a:t>entity → graph + vector evidence</a:t>
            </a:r>
          </a:p>
        </p:txBody>
      </p:sp>
      <p:sp>
        <p:nvSpPr>
          <p:cNvPr id="7" name="graph-label">
            <a:extLst xmlns:a="http://schemas.openxmlformats.org/drawingml/2006/main">
              <a:ext uri="{FF2B5EF4-FFF2-40B4-BE49-F238E27FC236}">
                <a16:creationId xmlns:a16="http://schemas.microsoft.com/office/drawing/2014/main" id="{593BCFB7-4813-40BE-B6AC-9FD3C3737147}"/>
              </a:ext>
            </a:extLst>
          </p:cNvPr>
          <p:cNvSpPr>
            <a:spLocks xmlns:a="http://schemas.openxmlformats.org/drawingml/2006/main" noGrp="1"/>
          </p:cNvSpPr>
          <p:nvPr/>
        </p:nvSpPr>
        <p:spPr>
          <a:xfrm xmlns:a="http://schemas.openxmlformats.org/drawingml/2006/main">
            <a:off x="685800" y="19050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GRAPH · EXPLICIT STRUCTURE</a:t>
            </a:r>
          </a:p>
        </p:txBody>
      </p:sp>
      <p:sp>
        <p:nvSpPr>
          <p:cNvPr id="8" name="graph-evidence">
            <a:extLst xmlns:a="http://schemas.openxmlformats.org/drawingml/2006/main">
              <a:ext uri="{FF2B5EF4-FFF2-40B4-BE49-F238E27FC236}">
                <a16:creationId xmlns:a16="http://schemas.microsoft.com/office/drawing/2014/main" id="{2C92A6A8-A457-4DD0-8317-F472393985E2}"/>
              </a:ext>
            </a:extLst>
          </p:cNvPr>
          <p:cNvSpPr>
            <a:spLocks xmlns:a="http://schemas.openxmlformats.org/drawingml/2006/main" noGrp="1"/>
          </p:cNvSpPr>
          <p:nvPr/>
        </p:nvSpPr>
        <p:spPr>
          <a:xfrm xmlns:a="http://schemas.openxmlformats.org/drawingml/2006/main">
            <a:off x="685800" y="2286000"/>
            <a:ext cx="4000500" cy="1809750"/>
          </a:xfrm>
          <a:prstGeom xmlns:a="http://schemas.openxmlformats.org/drawingml/2006/main" prst="roundRect">
            <a:avLst>
              <a:gd name="adj" fmla="val 6316"/>
            </a:avLst>
          </a:prstGeom>
          <a:solidFill xmlns:a="http://schemas.openxmlformats.org/drawingml/2006/main">
            <a:srgbClr val="DCEBED"/>
          </a:solidFill>
          <a:ln xmlns:a="http://schemas.openxmlformats.org/drawingml/2006/main" w="9525">
            <a:solidFill>
              <a:srgbClr val="2D6F78"/>
            </a:solidFill>
            <a:prstDash val="solid"/>
          </a:ln>
        </p:spPr>
      </p:sp>
      <p:sp>
        <p:nvSpPr>
          <p:cNvPr id="9" name="graph-line-1">
            <a:extLst xmlns:a="http://schemas.openxmlformats.org/drawingml/2006/main">
              <a:ext uri="{FF2B5EF4-FFF2-40B4-BE49-F238E27FC236}">
                <a16:creationId xmlns:a16="http://schemas.microsoft.com/office/drawing/2014/main" id="{314301AA-B7E2-4B26-95FA-2D6ACB560FBE}"/>
              </a:ext>
            </a:extLst>
          </p:cNvPr>
          <p:cNvSpPr>
            <a:spLocks xmlns:a="http://schemas.openxmlformats.org/drawingml/2006/main" noGrp="1"/>
          </p:cNvSpPr>
          <p:nvPr/>
        </p:nvSpPr>
        <p:spPr>
          <a:xfrm xmlns:a="http://schemas.openxmlformats.org/drawingml/2006/main">
            <a:off x="971550" y="26479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D2A34"/>
                </a:solidFill>
                <a:latin typeface="Aptos"/>
                <a:ea typeface="Aptos"/>
                <a:cs typeface="Aptos"/>
              </a:defRPr>
            </a:pPr>
            <a:r>
              <a:rPr sz="1650" b="1">
                <a:solidFill>
                  <a:srgbClr val="1D2A34"/>
                </a:solidFill>
                <a:latin typeface="Aptos"/>
                <a:ea typeface="Aptos"/>
                <a:cs typeface="Aptos"/>
              </a:rPr>
              <a:t>module defines class</a:t>
            </a:r>
          </a:p>
        </p:txBody>
      </p:sp>
      <p:sp>
        <p:nvSpPr>
          <p:cNvPr id="10" name="graph-line-2">
            <a:extLst xmlns:a="http://schemas.openxmlformats.org/drawingml/2006/main">
              <a:ext uri="{FF2B5EF4-FFF2-40B4-BE49-F238E27FC236}">
                <a16:creationId xmlns:a16="http://schemas.microsoft.com/office/drawing/2014/main" id="{6D021032-A88F-4B0B-A7EC-FF07487FF331}"/>
              </a:ext>
            </a:extLst>
          </p:cNvPr>
          <p:cNvSpPr>
            <a:spLocks xmlns:a="http://schemas.openxmlformats.org/drawingml/2006/main" noGrp="1"/>
          </p:cNvSpPr>
          <p:nvPr/>
        </p:nvSpPr>
        <p:spPr>
          <a:xfrm xmlns:a="http://schemas.openxmlformats.org/drawingml/2006/main">
            <a:off x="971550" y="3105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D2A34"/>
                </a:solidFill>
                <a:latin typeface="Aptos"/>
                <a:ea typeface="Aptos"/>
                <a:cs typeface="Aptos"/>
              </a:defRPr>
            </a:pPr>
            <a:r>
              <a:rPr sz="1650" b="1">
                <a:solidFill>
                  <a:srgbClr val="1D2A34"/>
                </a:solidFill>
                <a:latin typeface="Aptos"/>
                <a:ea typeface="Aptos"/>
                <a:cs typeface="Aptos"/>
              </a:rPr>
              <a:t>class defines retrieve</a:t>
            </a:r>
          </a:p>
        </p:txBody>
      </p:sp>
      <p:sp>
        <p:nvSpPr>
          <p:cNvPr id="11" name="graph-line-3">
            <a:extLst xmlns:a="http://schemas.openxmlformats.org/drawingml/2006/main">
              <a:ext uri="{FF2B5EF4-FFF2-40B4-BE49-F238E27FC236}">
                <a16:creationId xmlns:a16="http://schemas.microsoft.com/office/drawing/2014/main" id="{CC20BC5E-4281-476C-899D-C1E305C0CD4E}"/>
              </a:ext>
            </a:extLst>
          </p:cNvPr>
          <p:cNvSpPr>
            <a:spLocks xmlns:a="http://schemas.openxmlformats.org/drawingml/2006/main" noGrp="1"/>
          </p:cNvSpPr>
          <p:nvPr/>
        </p:nvSpPr>
        <p:spPr>
          <a:xfrm xmlns:a="http://schemas.openxmlformats.org/drawingml/2006/main">
            <a:off x="971550" y="35623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D2A34"/>
                </a:solidFill>
                <a:latin typeface="Aptos"/>
                <a:ea typeface="Aptos"/>
                <a:cs typeface="Aptos"/>
              </a:defRPr>
            </a:pPr>
            <a:r>
              <a:rPr sz="1650" b="1">
                <a:solidFill>
                  <a:srgbClr val="1D2A34"/>
                </a:solidFill>
                <a:latin typeface="Aptos"/>
                <a:ea typeface="Aptos"/>
                <a:cs typeface="Aptos"/>
              </a:rPr>
              <a:t>retrieve calls _retrieve</a:t>
            </a:r>
          </a:p>
        </p:txBody>
      </p:sp>
      <p:sp>
        <p:nvSpPr>
          <p:cNvPr id="12" name="evidence-arrow">
            <a:extLst xmlns:a="http://schemas.openxmlformats.org/drawingml/2006/main">
              <a:ext uri="{FF2B5EF4-FFF2-40B4-BE49-F238E27FC236}">
                <a16:creationId xmlns:a16="http://schemas.microsoft.com/office/drawing/2014/main" id="{F8F84669-4FD7-4568-A68F-E116F22AA1F2}"/>
              </a:ext>
            </a:extLst>
          </p:cNvPr>
          <p:cNvSpPr>
            <a:spLocks xmlns:a="http://schemas.openxmlformats.org/drawingml/2006/main" noGrp="1"/>
          </p:cNvSpPr>
          <p:nvPr/>
        </p:nvSpPr>
        <p:spPr>
          <a:xfrm xmlns:a="http://schemas.openxmlformats.org/drawingml/2006/main">
            <a:off x="5029200" y="3105150"/>
            <a:ext cx="1066800" cy="190500"/>
          </a:xfrm>
          <a:prstGeom xmlns:a="http://schemas.openxmlformats.org/drawingml/2006/main" prst="rightArrow">
            <a:avLst/>
          </a:prstGeom>
          <a:solidFill xmlns:a="http://schemas.openxmlformats.org/drawingml/2006/main">
            <a:srgbClr val="B65C3C"/>
          </a:solidFill>
          <a:ln xmlns:a="http://schemas.openxmlformats.org/drawingml/2006/main" w="0">
            <a:solidFill>
              <a:srgbClr val="B65C3C"/>
            </a:solidFill>
            <a:prstDash val="solid"/>
          </a:ln>
        </p:spPr>
      </p:sp>
      <p:sp>
        <p:nvSpPr>
          <p:cNvPr id="13" name="vector-label">
            <a:extLst xmlns:a="http://schemas.openxmlformats.org/drawingml/2006/main">
              <a:ext uri="{FF2B5EF4-FFF2-40B4-BE49-F238E27FC236}">
                <a16:creationId xmlns:a16="http://schemas.microsoft.com/office/drawing/2014/main" id="{26572096-730F-468E-8E46-71107D997677}"/>
              </a:ext>
            </a:extLst>
          </p:cNvPr>
          <p:cNvSpPr>
            <a:spLocks xmlns:a="http://schemas.openxmlformats.org/drawingml/2006/main" noGrp="1"/>
          </p:cNvSpPr>
          <p:nvPr/>
        </p:nvSpPr>
        <p:spPr>
          <a:xfrm xmlns:a="http://schemas.openxmlformats.org/drawingml/2006/main">
            <a:off x="6858000" y="190500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B65C3C"/>
                </a:solidFill>
                <a:latin typeface="Aptos"/>
                <a:ea typeface="Aptos"/>
                <a:cs typeface="Aptos"/>
              </a:defRPr>
            </a:pPr>
            <a:r>
              <a:rPr sz="975" b="1">
                <a:solidFill>
                  <a:srgbClr val="B65C3C"/>
                </a:solidFill>
                <a:latin typeface="Aptos"/>
                <a:ea typeface="Aptos"/>
                <a:cs typeface="Aptos"/>
              </a:rPr>
              <a:t>VECTOR · SEMANTIC MEANING</a:t>
            </a:r>
          </a:p>
        </p:txBody>
      </p:sp>
      <p:sp>
        <p:nvSpPr>
          <p:cNvPr id="14" name="vector-evidence">
            <a:extLst xmlns:a="http://schemas.openxmlformats.org/drawingml/2006/main">
              <a:ext uri="{FF2B5EF4-FFF2-40B4-BE49-F238E27FC236}">
                <a16:creationId xmlns:a16="http://schemas.microsoft.com/office/drawing/2014/main" id="{F3A2A5CD-03D4-4EF8-9072-59A7A7CBB195}"/>
              </a:ext>
            </a:extLst>
          </p:cNvPr>
          <p:cNvSpPr>
            <a:spLocks xmlns:a="http://schemas.openxmlformats.org/drawingml/2006/main" noGrp="1"/>
          </p:cNvSpPr>
          <p:nvPr/>
        </p:nvSpPr>
        <p:spPr>
          <a:xfrm xmlns:a="http://schemas.openxmlformats.org/drawingml/2006/main">
            <a:off x="6858000" y="2286000"/>
            <a:ext cx="4000500" cy="1809750"/>
          </a:xfrm>
          <a:prstGeom xmlns:a="http://schemas.openxmlformats.org/drawingml/2006/main" prst="roundRect">
            <a:avLst>
              <a:gd name="adj" fmla="val 6316"/>
            </a:avLst>
          </a:prstGeom>
          <a:solidFill xmlns:a="http://schemas.openxmlformats.org/drawingml/2006/main">
            <a:srgbClr val="E6EEF5"/>
          </a:solidFill>
          <a:ln xmlns:a="http://schemas.openxmlformats.org/drawingml/2006/main" w="9525">
            <a:solidFill>
              <a:srgbClr val="B65C3C"/>
            </a:solidFill>
            <a:prstDash val="solid"/>
          </a:ln>
        </p:spPr>
      </p:sp>
      <p:sp>
        <p:nvSpPr>
          <p:cNvPr id="15" name="vector-line-1">
            <a:extLst xmlns:a="http://schemas.openxmlformats.org/drawingml/2006/main">
              <a:ext uri="{FF2B5EF4-FFF2-40B4-BE49-F238E27FC236}">
                <a16:creationId xmlns:a16="http://schemas.microsoft.com/office/drawing/2014/main" id="{B3CB063C-0A7C-4256-96EB-FC279164B305}"/>
              </a:ext>
            </a:extLst>
          </p:cNvPr>
          <p:cNvSpPr>
            <a:spLocks xmlns:a="http://schemas.openxmlformats.org/drawingml/2006/main" noGrp="1"/>
          </p:cNvSpPr>
          <p:nvPr/>
        </p:nvSpPr>
        <p:spPr>
          <a:xfrm xmlns:a="http://schemas.openxmlformats.org/drawingml/2006/main">
            <a:off x="7143750" y="26479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D2A34"/>
                </a:solidFill>
                <a:latin typeface="Aptos"/>
                <a:ea typeface="Aptos"/>
                <a:cs typeface="Aptos"/>
              </a:defRPr>
            </a:pPr>
            <a:r>
              <a:rPr sz="1650" b="1">
                <a:solidFill>
                  <a:srgbClr val="1D2A34"/>
                </a:solidFill>
                <a:latin typeface="Aptos"/>
                <a:ea typeface="Aptos"/>
                <a:cs typeface="Aptos"/>
              </a:rPr>
              <a:t>source chunk</a:t>
            </a:r>
          </a:p>
        </p:txBody>
      </p:sp>
      <p:sp>
        <p:nvSpPr>
          <p:cNvPr id="16" name="vector-line-2">
            <a:extLst xmlns:a="http://schemas.openxmlformats.org/drawingml/2006/main">
              <a:ext uri="{FF2B5EF4-FFF2-40B4-BE49-F238E27FC236}">
                <a16:creationId xmlns:a16="http://schemas.microsoft.com/office/drawing/2014/main" id="{E16C0FD8-D4B0-4FD6-A426-34F7FD16816B}"/>
              </a:ext>
            </a:extLst>
          </p:cNvPr>
          <p:cNvSpPr>
            <a:spLocks xmlns:a="http://schemas.openxmlformats.org/drawingml/2006/main" noGrp="1"/>
          </p:cNvSpPr>
          <p:nvPr/>
        </p:nvSpPr>
        <p:spPr>
          <a:xfrm xmlns:a="http://schemas.openxmlformats.org/drawingml/2006/main">
            <a:off x="7143750" y="3105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D2A34"/>
                </a:solidFill>
                <a:latin typeface="Aptos"/>
                <a:ea typeface="Aptos"/>
                <a:cs typeface="Aptos"/>
              </a:defRPr>
            </a:pPr>
            <a:r>
              <a:rPr sz="1650" b="1">
                <a:solidFill>
                  <a:srgbClr val="1D2A34"/>
                </a:solidFill>
                <a:latin typeface="Aptos"/>
                <a:ea typeface="Aptos"/>
                <a:cs typeface="Aptos"/>
              </a:rPr>
              <a:t>embedding</a:t>
            </a:r>
          </a:p>
        </p:txBody>
      </p:sp>
      <p:sp>
        <p:nvSpPr>
          <p:cNvPr id="17" name="vector-line-3">
            <a:extLst xmlns:a="http://schemas.openxmlformats.org/drawingml/2006/main">
              <a:ext uri="{FF2B5EF4-FFF2-40B4-BE49-F238E27FC236}">
                <a16:creationId xmlns:a16="http://schemas.microsoft.com/office/drawing/2014/main" id="{73232117-80DC-486B-90B3-0D76F8D4C971}"/>
              </a:ext>
            </a:extLst>
          </p:cNvPr>
          <p:cNvSpPr>
            <a:spLocks xmlns:a="http://schemas.openxmlformats.org/drawingml/2006/main" noGrp="1"/>
          </p:cNvSpPr>
          <p:nvPr/>
        </p:nvSpPr>
        <p:spPr>
          <a:xfrm xmlns:a="http://schemas.openxmlformats.org/drawingml/2006/main">
            <a:off x="7143750" y="35623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D2A34"/>
                </a:solidFill>
                <a:latin typeface="Aptos"/>
                <a:ea typeface="Aptos"/>
                <a:cs typeface="Aptos"/>
              </a:defRPr>
            </a:pPr>
            <a:r>
              <a:rPr sz="1650" b="1">
                <a:solidFill>
                  <a:srgbClr val="1D2A34"/>
                </a:solidFill>
                <a:latin typeface="Aptos"/>
                <a:ea typeface="Aptos"/>
                <a:cs typeface="Aptos"/>
              </a:rPr>
              <a:t>metadata + digest</a:t>
            </a:r>
          </a:p>
        </p:txBody>
      </p:sp>
      <p:sp>
        <p:nvSpPr>
          <p:cNvPr id="18" name="evidence-claim">
            <a:extLst xmlns:a="http://schemas.openxmlformats.org/drawingml/2006/main">
              <a:ext uri="{FF2B5EF4-FFF2-40B4-BE49-F238E27FC236}">
                <a16:creationId xmlns:a16="http://schemas.microsoft.com/office/drawing/2014/main" id="{5A20FDA8-E0EA-48D0-AC44-892C4177DB4B}"/>
              </a:ext>
            </a:extLst>
          </p:cNvPr>
          <p:cNvSpPr>
            <a:spLocks xmlns:a="http://schemas.openxmlformats.org/drawingml/2006/main" noGrp="1"/>
          </p:cNvSpPr>
          <p:nvPr/>
        </p:nvSpPr>
        <p:spPr>
          <a:xfrm xmlns:a="http://schemas.openxmlformats.org/drawingml/2006/main">
            <a:off x="685800" y="4762500"/>
            <a:ext cx="10172700" cy="666750"/>
          </a:xfrm>
          <a:prstGeom xmlns:a="http://schemas.openxmlformats.org/drawingml/2006/main" prst="roundRect">
            <a:avLst>
              <a:gd name="adj" fmla="val 11429"/>
            </a:avLst>
          </a:prstGeom>
          <a:solidFill xmlns:a="http://schemas.openxmlformats.org/drawingml/2006/main">
            <a:srgbClr val="FFFDF8"/>
          </a:solidFill>
          <a:ln xmlns:a="http://schemas.openxmlformats.org/drawingml/2006/main" w="9525">
            <a:solidFill>
              <a:srgbClr val="2D6F78"/>
            </a:solidFill>
            <a:prstDash val="solid"/>
          </a:ln>
        </p:spPr>
      </p:sp>
      <p:sp>
        <p:nvSpPr>
          <p:cNvPr id="19" name="evidence-claim-label">
            <a:extLst xmlns:a="http://schemas.openxmlformats.org/drawingml/2006/main">
              <a:ext uri="{FF2B5EF4-FFF2-40B4-BE49-F238E27FC236}">
                <a16:creationId xmlns:a16="http://schemas.microsoft.com/office/drawing/2014/main" id="{DA119DC0-F4C6-48DF-A300-6F48394965AF}"/>
              </a:ext>
            </a:extLst>
          </p:cNvPr>
          <p:cNvSpPr>
            <a:spLocks xmlns:a="http://schemas.openxmlformats.org/drawingml/2006/main" noGrp="1"/>
          </p:cNvSpPr>
          <p:nvPr/>
        </p:nvSpPr>
        <p:spPr>
          <a:xfrm xmlns:a="http://schemas.openxmlformats.org/drawingml/2006/main">
            <a:off x="952500" y="48958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20" name="evidence-claim-copy">
            <a:extLst xmlns:a="http://schemas.openxmlformats.org/drawingml/2006/main">
              <a:ext uri="{FF2B5EF4-FFF2-40B4-BE49-F238E27FC236}">
                <a16:creationId xmlns:a16="http://schemas.microsoft.com/office/drawing/2014/main" id="{A200A81D-CF4E-49E2-B818-4CFD9B8E677C}"/>
              </a:ext>
            </a:extLst>
          </p:cNvPr>
          <p:cNvSpPr>
            <a:spLocks xmlns:a="http://schemas.openxmlformats.org/drawingml/2006/main" noGrp="1"/>
          </p:cNvSpPr>
          <p:nvPr/>
        </p:nvSpPr>
        <p:spPr>
          <a:xfrm xmlns:a="http://schemas.openxmlformats.org/drawingml/2006/main">
            <a:off x="952500" y="4867275"/>
            <a:ext cx="962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D2A34"/>
                </a:solidFill>
                <a:latin typeface="Aptos"/>
                <a:ea typeface="Aptos"/>
                <a:cs typeface="Aptos"/>
              </a:defRPr>
            </a:pPr>
            <a:r>
              <a:rPr sz="1350" b="1">
                <a:solidFill>
                  <a:srgbClr val="1D2A34"/>
                </a:solidFill>
                <a:latin typeface="Aptos"/>
                <a:ea typeface="Aptos"/>
                <a:cs typeface="Aptos"/>
              </a:rPr>
              <a:t>Vector search finds the relevant neighborhood; graph traversal makes the execution relationships explicit.</a:t>
            </a:r>
          </a:p>
        </p:txBody>
      </p:sp>
      <p:sp>
        <p:nvSpPr>
          <p:cNvPr id="21" name="footer-label">
            <a:extLst xmlns:a="http://schemas.openxmlformats.org/drawingml/2006/main">
              <a:ext uri="{FF2B5EF4-FFF2-40B4-BE49-F238E27FC236}">
                <a16:creationId xmlns:a16="http://schemas.microsoft.com/office/drawing/2014/main" id="{25048456-75C2-4F70-8B5F-FCB93F05EDAC}"/>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06 / 15</a:t>
            </a:r>
          </a:p>
        </p:txBody>
      </p:sp>
      <p:sp>
        <p:nvSpPr>
          <p:cNvPr id="22" name="footer-number">
            <a:extLst xmlns:a="http://schemas.openxmlformats.org/drawingml/2006/main">
              <a:ext uri="{FF2B5EF4-FFF2-40B4-BE49-F238E27FC236}">
                <a16:creationId xmlns:a16="http://schemas.microsoft.com/office/drawing/2014/main" id="{B0BC5897-7F28-4CEE-BA19-848A2A198070}"/>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720940822"/>
      </p:ext>
    </p:extLst>
  </p:cSld>
</p:sld>
</file>

<file path=ppt/slides/slide10.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2A30715F-6FD7-4AAF-8CE6-1C42F066D567}"/>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GRAPH SCHEMA  ·  DETAIL  ·  04 / 13</a:t>
            </a:r>
          </a:p>
        </p:txBody>
      </p:sp>
      <p:sp>
        <p:nvSpPr>
          <p:cNvPr id="2" name="kicker-rule">
            <a:extLst xmlns:a="http://schemas.openxmlformats.org/drawingml/2006/main">
              <a:ext uri="{FF2B5EF4-FFF2-40B4-BE49-F238E27FC236}">
                <a16:creationId xmlns:a16="http://schemas.microsoft.com/office/drawing/2014/main" id="{B1E78784-F131-4597-AC31-A5769EC17E8C}"/>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057B2FFE-EACD-41ED-8C7A-34D7DE5C341F}"/>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The graph separates ownership from cross-code dependencies.</a:t>
            </a:r>
          </a:p>
        </p:txBody>
      </p:sp>
      <p:sp>
        <p:nvSpPr>
          <p:cNvPr id="4" name="depth-box-3">
            <a:extLst xmlns:a="http://schemas.openxmlformats.org/drawingml/2006/main">
              <a:ext uri="{FF2B5EF4-FFF2-40B4-BE49-F238E27FC236}">
                <a16:creationId xmlns:a16="http://schemas.microsoft.com/office/drawing/2014/main" id="{5267D67D-B703-4ECF-9626-CDA30B97CA32}"/>
              </a:ext>
            </a:extLst>
          </p:cNvPr>
          <p:cNvSpPr>
            <a:spLocks xmlns:a="http://schemas.openxmlformats.org/drawingml/2006/main" noGrp="1"/>
          </p:cNvSpPr>
          <p:nvPr/>
        </p:nvSpPr>
        <p:spPr>
          <a:xfrm xmlns:a="http://schemas.openxmlformats.org/drawingml/2006/main">
            <a:off x="685800" y="1981200"/>
            <a:ext cx="108204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9525">
            <a:solidFill>
              <a:srgbClr val="C9D1D1"/>
            </a:solidFill>
            <a:prstDash val="solid"/>
          </a:ln>
        </p:spPr>
      </p:sp>
      <p:sp>
        <p:nvSpPr>
          <p:cNvPr id="5" name="depth-label-3">
            <a:extLst xmlns:a="http://schemas.openxmlformats.org/drawingml/2006/main">
              <a:ext uri="{FF2B5EF4-FFF2-40B4-BE49-F238E27FC236}">
                <a16:creationId xmlns:a16="http://schemas.microsoft.com/office/drawing/2014/main" id="{86675811-5953-4E5C-8060-C6748082720B}"/>
              </a:ext>
            </a:extLst>
          </p:cNvPr>
          <p:cNvSpPr>
            <a:spLocks xmlns:a="http://schemas.openxmlformats.org/drawingml/2006/main" noGrp="1"/>
          </p:cNvSpPr>
          <p:nvPr/>
        </p:nvSpPr>
        <p:spPr>
          <a:xfrm xmlns:a="http://schemas.openxmlformats.org/drawingml/2006/main">
            <a:off x="990600" y="2286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EVIDENCE DETAIL</a:t>
            </a:r>
          </a:p>
        </p:txBody>
      </p:sp>
      <p:sp>
        <p:nvSpPr>
          <p:cNvPr id="6" name="depth-copy-3">
            <a:extLst xmlns:a="http://schemas.openxmlformats.org/drawingml/2006/main">
              <a:ext uri="{FF2B5EF4-FFF2-40B4-BE49-F238E27FC236}">
                <a16:creationId xmlns:a16="http://schemas.microsoft.com/office/drawing/2014/main" id="{502C6A05-1621-4D5F-8555-FD48CD125924}"/>
              </a:ext>
            </a:extLst>
          </p:cNvPr>
          <p:cNvSpPr>
            <a:spLocks xmlns:a="http://schemas.openxmlformats.org/drawingml/2006/main" noGrp="1"/>
          </p:cNvSpPr>
          <p:nvPr/>
        </p:nvSpPr>
        <p:spPr>
          <a:xfrm xmlns:a="http://schemas.openxmlformats.org/drawingml/2006/main">
            <a:off x="990600" y="2724150"/>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D2A34"/>
                </a:solidFill>
                <a:latin typeface="Aptos"/>
                <a:ea typeface="Aptos"/>
                <a:cs typeface="Aptos"/>
              </a:defRPr>
            </a:pPr>
            <a:r>
              <a:rPr sz="2100" b="1">
                <a:solidFill>
                  <a:srgbClr val="1D2A34"/>
                </a:solidFill>
                <a:latin typeface="Aptos"/>
                <a:ea typeface="Aptos"/>
                <a:cs typeface="Aptos"/>
              </a:rPr>
              <a:t>Directory → module → class → function ownership is distinct from calls, imports and inheritance.</a:t>
            </a:r>
          </a:p>
        </p:txBody>
      </p:sp>
      <p:sp>
        <p:nvSpPr>
          <p:cNvPr id="7" name="depth-rule-3">
            <a:extLst xmlns:a="http://schemas.openxmlformats.org/drawingml/2006/main">
              <a:ext uri="{FF2B5EF4-FFF2-40B4-BE49-F238E27FC236}">
                <a16:creationId xmlns:a16="http://schemas.microsoft.com/office/drawing/2014/main" id="{F17B1B39-D1B8-4DAB-B915-6AAC90F81C15}"/>
              </a:ext>
            </a:extLst>
          </p:cNvPr>
          <p:cNvSpPr>
            <a:spLocks xmlns:a="http://schemas.openxmlformats.org/drawingml/2006/main" noGrp="1"/>
          </p:cNvSpPr>
          <p:nvPr/>
        </p:nvSpPr>
        <p:spPr>
          <a:xfrm xmlns:a="http://schemas.openxmlformats.org/drawingml/2006/main">
            <a:off x="990600" y="3886200"/>
            <a:ext cx="923925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8" name="depth-source-3">
            <a:extLst xmlns:a="http://schemas.openxmlformats.org/drawingml/2006/main">
              <a:ext uri="{FF2B5EF4-FFF2-40B4-BE49-F238E27FC236}">
                <a16:creationId xmlns:a16="http://schemas.microsoft.com/office/drawing/2014/main" id="{E9B6EB15-1F8F-4A90-BED7-E1B69BA81920}"/>
              </a:ext>
            </a:extLst>
          </p:cNvPr>
          <p:cNvSpPr>
            <a:spLocks xmlns:a="http://schemas.openxmlformats.org/drawingml/2006/main" noGrp="1"/>
          </p:cNvSpPr>
          <p:nvPr/>
        </p:nvSpPr>
        <p:spPr>
          <a:xfrm xmlns:a="http://schemas.openxmlformats.org/drawingml/2006/main">
            <a:off x="990600" y="407670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Evidence boundary: src/hybrid_rag/ingestion/parser.py; docs/schema/kg-schema.md</a:t>
            </a:r>
          </a:p>
        </p:txBody>
      </p:sp>
      <p:sp>
        <p:nvSpPr>
          <p:cNvPr id="9" name="depth-callout-3">
            <a:extLst xmlns:a="http://schemas.openxmlformats.org/drawingml/2006/main">
              <a:ext uri="{FF2B5EF4-FFF2-40B4-BE49-F238E27FC236}">
                <a16:creationId xmlns:a16="http://schemas.microsoft.com/office/drawing/2014/main" id="{21745E5D-DCAE-4619-8EA4-5650C2126DFC}"/>
              </a:ext>
            </a:extLst>
          </p:cNvPr>
          <p:cNvSpPr>
            <a:spLocks xmlns:a="http://schemas.openxmlformats.org/drawingml/2006/main" noGrp="1"/>
          </p:cNvSpPr>
          <p:nvPr/>
        </p:nvSpPr>
        <p:spPr>
          <a:xfrm xmlns:a="http://schemas.openxmlformats.org/drawingml/2006/main">
            <a:off x="685800" y="4857750"/>
            <a:ext cx="108204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0" name="depth-callout-3-label">
            <a:extLst xmlns:a="http://schemas.openxmlformats.org/drawingml/2006/main">
              <a:ext uri="{FF2B5EF4-FFF2-40B4-BE49-F238E27FC236}">
                <a16:creationId xmlns:a16="http://schemas.microsoft.com/office/drawing/2014/main" id="{CABC9161-E087-414B-B83B-5468D270DED8}"/>
              </a:ext>
            </a:extLst>
          </p:cNvPr>
          <p:cNvSpPr>
            <a:spLocks xmlns:a="http://schemas.openxmlformats.org/drawingml/2006/main" noGrp="1"/>
          </p:cNvSpPr>
          <p:nvPr/>
        </p:nvSpPr>
        <p:spPr>
          <a:xfrm xmlns:a="http://schemas.openxmlformats.org/drawingml/2006/main">
            <a:off x="952500" y="49911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1" name="depth-callout-3-copy">
            <a:extLst xmlns:a="http://schemas.openxmlformats.org/drawingml/2006/main">
              <a:ext uri="{FF2B5EF4-FFF2-40B4-BE49-F238E27FC236}">
                <a16:creationId xmlns:a16="http://schemas.microsoft.com/office/drawing/2014/main" id="{8C21BB25-988F-40D3-AECF-2A7F134DFD95}"/>
              </a:ext>
            </a:extLst>
          </p:cNvPr>
          <p:cNvSpPr>
            <a:spLocks xmlns:a="http://schemas.openxmlformats.org/drawingml/2006/main" noGrp="1"/>
          </p:cNvSpPr>
          <p:nvPr/>
        </p:nvSpPr>
        <p:spPr>
          <a:xfrm xmlns:a="http://schemas.openxmlformats.org/drawingml/2006/main">
            <a:off x="952500" y="4962525"/>
            <a:ext cx="10267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The AST parser emits Module, Class and Function nodes; Variable is reserved compatibility metadata, not a normal emitted node.</a:t>
            </a:r>
          </a:p>
        </p:txBody>
      </p:sp>
      <p:sp>
        <p:nvSpPr>
          <p:cNvPr id="12" name="footer-label">
            <a:extLst xmlns:a="http://schemas.openxmlformats.org/drawingml/2006/main">
              <a:ext uri="{FF2B5EF4-FFF2-40B4-BE49-F238E27FC236}">
                <a16:creationId xmlns:a16="http://schemas.microsoft.com/office/drawing/2014/main" id="{8016BF50-6052-452C-A25B-4BE137067F0D}"/>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06 / 15 · DETAIL 1 / 2</a:t>
            </a:r>
          </a:p>
        </p:txBody>
      </p:sp>
      <p:sp>
        <p:nvSpPr>
          <p:cNvPr id="13" name="footer-number">
            <a:extLst xmlns:a="http://schemas.openxmlformats.org/drawingml/2006/main">
              <a:ext uri="{FF2B5EF4-FFF2-40B4-BE49-F238E27FC236}">
                <a16:creationId xmlns:a16="http://schemas.microsoft.com/office/drawing/2014/main" id="{4FF73686-E602-4CB4-8E0C-67FA7DD48BB7}"/>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SUPPORTING DETAIL</a:t>
            </a:r>
          </a:p>
        </p:txBody>
      </p:sp>
    </p:spTree>
    <p:extLst>
      <p:ext uri="{BB962C8B-B14F-4D97-AF65-F5344CB8AC3E}">
        <p14:creationId xmlns:p14="http://schemas.microsoft.com/office/powerpoint/2010/main" val="1643086282"/>
      </p:ext>
    </p:extLst>
  </p:cSld>
</p:sld>
</file>

<file path=ppt/slides/slide11.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F3094892-BB14-4035-9938-F24CC143673A}"/>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ENTITY RESOLUTION  ·  DETAIL  ·  05 / 13</a:t>
            </a:r>
          </a:p>
        </p:txBody>
      </p:sp>
      <p:sp>
        <p:nvSpPr>
          <p:cNvPr id="2" name="kicker-rule">
            <a:extLst xmlns:a="http://schemas.openxmlformats.org/drawingml/2006/main">
              <a:ext uri="{FF2B5EF4-FFF2-40B4-BE49-F238E27FC236}">
                <a16:creationId xmlns:a16="http://schemas.microsoft.com/office/drawing/2014/main" id="{A07216B1-C1D4-44AD-88B5-13535836A0F5}"/>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82BD5678-7152-4EA0-A898-B2EC89225846}"/>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Call targets are resolved conservatively, not guessed.</a:t>
            </a:r>
          </a:p>
        </p:txBody>
      </p:sp>
      <p:sp>
        <p:nvSpPr>
          <p:cNvPr id="4" name="depth-box-4">
            <a:extLst xmlns:a="http://schemas.openxmlformats.org/drawingml/2006/main">
              <a:ext uri="{FF2B5EF4-FFF2-40B4-BE49-F238E27FC236}">
                <a16:creationId xmlns:a16="http://schemas.microsoft.com/office/drawing/2014/main" id="{9A86A6D8-C6FF-47D9-B51B-E8E9683C311F}"/>
              </a:ext>
            </a:extLst>
          </p:cNvPr>
          <p:cNvSpPr>
            <a:spLocks xmlns:a="http://schemas.openxmlformats.org/drawingml/2006/main" noGrp="1"/>
          </p:cNvSpPr>
          <p:nvPr/>
        </p:nvSpPr>
        <p:spPr>
          <a:xfrm xmlns:a="http://schemas.openxmlformats.org/drawingml/2006/main">
            <a:off x="685800" y="1981200"/>
            <a:ext cx="108204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9525">
            <a:solidFill>
              <a:srgbClr val="C9D1D1"/>
            </a:solidFill>
            <a:prstDash val="solid"/>
          </a:ln>
        </p:spPr>
      </p:sp>
      <p:sp>
        <p:nvSpPr>
          <p:cNvPr id="5" name="depth-label-4">
            <a:extLst xmlns:a="http://schemas.openxmlformats.org/drawingml/2006/main">
              <a:ext uri="{FF2B5EF4-FFF2-40B4-BE49-F238E27FC236}">
                <a16:creationId xmlns:a16="http://schemas.microsoft.com/office/drawing/2014/main" id="{2150A187-E31B-4E3A-BDB4-8C3DE2AB09E8}"/>
              </a:ext>
            </a:extLst>
          </p:cNvPr>
          <p:cNvSpPr>
            <a:spLocks xmlns:a="http://schemas.openxmlformats.org/drawingml/2006/main" noGrp="1"/>
          </p:cNvSpPr>
          <p:nvPr/>
        </p:nvSpPr>
        <p:spPr>
          <a:xfrm xmlns:a="http://schemas.openxmlformats.org/drawingml/2006/main">
            <a:off x="990600" y="2286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
            </a:r>
          </a:p>
        </p:txBody>
      </p:sp>
      <p:sp>
        <p:nvSpPr>
          <p:cNvPr id="6" name="depth-copy-4">
            <a:extLst xmlns:a="http://schemas.openxmlformats.org/drawingml/2006/main">
              <a:ext uri="{FF2B5EF4-FFF2-40B4-BE49-F238E27FC236}">
                <a16:creationId xmlns:a16="http://schemas.microsoft.com/office/drawing/2014/main" id="{B9F6934D-FCE5-4B85-9057-65C60E242A8F}"/>
              </a:ext>
            </a:extLst>
          </p:cNvPr>
          <p:cNvSpPr>
            <a:spLocks xmlns:a="http://schemas.openxmlformats.org/drawingml/2006/main" noGrp="1"/>
          </p:cNvSpPr>
          <p:nvPr/>
        </p:nvSpPr>
        <p:spPr>
          <a:xfrm xmlns:a="http://schemas.openxmlformats.org/drawingml/2006/main">
            <a:off x="990600" y="2724150"/>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D2A34"/>
                </a:solidFill>
                <a:latin typeface="Aptos"/>
                <a:ea typeface="Aptos"/>
                <a:cs typeface="Aptos"/>
              </a:defRPr>
            </a:pPr>
            <a:r>
              <a:rPr sz="2100" b="1">
                <a:solidFill>
                  <a:srgbClr val="1D2A34"/>
                </a:solidFill>
                <a:latin typeface="Aptos"/>
                <a:ea typeface="Aptos"/>
                <a:cs typeface="Aptos"/>
              </a:rPr>
              <a:t/>
            </a:r>
          </a:p>
        </p:txBody>
      </p:sp>
      <p:sp>
        <p:nvSpPr>
          <p:cNvPr id="7" name="depth-rule-4">
            <a:extLst xmlns:a="http://schemas.openxmlformats.org/drawingml/2006/main">
              <a:ext uri="{FF2B5EF4-FFF2-40B4-BE49-F238E27FC236}">
                <a16:creationId xmlns:a16="http://schemas.microsoft.com/office/drawing/2014/main" id="{51039E8A-DB82-4D3E-9B47-3A4E761F2D8E}"/>
              </a:ext>
            </a:extLst>
          </p:cNvPr>
          <p:cNvSpPr>
            <a:spLocks xmlns:a="http://schemas.openxmlformats.org/drawingml/2006/main" noGrp="1"/>
          </p:cNvSpPr>
          <p:nvPr/>
        </p:nvSpPr>
        <p:spPr>
          <a:xfrm xmlns:a="http://schemas.openxmlformats.org/drawingml/2006/main">
            <a:off x="990600" y="3886200"/>
            <a:ext cx="9239250" cy="0"/>
          </a:xfrm>
          <a:prstGeom xmlns:a="http://schemas.openxmlformats.org/drawingml/2006/main" prst="line">
            <a:avLst/>
          </a:prstGeom>
          <a:noFill xmlns:a="http://schemas.openxmlformats.org/drawingml/2006/main"/>
          <a:ln xmlns:a="http://schemas.openxmlformats.org/drawingml/2006/main" w="0">
            <a:noFill/>
            <a:prstDash val="solid"/>
          </a:ln>
        </p:spPr>
      </p:sp>
      <p:sp>
        <p:nvSpPr>
          <p:cNvPr id="8" name="depth-source-4">
            <a:extLst xmlns:a="http://schemas.openxmlformats.org/drawingml/2006/main">
              <a:ext uri="{FF2B5EF4-FFF2-40B4-BE49-F238E27FC236}">
                <a16:creationId xmlns:a16="http://schemas.microsoft.com/office/drawing/2014/main" id="{9AA61490-85F2-4166-B8C1-7B01400A6C33}"/>
              </a:ext>
            </a:extLst>
          </p:cNvPr>
          <p:cNvSpPr>
            <a:spLocks xmlns:a="http://schemas.openxmlformats.org/drawingml/2006/main" noGrp="1"/>
          </p:cNvSpPr>
          <p:nvPr/>
        </p:nvSpPr>
        <p:spPr>
          <a:xfrm xmlns:a="http://schemas.openxmlformats.org/drawingml/2006/main">
            <a:off x="990600" y="407670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
            </a:r>
          </a:p>
        </p:txBody>
      </p:sp>
      <p:sp>
        <p:nvSpPr>
          <p:cNvPr id="9" name="depth-callout-4">
            <a:extLst xmlns:a="http://schemas.openxmlformats.org/drawingml/2006/main">
              <a:ext uri="{FF2B5EF4-FFF2-40B4-BE49-F238E27FC236}">
                <a16:creationId xmlns:a16="http://schemas.microsoft.com/office/drawing/2014/main" id="{3E27C7B3-1E79-4B03-ABD5-49618CEB58DE}"/>
              </a:ext>
            </a:extLst>
          </p:cNvPr>
          <p:cNvSpPr>
            <a:spLocks xmlns:a="http://schemas.openxmlformats.org/drawingml/2006/main" noGrp="1"/>
          </p:cNvSpPr>
          <p:nvPr/>
        </p:nvSpPr>
        <p:spPr>
          <a:xfrm xmlns:a="http://schemas.openxmlformats.org/drawingml/2006/main">
            <a:off x="685800" y="4857750"/>
            <a:ext cx="108204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0" name="depth-callout-4-label">
            <a:extLst xmlns:a="http://schemas.openxmlformats.org/drawingml/2006/main">
              <a:ext uri="{FF2B5EF4-FFF2-40B4-BE49-F238E27FC236}">
                <a16:creationId xmlns:a16="http://schemas.microsoft.com/office/drawing/2014/main" id="{F6F8ECE9-D01C-45A6-8AD6-5FC2D7CBAA55}"/>
              </a:ext>
            </a:extLst>
          </p:cNvPr>
          <p:cNvSpPr>
            <a:spLocks xmlns:a="http://schemas.openxmlformats.org/drawingml/2006/main" noGrp="1"/>
          </p:cNvSpPr>
          <p:nvPr/>
        </p:nvSpPr>
        <p:spPr>
          <a:xfrm xmlns:a="http://schemas.openxmlformats.org/drawingml/2006/main">
            <a:off x="952500" y="49911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1" name="depth-callout-4-copy">
            <a:extLst xmlns:a="http://schemas.openxmlformats.org/drawingml/2006/main">
              <a:ext uri="{FF2B5EF4-FFF2-40B4-BE49-F238E27FC236}">
                <a16:creationId xmlns:a16="http://schemas.microsoft.com/office/drawing/2014/main" id="{4F42CCC8-3B12-422E-9CDA-9B941ACDF87B}"/>
              </a:ext>
            </a:extLst>
          </p:cNvPr>
          <p:cNvSpPr>
            <a:spLocks xmlns:a="http://schemas.openxmlformats.org/drawingml/2006/main" noGrp="1"/>
          </p:cNvSpPr>
          <p:nvPr/>
        </p:nvSpPr>
        <p:spPr>
          <a:xfrm xmlns:a="http://schemas.openxmlformats.org/drawingml/2006/main">
            <a:off x="952500" y="4962525"/>
            <a:ext cx="10267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Ambiguity remains visible and repository-namespaced instead of creating an arbitrary CALLS edge.</a:t>
            </a:r>
          </a:p>
        </p:txBody>
      </p:sp>
      <p:sp>
        <p:nvSpPr>
          <p:cNvPr id="12" name="footer-label">
            <a:extLst xmlns:a="http://schemas.openxmlformats.org/drawingml/2006/main">
              <a:ext uri="{FF2B5EF4-FFF2-40B4-BE49-F238E27FC236}">
                <a16:creationId xmlns:a16="http://schemas.microsoft.com/office/drawing/2014/main" id="{A22B76C3-0934-4F5A-833E-3DC623B271CB}"/>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06 / 15 · DETAIL 2 / 2</a:t>
            </a:r>
          </a:p>
        </p:txBody>
      </p:sp>
      <p:sp>
        <p:nvSpPr>
          <p:cNvPr id="13" name="footer-number">
            <a:extLst xmlns:a="http://schemas.openxmlformats.org/drawingml/2006/main">
              <a:ext uri="{FF2B5EF4-FFF2-40B4-BE49-F238E27FC236}">
                <a16:creationId xmlns:a16="http://schemas.microsoft.com/office/drawing/2014/main" id="{5BE93DD6-EFF4-4007-8E3F-CE5418C6CEDD}"/>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SUPPORTING DETAIL</a:t>
            </a:r>
          </a:p>
        </p:txBody>
      </p:sp>
      <p:sp>
        <p:nvSpPr>
          <p:cNvPr id="15" name="sync-resolution-container">
            <a:extLst xmlns:a="http://schemas.openxmlformats.org/drawingml/2006/main">
              <a:ext uri="{FF2B5EF4-FFF2-40B4-BE49-F238E27FC236}">
                <a16:creationId xmlns:a16="http://schemas.microsoft.com/office/drawing/2014/main" id="{BD64D88F-6FEC-49D4-997F-34BA272771DD}"/>
              </a:ext>
            </a:extLst>
          </p:cNvPr>
          <p:cNvSpPr>
            <a:spLocks xmlns:a="http://schemas.openxmlformats.org/drawingml/2006/main" noGrp="1"/>
          </p:cNvSpPr>
          <p:nvPr/>
        </p:nvSpPr>
        <p:spPr>
          <a:xfrm xmlns:a="http://schemas.openxmlformats.org/drawingml/2006/main">
            <a:off x="990600" y="22098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2D6F78"/>
                </a:solidFill>
              </a:defRPr>
            </a:pPr>
            <a:r>
              <a:rPr sz="900" b="1">
                <a:solidFill>
                  <a:srgbClr val="2D6F78"/>
                </a:solidFill>
              </a:rPr>
              <a:t>RESOLUTION</a:t>
            </a:r>
          </a:p>
        </p:txBody>
      </p:sp>
      <p:sp>
        <p:nvSpPr>
          <p:cNvPr id="16" name="sync-resolution-a">
            <a:extLst xmlns:a="http://schemas.openxmlformats.org/drawingml/2006/main">
              <a:ext uri="{FF2B5EF4-FFF2-40B4-BE49-F238E27FC236}">
                <a16:creationId xmlns:a16="http://schemas.microsoft.com/office/drawing/2014/main" id="{072D3033-5249-40F3-8173-CD658E3CD9F1}"/>
              </a:ext>
            </a:extLst>
          </p:cNvPr>
          <p:cNvSpPr>
            <a:spLocks xmlns:a="http://schemas.openxmlformats.org/drawingml/2006/main" noGrp="1"/>
          </p:cNvSpPr>
          <p:nvPr/>
        </p:nvSpPr>
        <p:spPr>
          <a:xfrm xmlns:a="http://schemas.openxmlformats.org/drawingml/2006/main">
            <a:off x="1000125" y="2714625"/>
            <a:ext cx="1571625" cy="685800"/>
          </a:xfrm>
          <a:prstGeom xmlns:a="http://schemas.openxmlformats.org/drawingml/2006/main" prst="roundRect">
            <a:avLst>
              <a:gd name="adj" fmla="val 9722"/>
            </a:avLst>
          </a:prstGeom>
          <a:solidFill xmlns:a="http://schemas.openxmlformats.org/drawingml/2006/main">
            <a:srgbClr val="E8F0EE"/>
          </a:solidFill>
          <a:ln xmlns:a="http://schemas.openxmlformats.org/drawingml/2006/main" w="14288">
            <a:solidFill>
              <a:srgbClr val="2D6F78"/>
            </a:solidFill>
            <a:prstDash val="solid"/>
          </a:ln>
        </p:spPr>
      </p:sp>
      <p:sp>
        <p:nvSpPr>
          <p:cNvPr id="17" name="sync-resolution-a-title">
            <a:extLst xmlns:a="http://schemas.openxmlformats.org/drawingml/2006/main">
              <a:ext uri="{FF2B5EF4-FFF2-40B4-BE49-F238E27FC236}">
                <a16:creationId xmlns:a16="http://schemas.microsoft.com/office/drawing/2014/main" id="{70F68F04-4672-48C5-BF3A-07674C36D2DA}"/>
              </a:ext>
            </a:extLst>
          </p:cNvPr>
          <p:cNvSpPr>
            <a:spLocks xmlns:a="http://schemas.openxmlformats.org/drawingml/2006/main" noGrp="1"/>
          </p:cNvSpPr>
          <p:nvPr/>
        </p:nvSpPr>
        <p:spPr>
          <a:xfrm xmlns:a="http://schemas.openxmlformats.org/drawingml/2006/main">
            <a:off x="1152525" y="2838450"/>
            <a:ext cx="1266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Call stub</a:t>
            </a:r>
          </a:p>
        </p:txBody>
      </p:sp>
      <p:sp>
        <p:nvSpPr>
          <p:cNvPr id="18" name="sync-resolution-a-subtitle">
            <a:extLst xmlns:a="http://schemas.openxmlformats.org/drawingml/2006/main">
              <a:ext uri="{FF2B5EF4-FFF2-40B4-BE49-F238E27FC236}">
                <a16:creationId xmlns:a16="http://schemas.microsoft.com/office/drawing/2014/main" id="{1C18AEF6-59F3-40AF-BB09-B71C904F81EC}"/>
              </a:ext>
            </a:extLst>
          </p:cNvPr>
          <p:cNvSpPr>
            <a:spLocks xmlns:a="http://schemas.openxmlformats.org/drawingml/2006/main" noGrp="1"/>
          </p:cNvSpPr>
          <p:nvPr/>
        </p:nvSpPr>
        <p:spPr>
          <a:xfrm xmlns:a="http://schemas.openxmlformats.org/drawingml/2006/main">
            <a:off x="1152525" y="3086100"/>
            <a:ext cx="1266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bare · self · cls</a:t>
            </a:r>
          </a:p>
        </p:txBody>
      </p:sp>
      <p:sp>
        <p:nvSpPr>
          <p:cNvPr id="19" name="sync-resolution-b">
            <a:extLst xmlns:a="http://schemas.openxmlformats.org/drawingml/2006/main">
              <a:ext uri="{FF2B5EF4-FFF2-40B4-BE49-F238E27FC236}">
                <a16:creationId xmlns:a16="http://schemas.microsoft.com/office/drawing/2014/main" id="{0FFB97C7-3D7E-4331-BCF6-DFD75F0300BD}"/>
              </a:ext>
            </a:extLst>
          </p:cNvPr>
          <p:cNvSpPr>
            <a:spLocks xmlns:a="http://schemas.openxmlformats.org/drawingml/2006/main" noGrp="1"/>
          </p:cNvSpPr>
          <p:nvPr/>
        </p:nvSpPr>
        <p:spPr>
          <a:xfrm xmlns:a="http://schemas.openxmlformats.org/drawingml/2006/main">
            <a:off x="2857500" y="2714625"/>
            <a:ext cx="1714500" cy="685800"/>
          </a:xfrm>
          <a:prstGeom xmlns:a="http://schemas.openxmlformats.org/drawingml/2006/main" prst="roundRect">
            <a:avLst>
              <a:gd name="adj" fmla="val 9722"/>
            </a:avLst>
          </a:prstGeom>
          <a:solidFill xmlns:a="http://schemas.openxmlformats.org/drawingml/2006/main">
            <a:srgbClr val="FFFDF8"/>
          </a:solidFill>
          <a:ln xmlns:a="http://schemas.openxmlformats.org/drawingml/2006/main" w="14288">
            <a:solidFill>
              <a:srgbClr val="1D2A34"/>
            </a:solidFill>
            <a:prstDash val="solid"/>
          </a:ln>
        </p:spPr>
      </p:sp>
      <p:sp>
        <p:nvSpPr>
          <p:cNvPr id="20" name="sync-resolution-b-title">
            <a:extLst xmlns:a="http://schemas.openxmlformats.org/drawingml/2006/main">
              <a:ext uri="{FF2B5EF4-FFF2-40B4-BE49-F238E27FC236}">
                <a16:creationId xmlns:a16="http://schemas.microsoft.com/office/drawing/2014/main" id="{18FDB97C-1505-42EB-8C02-94D2D6B8C847}"/>
              </a:ext>
            </a:extLst>
          </p:cNvPr>
          <p:cNvSpPr>
            <a:spLocks xmlns:a="http://schemas.openxmlformats.org/drawingml/2006/main" noGrp="1"/>
          </p:cNvSpPr>
          <p:nvPr/>
        </p:nvSpPr>
        <p:spPr>
          <a:xfrm xmlns:a="http://schemas.openxmlformats.org/drawingml/2006/main">
            <a:off x="3009900" y="28384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Same class</a:t>
            </a:r>
          </a:p>
        </p:txBody>
      </p:sp>
      <p:sp>
        <p:nvSpPr>
          <p:cNvPr id="21" name="sync-resolution-b-subtitle">
            <a:extLst xmlns:a="http://schemas.openxmlformats.org/drawingml/2006/main">
              <a:ext uri="{FF2B5EF4-FFF2-40B4-BE49-F238E27FC236}">
                <a16:creationId xmlns:a16="http://schemas.microsoft.com/office/drawing/2014/main" id="{5D66BEB7-28D7-4AB5-94E5-E43308384954}"/>
              </a:ext>
            </a:extLst>
          </p:cNvPr>
          <p:cNvSpPr>
            <a:spLocks xmlns:a="http://schemas.openxmlformats.org/drawingml/2006/main" noGrp="1"/>
          </p:cNvSpPr>
          <p:nvPr/>
        </p:nvSpPr>
        <p:spPr>
          <a:xfrm xmlns:a="http://schemas.openxmlformats.org/drawingml/2006/main">
            <a:off x="3009900" y="308610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method match</a:t>
            </a:r>
          </a:p>
        </p:txBody>
      </p:sp>
      <p:sp>
        <p:nvSpPr>
          <p:cNvPr id="22" name="sync-resolution-c">
            <a:extLst xmlns:a="http://schemas.openxmlformats.org/drawingml/2006/main">
              <a:ext uri="{FF2B5EF4-FFF2-40B4-BE49-F238E27FC236}">
                <a16:creationId xmlns:a16="http://schemas.microsoft.com/office/drawing/2014/main" id="{723DCDD7-322F-45C6-9F70-892113D9926A}"/>
              </a:ext>
            </a:extLst>
          </p:cNvPr>
          <p:cNvSpPr>
            <a:spLocks xmlns:a="http://schemas.openxmlformats.org/drawingml/2006/main" noGrp="1"/>
          </p:cNvSpPr>
          <p:nvPr/>
        </p:nvSpPr>
        <p:spPr>
          <a:xfrm xmlns:a="http://schemas.openxmlformats.org/drawingml/2006/main">
            <a:off x="4857750" y="2714625"/>
            <a:ext cx="1714500" cy="685800"/>
          </a:xfrm>
          <a:prstGeom xmlns:a="http://schemas.openxmlformats.org/drawingml/2006/main" prst="roundRect">
            <a:avLst>
              <a:gd name="adj" fmla="val 9722"/>
            </a:avLst>
          </a:prstGeom>
          <a:solidFill xmlns:a="http://schemas.openxmlformats.org/drawingml/2006/main">
            <a:srgbClr val="FFFDF8"/>
          </a:solidFill>
          <a:ln xmlns:a="http://schemas.openxmlformats.org/drawingml/2006/main" w="14288">
            <a:solidFill>
              <a:srgbClr val="1D2A34"/>
            </a:solidFill>
            <a:prstDash val="solid"/>
          </a:ln>
        </p:spPr>
      </p:sp>
      <p:sp>
        <p:nvSpPr>
          <p:cNvPr id="23" name="sync-resolution-c-title">
            <a:extLst xmlns:a="http://schemas.openxmlformats.org/drawingml/2006/main">
              <a:ext uri="{FF2B5EF4-FFF2-40B4-BE49-F238E27FC236}">
                <a16:creationId xmlns:a16="http://schemas.microsoft.com/office/drawing/2014/main" id="{376CAB78-15DB-49CB-AF47-73AE8B93BC6C}"/>
              </a:ext>
            </a:extLst>
          </p:cNvPr>
          <p:cNvSpPr>
            <a:spLocks xmlns:a="http://schemas.openxmlformats.org/drawingml/2006/main" noGrp="1"/>
          </p:cNvSpPr>
          <p:nvPr/>
        </p:nvSpPr>
        <p:spPr>
          <a:xfrm xmlns:a="http://schemas.openxmlformats.org/drawingml/2006/main">
            <a:off x="5010150" y="28384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Same module</a:t>
            </a:r>
          </a:p>
        </p:txBody>
      </p:sp>
      <p:sp>
        <p:nvSpPr>
          <p:cNvPr id="24" name="sync-resolution-c-subtitle">
            <a:extLst xmlns:a="http://schemas.openxmlformats.org/drawingml/2006/main">
              <a:ext uri="{FF2B5EF4-FFF2-40B4-BE49-F238E27FC236}">
                <a16:creationId xmlns:a16="http://schemas.microsoft.com/office/drawing/2014/main" id="{48894CD6-58B5-4038-A0CA-5CF2757678CC}"/>
              </a:ext>
            </a:extLst>
          </p:cNvPr>
          <p:cNvSpPr>
            <a:spLocks xmlns:a="http://schemas.openxmlformats.org/drawingml/2006/main" noGrp="1"/>
          </p:cNvSpPr>
          <p:nvPr/>
        </p:nvSpPr>
        <p:spPr>
          <a:xfrm xmlns:a="http://schemas.openxmlformats.org/drawingml/2006/main">
            <a:off x="5010150" y="308610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module function</a:t>
            </a:r>
          </a:p>
        </p:txBody>
      </p:sp>
      <p:sp>
        <p:nvSpPr>
          <p:cNvPr id="25" name="sync-resolution-d">
            <a:extLst xmlns:a="http://schemas.openxmlformats.org/drawingml/2006/main">
              <a:ext uri="{FF2B5EF4-FFF2-40B4-BE49-F238E27FC236}">
                <a16:creationId xmlns:a16="http://schemas.microsoft.com/office/drawing/2014/main" id="{3B81BF14-CE53-491E-8ADB-401C55F8ED35}"/>
              </a:ext>
            </a:extLst>
          </p:cNvPr>
          <p:cNvSpPr>
            <a:spLocks xmlns:a="http://schemas.openxmlformats.org/drawingml/2006/main" noGrp="1"/>
          </p:cNvSpPr>
          <p:nvPr/>
        </p:nvSpPr>
        <p:spPr>
          <a:xfrm xmlns:a="http://schemas.openxmlformats.org/drawingml/2006/main">
            <a:off x="6858000" y="2714625"/>
            <a:ext cx="1809750" cy="685800"/>
          </a:xfrm>
          <a:prstGeom xmlns:a="http://schemas.openxmlformats.org/drawingml/2006/main" prst="roundRect">
            <a:avLst>
              <a:gd name="adj" fmla="val 9722"/>
            </a:avLst>
          </a:prstGeom>
          <a:solidFill xmlns:a="http://schemas.openxmlformats.org/drawingml/2006/main">
            <a:srgbClr val="FFFDF8"/>
          </a:solidFill>
          <a:ln xmlns:a="http://schemas.openxmlformats.org/drawingml/2006/main" w="14288">
            <a:solidFill>
              <a:srgbClr val="1D2A34"/>
            </a:solidFill>
            <a:prstDash val="solid"/>
          </a:ln>
        </p:spPr>
      </p:sp>
      <p:sp>
        <p:nvSpPr>
          <p:cNvPr id="26" name="sync-resolution-d-title">
            <a:extLst xmlns:a="http://schemas.openxmlformats.org/drawingml/2006/main">
              <a:ext uri="{FF2B5EF4-FFF2-40B4-BE49-F238E27FC236}">
                <a16:creationId xmlns:a16="http://schemas.microsoft.com/office/drawing/2014/main" id="{A2E9FD88-354A-4A90-861B-E3D50F9322B6}"/>
              </a:ext>
            </a:extLst>
          </p:cNvPr>
          <p:cNvSpPr>
            <a:spLocks xmlns:a="http://schemas.openxmlformats.org/drawingml/2006/main" noGrp="1"/>
          </p:cNvSpPr>
          <p:nvPr/>
        </p:nvSpPr>
        <p:spPr>
          <a:xfrm xmlns:a="http://schemas.openxmlformats.org/drawingml/2006/main">
            <a:off x="7010400" y="2838450"/>
            <a:ext cx="1504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Candidate lookup</a:t>
            </a:r>
          </a:p>
        </p:txBody>
      </p:sp>
      <p:sp>
        <p:nvSpPr>
          <p:cNvPr id="27" name="sync-resolution-d-subtitle">
            <a:extLst xmlns:a="http://schemas.openxmlformats.org/drawingml/2006/main">
              <a:ext uri="{FF2B5EF4-FFF2-40B4-BE49-F238E27FC236}">
                <a16:creationId xmlns:a16="http://schemas.microsoft.com/office/drawing/2014/main" id="{30358725-AF79-430C-9F85-5DA10111E84C}"/>
              </a:ext>
            </a:extLst>
          </p:cNvPr>
          <p:cNvSpPr>
            <a:spLocks xmlns:a="http://schemas.openxmlformats.org/drawingml/2006/main" noGrp="1"/>
          </p:cNvSpPr>
          <p:nvPr/>
        </p:nvSpPr>
        <p:spPr>
          <a:xfrm xmlns:a="http://schemas.openxmlformats.org/drawingml/2006/main">
            <a:off x="7010400" y="3086100"/>
            <a:ext cx="1504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import / graph scope</a:t>
            </a:r>
          </a:p>
        </p:txBody>
      </p:sp>
      <p:sp>
        <p:nvSpPr>
          <p:cNvPr id="28" name="sync-resolution-unique">
            <a:extLst xmlns:a="http://schemas.openxmlformats.org/drawingml/2006/main">
              <a:ext uri="{FF2B5EF4-FFF2-40B4-BE49-F238E27FC236}">
                <a16:creationId xmlns:a16="http://schemas.microsoft.com/office/drawing/2014/main" id="{BB093FDA-D937-4590-A14F-8B24AC57CDD8}"/>
              </a:ext>
            </a:extLst>
          </p:cNvPr>
          <p:cNvSpPr>
            <a:spLocks xmlns:a="http://schemas.openxmlformats.org/drawingml/2006/main" noGrp="1"/>
          </p:cNvSpPr>
          <p:nvPr/>
        </p:nvSpPr>
        <p:spPr>
          <a:xfrm xmlns:a="http://schemas.openxmlformats.org/drawingml/2006/main">
            <a:off x="9334500" y="2286000"/>
            <a:ext cx="1666875" cy="609600"/>
          </a:xfrm>
          <a:prstGeom xmlns:a="http://schemas.openxmlformats.org/drawingml/2006/main" prst="roundRect">
            <a:avLst>
              <a:gd name="adj" fmla="val 10938"/>
            </a:avLst>
          </a:prstGeom>
          <a:solidFill xmlns:a="http://schemas.openxmlformats.org/drawingml/2006/main">
            <a:srgbClr val="E3F0E6"/>
          </a:solidFill>
          <a:ln xmlns:a="http://schemas.openxmlformats.org/drawingml/2006/main" w="14288">
            <a:solidFill>
              <a:srgbClr val="3D6F58"/>
            </a:solidFill>
            <a:prstDash val="solid"/>
          </a:ln>
        </p:spPr>
      </p:sp>
      <p:sp>
        <p:nvSpPr>
          <p:cNvPr id="29" name="sync-resolution-unique-title">
            <a:extLst xmlns:a="http://schemas.openxmlformats.org/drawingml/2006/main">
              <a:ext uri="{FF2B5EF4-FFF2-40B4-BE49-F238E27FC236}">
                <a16:creationId xmlns:a16="http://schemas.microsoft.com/office/drawing/2014/main" id="{5E55B14A-4EB1-4D1C-96CB-21F3EA2982A0}"/>
              </a:ext>
            </a:extLst>
          </p:cNvPr>
          <p:cNvSpPr>
            <a:spLocks xmlns:a="http://schemas.openxmlformats.org/drawingml/2006/main" noGrp="1"/>
          </p:cNvSpPr>
          <p:nvPr/>
        </p:nvSpPr>
        <p:spPr>
          <a:xfrm xmlns:a="http://schemas.openxmlformats.org/drawingml/2006/main">
            <a:off x="9486900" y="2409825"/>
            <a:ext cx="1362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Unique target</a:t>
            </a:r>
          </a:p>
        </p:txBody>
      </p:sp>
      <p:sp>
        <p:nvSpPr>
          <p:cNvPr id="30" name="sync-resolution-unique-subtitle">
            <a:extLst xmlns:a="http://schemas.openxmlformats.org/drawingml/2006/main">
              <a:ext uri="{FF2B5EF4-FFF2-40B4-BE49-F238E27FC236}">
                <a16:creationId xmlns:a16="http://schemas.microsoft.com/office/drawing/2014/main" id="{97B91DE0-36AE-4F6A-B591-52F614B5A813}"/>
              </a:ext>
            </a:extLst>
          </p:cNvPr>
          <p:cNvSpPr>
            <a:spLocks xmlns:a="http://schemas.openxmlformats.org/drawingml/2006/main" noGrp="1"/>
          </p:cNvSpPr>
          <p:nvPr/>
        </p:nvSpPr>
        <p:spPr>
          <a:xfrm xmlns:a="http://schemas.openxmlformats.org/drawingml/2006/main">
            <a:off x="9486900" y="2657475"/>
            <a:ext cx="13620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exactly one result</a:t>
            </a:r>
          </a:p>
        </p:txBody>
      </p:sp>
      <p:sp>
        <p:nvSpPr>
          <p:cNvPr id="31" name="sync-resolution-keep">
            <a:extLst xmlns:a="http://schemas.openxmlformats.org/drawingml/2006/main">
              <a:ext uri="{FF2B5EF4-FFF2-40B4-BE49-F238E27FC236}">
                <a16:creationId xmlns:a16="http://schemas.microsoft.com/office/drawing/2014/main" id="{7423D91A-9ACD-42ED-A90F-6F0D69A881D7}"/>
              </a:ext>
            </a:extLst>
          </p:cNvPr>
          <p:cNvSpPr>
            <a:spLocks xmlns:a="http://schemas.openxmlformats.org/drawingml/2006/main" noGrp="1"/>
          </p:cNvSpPr>
          <p:nvPr/>
        </p:nvSpPr>
        <p:spPr>
          <a:xfrm xmlns:a="http://schemas.openxmlformats.org/drawingml/2006/main">
            <a:off x="9334500" y="3333750"/>
            <a:ext cx="1666875" cy="609600"/>
          </a:xfrm>
          <a:prstGeom xmlns:a="http://schemas.openxmlformats.org/drawingml/2006/main" prst="roundRect">
            <a:avLst>
              <a:gd name="adj" fmla="val 10938"/>
            </a:avLst>
          </a:prstGeom>
          <a:solidFill xmlns:a="http://schemas.openxmlformats.org/drawingml/2006/main">
            <a:srgbClr val="F4E2DA"/>
          </a:solidFill>
          <a:ln xmlns:a="http://schemas.openxmlformats.org/drawingml/2006/main" w="14288">
            <a:solidFill>
              <a:srgbClr val="B65C3C"/>
            </a:solidFill>
            <a:prstDash val="solid"/>
          </a:ln>
        </p:spPr>
      </p:sp>
      <p:sp>
        <p:nvSpPr>
          <p:cNvPr id="32" name="sync-resolution-keep-title">
            <a:extLst xmlns:a="http://schemas.openxmlformats.org/drawingml/2006/main">
              <a:ext uri="{FF2B5EF4-FFF2-40B4-BE49-F238E27FC236}">
                <a16:creationId xmlns:a16="http://schemas.microsoft.com/office/drawing/2014/main" id="{D786B9C9-A600-4BCE-9E13-4F877B8BC65C}"/>
              </a:ext>
            </a:extLst>
          </p:cNvPr>
          <p:cNvSpPr>
            <a:spLocks xmlns:a="http://schemas.openxmlformats.org/drawingml/2006/main" noGrp="1"/>
          </p:cNvSpPr>
          <p:nvPr/>
        </p:nvSpPr>
        <p:spPr>
          <a:xfrm xmlns:a="http://schemas.openxmlformats.org/drawingml/2006/main">
            <a:off x="9486900" y="3457575"/>
            <a:ext cx="1362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Keep stub</a:t>
            </a:r>
          </a:p>
        </p:txBody>
      </p:sp>
      <p:sp>
        <p:nvSpPr>
          <p:cNvPr id="33" name="sync-resolution-keep-subtitle">
            <a:extLst xmlns:a="http://schemas.openxmlformats.org/drawingml/2006/main">
              <a:ext uri="{FF2B5EF4-FFF2-40B4-BE49-F238E27FC236}">
                <a16:creationId xmlns:a16="http://schemas.microsoft.com/office/drawing/2014/main" id="{DD607AC1-33DF-492C-AED1-09516C9C8B3F}"/>
              </a:ext>
            </a:extLst>
          </p:cNvPr>
          <p:cNvSpPr>
            <a:spLocks xmlns:a="http://schemas.openxmlformats.org/drawingml/2006/main" noGrp="1"/>
          </p:cNvSpPr>
          <p:nvPr/>
        </p:nvSpPr>
        <p:spPr>
          <a:xfrm xmlns:a="http://schemas.openxmlformats.org/drawingml/2006/main">
            <a:off x="9486900" y="3705225"/>
            <a:ext cx="13620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ambiguous or missing</a:t>
            </a:r>
          </a:p>
        </p:txBody>
      </p:sp>
      <p:cxnSp>
        <p:nvCxnSpPr>
          <p:cNvPr id="220" name=""/>
          <p:cNvCxnSpPr>
            <a:stCxn xmlns:a="http://schemas.openxmlformats.org/drawingml/2006/main" id="19" idx="1"/>
            <a:endCxn xmlns:a="http://schemas.openxmlformats.org/drawingml/2006/main" id="16" idx="3"/>
          </p:cNvCxnSpPr>
          <p:nvPr/>
        </p:nvCxnSpPr>
        <p:spPr>
          <a:xfrm xmlns:a="http://schemas.openxmlformats.org/drawingml/2006/main" flipH="1">
            <a:off x="2571750" y="3057525"/>
            <a:ext cx="285750" cy="0"/>
          </a:xfrm>
          <a:prstGeom xmlns:a="http://schemas.openxmlformats.org/drawingml/2006/main" prst="straightConnector1">
            <a:avLst/>
          </a:prstGeom>
          <a:ln xmlns:a="http://schemas.openxmlformats.org/drawingml/2006/main" w="19050">
            <a:solidFill>
              <a:srgbClr val="71808A"/>
            </a:solidFill>
            <a:prstDash val="solid"/>
            <a:headEnd type="triangle" w="sm" len="sm"/>
          </a:ln>
        </p:spPr>
      </p:cxnSp>
      <p:cxnSp>
        <p:nvCxnSpPr>
          <p:cNvPr id="221" name=""/>
          <p:cNvCxnSpPr>
            <a:stCxn xmlns:a="http://schemas.openxmlformats.org/drawingml/2006/main" id="22" idx="1"/>
            <a:endCxn xmlns:a="http://schemas.openxmlformats.org/drawingml/2006/main" id="19" idx="3"/>
          </p:cNvCxnSpPr>
          <p:nvPr/>
        </p:nvCxnSpPr>
        <p:spPr>
          <a:xfrm xmlns:a="http://schemas.openxmlformats.org/drawingml/2006/main" flipH="1">
            <a:off x="4572000" y="3057525"/>
            <a:ext cx="285750" cy="0"/>
          </a:xfrm>
          <a:prstGeom xmlns:a="http://schemas.openxmlformats.org/drawingml/2006/main" prst="straightConnector1">
            <a:avLst/>
          </a:prstGeom>
          <a:ln xmlns:a="http://schemas.openxmlformats.org/drawingml/2006/main" w="19050">
            <a:solidFill>
              <a:srgbClr val="71808A"/>
            </a:solidFill>
            <a:prstDash val="solid"/>
            <a:headEnd type="triangle" w="sm" len="sm"/>
          </a:ln>
        </p:spPr>
      </p:cxnSp>
      <p:cxnSp>
        <p:nvCxnSpPr>
          <p:cNvPr id="222" name=""/>
          <p:cNvCxnSpPr>
            <a:stCxn xmlns:a="http://schemas.openxmlformats.org/drawingml/2006/main" id="25" idx="1"/>
            <a:endCxn xmlns:a="http://schemas.openxmlformats.org/drawingml/2006/main" id="22" idx="3"/>
          </p:cNvCxnSpPr>
          <p:nvPr/>
        </p:nvCxnSpPr>
        <p:spPr>
          <a:xfrm xmlns:a="http://schemas.openxmlformats.org/drawingml/2006/main" flipH="1">
            <a:off x="6572250" y="3057525"/>
            <a:ext cx="285750" cy="0"/>
          </a:xfrm>
          <a:prstGeom xmlns:a="http://schemas.openxmlformats.org/drawingml/2006/main" prst="straightConnector1">
            <a:avLst/>
          </a:prstGeom>
          <a:ln xmlns:a="http://schemas.openxmlformats.org/drawingml/2006/main" w="19050">
            <a:solidFill>
              <a:srgbClr val="71808A"/>
            </a:solidFill>
            <a:prstDash val="solid"/>
            <a:headEnd type="triangle" w="sm" len="sm"/>
          </a:ln>
        </p:spPr>
      </p:cxnSp>
      <p:cxnSp>
        <p:nvCxnSpPr>
          <p:cNvPr id="223" name=""/>
          <p:cNvCxnSpPr>
            <a:stCxn xmlns:a="http://schemas.openxmlformats.org/drawingml/2006/main" id="28" idx="1"/>
            <a:endCxn xmlns:a="http://schemas.openxmlformats.org/drawingml/2006/main" id="25" idx="3"/>
          </p:cNvCxnSpPr>
          <p:nvPr/>
        </p:nvCxnSpPr>
        <p:spPr>
          <a:xfrm xmlns:a="http://schemas.openxmlformats.org/drawingml/2006/main" flipH="1" flipV="0">
            <a:off x="8667750" y="2590800"/>
            <a:ext cx="666750" cy="466725"/>
          </a:xfrm>
          <a:prstGeom xmlns:a="http://schemas.openxmlformats.org/drawingml/2006/main" prst="bentConnector3">
            <a:avLst>
              <a:gd name="adj1" fmla="val 50000"/>
            </a:avLst>
          </a:prstGeom>
          <a:ln xmlns:a="http://schemas.openxmlformats.org/drawingml/2006/main" w="19050">
            <a:solidFill>
              <a:srgbClr val="71808A"/>
            </a:solidFill>
            <a:prstDash val="solid"/>
            <a:headEnd type="triangle" w="sm" len="sm"/>
          </a:ln>
        </p:spPr>
      </p:cxnSp>
      <p:cxnSp>
        <p:nvCxnSpPr>
          <p:cNvPr id="224" name=""/>
          <p:cNvCxnSpPr>
            <a:stCxn xmlns:a="http://schemas.openxmlformats.org/drawingml/2006/main" id="31" idx="1"/>
            <a:endCxn xmlns:a="http://schemas.openxmlformats.org/drawingml/2006/main" id="25" idx="2"/>
          </p:cNvCxnSpPr>
          <p:nvPr/>
        </p:nvCxnSpPr>
        <p:spPr>
          <a:xfrm xmlns:a="http://schemas.openxmlformats.org/drawingml/2006/main" flipH="1" flipV="1">
            <a:off x="7762875" y="3400425"/>
            <a:ext cx="1571625" cy="238125"/>
          </a:xfrm>
          <a:prstGeom xmlns:a="http://schemas.openxmlformats.org/drawingml/2006/main" prst="bentConnector2">
            <a:avLst/>
          </a:prstGeom>
          <a:ln xmlns:a="http://schemas.openxmlformats.org/drawingml/2006/main" w="19050">
            <a:solidFill>
              <a:srgbClr val="B65C3C"/>
            </a:solidFill>
            <a:prstDash val="dash"/>
            <a:headEnd type="triangle" w="sm" len="sm"/>
          </a:ln>
        </p:spPr>
      </p:cxnSp>
      <p:sp>
        <p:nvSpPr>
          <p:cNvPr id="39" name="sync-resolution-note">
            <a:extLst xmlns:a="http://schemas.openxmlformats.org/drawingml/2006/main">
              <a:ext uri="{FF2B5EF4-FFF2-40B4-BE49-F238E27FC236}">
                <a16:creationId xmlns:a16="http://schemas.microsoft.com/office/drawing/2014/main" id="{7EEEC44C-E932-4AEA-8565-BBC63DD46F3E}"/>
              </a:ext>
            </a:extLst>
          </p:cNvPr>
          <p:cNvSpPr>
            <a:spLocks xmlns:a="http://schemas.openxmlformats.org/drawingml/2006/main" noGrp="1"/>
          </p:cNvSpPr>
          <p:nvPr/>
        </p:nvSpPr>
        <p:spPr>
          <a:xfrm xmlns:a="http://schemas.openxmlformats.org/drawingml/2006/main">
            <a:off x="6381750" y="400050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B65C3C"/>
                </a:solidFill>
              </a:defRPr>
            </a:pPr>
            <a:r>
              <a:rPr sz="825" b="1">
                <a:solidFill>
                  <a:srgbClr val="B65C3C"/>
                </a:solidFill>
              </a:rPr>
              <a:t>only exactly one target is redirected</a:t>
            </a:r>
          </a:p>
        </p:txBody>
      </p:sp>
    </p:spTree>
    <p:extLst>
      <p:ext uri="{BB962C8B-B14F-4D97-AF65-F5344CB8AC3E}">
        <p14:creationId xmlns:p14="http://schemas.microsoft.com/office/powerpoint/2010/main" val="355016045"/>
      </p:ext>
    </p:extLst>
  </p:cSld>
</p:sld>
</file>

<file path=ppt/slides/slide1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34" name="kicker">
            <a:extLst xmlns:a="http://schemas.openxmlformats.org/drawingml/2006/main">
              <a:ext uri="{FF2B5EF4-FFF2-40B4-BE49-F238E27FC236}">
                <a16:creationId xmlns:a16="http://schemas.microsoft.com/office/drawing/2014/main" id="{3513B92A-25CE-437B-AA8C-2674C098329B}"/>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RETRIEVAL MECHANISM  ·  07 / 15</a:t>
            </a:r>
          </a:p>
        </p:txBody>
      </p:sp>
      <p:sp>
        <p:nvSpPr>
          <p:cNvPr id="2" name="kicker-rule">
            <a:extLst xmlns:a="http://schemas.openxmlformats.org/drawingml/2006/main">
              <a:ext uri="{FF2B5EF4-FFF2-40B4-BE49-F238E27FC236}">
                <a16:creationId xmlns:a16="http://schemas.microsoft.com/office/drawing/2014/main" id="{006D88AF-296A-4D0E-A44E-A0B5488711EC}"/>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99A4AA4E-55B8-4C5C-BB50-89F115801D13}"/>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1D2A34"/>
                </a:solidFill>
                <a:latin typeface="Aptos Display"/>
                <a:ea typeface="Aptos Display"/>
                <a:cs typeface="Aptos Display"/>
              </a:defRPr>
            </a:pPr>
            <a:r>
              <a:rPr sz="2250" b="1">
                <a:solidFill>
                  <a:srgbClr val="1D2A34"/>
                </a:solidFill>
                <a:latin typeface="Aptos Display"/>
                <a:ea typeface="Aptos Display"/>
                <a:cs typeface="Aptos Display"/>
              </a:rPr>
              <a:t>Generic local queries fuse complementary rankings—then select context.</a:t>
            </a:r>
          </a:p>
        </p:txBody>
      </p:sp>
      <p:sp>
        <p:nvSpPr>
          <p:cNvPr id="4" name="running-case-core-07-label">
            <a:extLst xmlns:a="http://schemas.openxmlformats.org/drawingml/2006/main">
              <a:ext uri="{FF2B5EF4-FFF2-40B4-BE49-F238E27FC236}">
                <a16:creationId xmlns:a16="http://schemas.microsoft.com/office/drawing/2014/main" id="{52169AC2-3D10-4CCF-8B16-46396E1AA8A9}"/>
              </a:ext>
            </a:extLst>
          </p:cNvPr>
          <p:cNvSpPr>
            <a:spLocks xmlns:a="http://schemas.openxmlformats.org/drawingml/2006/main" noGrp="1"/>
          </p:cNvSpPr>
          <p:nvPr/>
        </p:nvSpPr>
        <p:spPr>
          <a:xfrm xmlns:a="http://schemas.openxmlformats.org/drawingml/2006/main">
            <a:off x="685800" y="161925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RUNNING CASE</a:t>
            </a:r>
          </a:p>
        </p:txBody>
      </p:sp>
      <p:sp>
        <p:nvSpPr>
          <p:cNvPr id="5" name="running-case-core-07-query">
            <a:extLst xmlns:a="http://schemas.openxmlformats.org/drawingml/2006/main">
              <a:ext uri="{FF2B5EF4-FFF2-40B4-BE49-F238E27FC236}">
                <a16:creationId xmlns:a16="http://schemas.microsoft.com/office/drawing/2014/main" id="{19D77D20-AFF3-43BB-81F4-D89762745D5A}"/>
              </a:ext>
            </a:extLst>
          </p:cNvPr>
          <p:cNvSpPr>
            <a:spLocks xmlns:a="http://schemas.openxmlformats.org/drawingml/2006/main" noGrp="1"/>
          </p:cNvSpPr>
          <p:nvPr/>
        </p:nvSpPr>
        <p:spPr>
          <a:xfrm xmlns:a="http://schemas.openxmlformats.org/drawingml/2006/main">
            <a:off x="2000250" y="1619250"/>
            <a:ext cx="2762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D6F58"/>
                </a:solidFill>
                <a:latin typeface="Aptos Mono"/>
                <a:ea typeface="Aptos Mono"/>
                <a:cs typeface="Aptos Mono"/>
              </a:defRPr>
            </a:pPr>
            <a:r>
              <a:rPr sz="825" b="1">
                <a:solidFill>
                  <a:srgbClr val="3D6F58"/>
                </a:solidFill>
                <a:latin typeface="Aptos Mono"/>
                <a:ea typeface="Aptos Mono"/>
                <a:cs typeface="Aptos Mono"/>
              </a:rPr>
              <a:t>BaseRetriever.retrieve</a:t>
            </a:r>
          </a:p>
        </p:txBody>
      </p:sp>
      <p:sp>
        <p:nvSpPr>
          <p:cNvPr id="6" name="running-case-core-07-stage">
            <a:extLst xmlns:a="http://schemas.openxmlformats.org/drawingml/2006/main">
              <a:ext uri="{FF2B5EF4-FFF2-40B4-BE49-F238E27FC236}">
                <a16:creationId xmlns:a16="http://schemas.microsoft.com/office/drawing/2014/main" id="{A19E8846-AA82-43B2-A07B-25B8DA7798EF}"/>
              </a:ext>
            </a:extLst>
          </p:cNvPr>
          <p:cNvSpPr>
            <a:spLocks xmlns:a="http://schemas.openxmlformats.org/drawingml/2006/main" noGrp="1"/>
          </p:cNvSpPr>
          <p:nvPr/>
        </p:nvSpPr>
        <p:spPr>
          <a:xfrm xmlns:a="http://schemas.openxmlformats.org/drawingml/2006/main">
            <a:off x="4857750" y="1619250"/>
            <a:ext cx="619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B65C3C"/>
                </a:solidFill>
                <a:latin typeface="Aptos"/>
                <a:ea typeface="Aptos"/>
                <a:cs typeface="Aptos"/>
              </a:defRPr>
            </a:pPr>
            <a:r>
              <a:rPr sz="825" b="1">
                <a:solidFill>
                  <a:srgbClr val="B65C3C"/>
                </a:solidFill>
                <a:latin typeface="Aptos"/>
                <a:ea typeface="Aptos"/>
                <a:cs typeface="Aptos"/>
              </a:rPr>
              <a:t>candidates → RRF → context</a:t>
            </a:r>
          </a:p>
        </p:txBody>
      </p:sp>
      <p:sp>
        <p:nvSpPr>
          <p:cNvPr id="7" name="graph-rank">
            <a:extLst xmlns:a="http://schemas.openxmlformats.org/drawingml/2006/main">
              <a:ext uri="{FF2B5EF4-FFF2-40B4-BE49-F238E27FC236}">
                <a16:creationId xmlns:a16="http://schemas.microsoft.com/office/drawing/2014/main" id="{C4071337-CBAB-4110-BEA6-FC750515AC9B}"/>
              </a:ext>
            </a:extLst>
          </p:cNvPr>
          <p:cNvSpPr>
            <a:spLocks xmlns:a="http://schemas.openxmlformats.org/drawingml/2006/main" noGrp="1"/>
          </p:cNvSpPr>
          <p:nvPr/>
        </p:nvSpPr>
        <p:spPr>
          <a:xfrm xmlns:a="http://schemas.openxmlformats.org/drawingml/2006/main">
            <a:off x="685800" y="1809750"/>
            <a:ext cx="2476500" cy="1123950"/>
          </a:xfrm>
          <a:prstGeom xmlns:a="http://schemas.openxmlformats.org/drawingml/2006/main" prst="roundRect">
            <a:avLst>
              <a:gd name="adj" fmla="val 6780"/>
            </a:avLst>
          </a:prstGeom>
          <a:solidFill xmlns:a="http://schemas.openxmlformats.org/drawingml/2006/main">
            <a:srgbClr val="DCEBED"/>
          </a:solidFill>
          <a:ln xmlns:a="http://schemas.openxmlformats.org/drawingml/2006/main" w="9525">
            <a:solidFill>
              <a:srgbClr val="2D6F78"/>
            </a:solidFill>
            <a:prstDash val="solid"/>
          </a:ln>
        </p:spPr>
      </p:sp>
      <p:sp>
        <p:nvSpPr>
          <p:cNvPr id="8" name="graph-rank-label">
            <a:extLst xmlns:a="http://schemas.openxmlformats.org/drawingml/2006/main">
              <a:ext uri="{FF2B5EF4-FFF2-40B4-BE49-F238E27FC236}">
                <a16:creationId xmlns:a16="http://schemas.microsoft.com/office/drawing/2014/main" id="{2A62AF6A-BECA-4F95-BAE7-CA7279B5D45E}"/>
              </a:ext>
            </a:extLst>
          </p:cNvPr>
          <p:cNvSpPr>
            <a:spLocks xmlns:a="http://schemas.openxmlformats.org/drawingml/2006/main" noGrp="1"/>
          </p:cNvSpPr>
          <p:nvPr/>
        </p:nvSpPr>
        <p:spPr>
          <a:xfrm xmlns:a="http://schemas.openxmlformats.org/drawingml/2006/main">
            <a:off x="914400" y="2019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GRAPH RANK</a:t>
            </a:r>
          </a:p>
        </p:txBody>
      </p:sp>
      <p:sp>
        <p:nvSpPr>
          <p:cNvPr id="9" name="graph-rank-copy">
            <a:extLst xmlns:a="http://schemas.openxmlformats.org/drawingml/2006/main">
              <a:ext uri="{FF2B5EF4-FFF2-40B4-BE49-F238E27FC236}">
                <a16:creationId xmlns:a16="http://schemas.microsoft.com/office/drawing/2014/main" id="{5AB5C8F1-7B88-479C-ADAF-193DE16A9AFC}"/>
              </a:ext>
            </a:extLst>
          </p:cNvPr>
          <p:cNvSpPr>
            <a:spLocks xmlns:a="http://schemas.openxmlformats.org/drawingml/2006/main" noGrp="1"/>
          </p:cNvSpPr>
          <p:nvPr/>
        </p:nvSpPr>
        <p:spPr>
          <a:xfrm xmlns:a="http://schemas.openxmlformats.org/drawingml/2006/main">
            <a:off x="914400" y="2381250"/>
            <a:ext cx="171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01  retrieve</a:t>
            </a:r>
          </a:p>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02  _retrieve</a:t>
            </a:r>
          </a:p>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03  callback event</a:t>
            </a:r>
          </a:p>
        </p:txBody>
      </p:sp>
      <p:sp>
        <p:nvSpPr>
          <p:cNvPr id="10" name="vector-rank">
            <a:extLst xmlns:a="http://schemas.openxmlformats.org/drawingml/2006/main">
              <a:ext uri="{FF2B5EF4-FFF2-40B4-BE49-F238E27FC236}">
                <a16:creationId xmlns:a16="http://schemas.microsoft.com/office/drawing/2014/main" id="{91157A50-42F4-4F73-9976-B2492ED61F29}"/>
              </a:ext>
            </a:extLst>
          </p:cNvPr>
          <p:cNvSpPr>
            <a:spLocks xmlns:a="http://schemas.openxmlformats.org/drawingml/2006/main" noGrp="1"/>
          </p:cNvSpPr>
          <p:nvPr/>
        </p:nvSpPr>
        <p:spPr>
          <a:xfrm xmlns:a="http://schemas.openxmlformats.org/drawingml/2006/main">
            <a:off x="685800" y="3429000"/>
            <a:ext cx="2476500" cy="1123950"/>
          </a:xfrm>
          <a:prstGeom xmlns:a="http://schemas.openxmlformats.org/drawingml/2006/main" prst="roundRect">
            <a:avLst>
              <a:gd name="adj" fmla="val 6780"/>
            </a:avLst>
          </a:prstGeom>
          <a:solidFill xmlns:a="http://schemas.openxmlformats.org/drawingml/2006/main">
            <a:srgbClr val="E6EEF5"/>
          </a:solidFill>
          <a:ln xmlns:a="http://schemas.openxmlformats.org/drawingml/2006/main" w="9525">
            <a:solidFill>
              <a:srgbClr val="B65C3C"/>
            </a:solidFill>
            <a:prstDash val="solid"/>
          </a:ln>
        </p:spPr>
      </p:sp>
      <p:sp>
        <p:nvSpPr>
          <p:cNvPr id="11" name="vector-rank-label">
            <a:extLst xmlns:a="http://schemas.openxmlformats.org/drawingml/2006/main">
              <a:ext uri="{FF2B5EF4-FFF2-40B4-BE49-F238E27FC236}">
                <a16:creationId xmlns:a16="http://schemas.microsoft.com/office/drawing/2014/main" id="{8952A877-3D1B-4970-A003-56CEC01BDBD0}"/>
              </a:ext>
            </a:extLst>
          </p:cNvPr>
          <p:cNvSpPr>
            <a:spLocks xmlns:a="http://schemas.openxmlformats.org/drawingml/2006/main" noGrp="1"/>
          </p:cNvSpPr>
          <p:nvPr/>
        </p:nvSpPr>
        <p:spPr>
          <a:xfrm xmlns:a="http://schemas.openxmlformats.org/drawingml/2006/main">
            <a:off x="914400" y="36385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B65C3C"/>
                </a:solidFill>
                <a:latin typeface="Aptos"/>
                <a:ea typeface="Aptos"/>
                <a:cs typeface="Aptos"/>
              </a:defRPr>
            </a:pPr>
            <a:r>
              <a:rPr sz="975" b="1">
                <a:solidFill>
                  <a:srgbClr val="B65C3C"/>
                </a:solidFill>
                <a:latin typeface="Aptos"/>
                <a:ea typeface="Aptos"/>
                <a:cs typeface="Aptos"/>
              </a:rPr>
              <a:t>VECTOR RANK</a:t>
            </a:r>
          </a:p>
        </p:txBody>
      </p:sp>
      <p:sp>
        <p:nvSpPr>
          <p:cNvPr id="12" name="vector-rank-copy">
            <a:extLst xmlns:a="http://schemas.openxmlformats.org/drawingml/2006/main">
              <a:ext uri="{FF2B5EF4-FFF2-40B4-BE49-F238E27FC236}">
                <a16:creationId xmlns:a16="http://schemas.microsoft.com/office/drawing/2014/main" id="{D38B15D9-CE27-42FF-A192-00045F992C19}"/>
              </a:ext>
            </a:extLst>
          </p:cNvPr>
          <p:cNvSpPr>
            <a:spLocks xmlns:a="http://schemas.openxmlformats.org/drawingml/2006/main" noGrp="1"/>
          </p:cNvSpPr>
          <p:nvPr/>
        </p:nvSpPr>
        <p:spPr>
          <a:xfrm xmlns:a="http://schemas.openxmlformats.org/drawingml/2006/main">
            <a:off x="914400" y="400050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a:solidFill>
                  <a:srgbClr val="1D2A34"/>
                </a:solidFill>
                <a:latin typeface="Aptos"/>
                <a:ea typeface="Aptos"/>
                <a:cs typeface="Aptos"/>
              </a:defRPr>
            </a:pPr>
            <a:r>
              <a:rPr sz="1275">
                <a:solidFill>
                  <a:srgbClr val="1D2A34"/>
                </a:solidFill>
                <a:latin typeface="Aptos"/>
                <a:ea typeface="Aptos"/>
                <a:cs typeface="Aptos"/>
              </a:rPr>
              <a:t>01  callback manager</a:t>
            </a:r>
          </a:p>
          <a:p xmlns:a="http://schemas.openxmlformats.org/drawingml/2006/main">
            <a:pPr algn="l">
              <a:buNone/>
              <a:defRPr sz="1275">
                <a:solidFill>
                  <a:srgbClr val="1D2A34"/>
                </a:solidFill>
                <a:latin typeface="Aptos"/>
                <a:ea typeface="Aptos"/>
                <a:cs typeface="Aptos"/>
              </a:defRPr>
            </a:pPr>
            <a:r>
              <a:rPr sz="1275">
                <a:solidFill>
                  <a:srgbClr val="1D2A34"/>
                </a:solidFill>
                <a:latin typeface="Aptos"/>
                <a:ea typeface="Aptos"/>
                <a:cs typeface="Aptos"/>
              </a:rPr>
              <a:t>02  retrieve</a:t>
            </a:r>
          </a:p>
          <a:p xmlns:a="http://schemas.openxmlformats.org/drawingml/2006/main">
            <a:pPr algn="l">
              <a:buNone/>
              <a:defRPr sz="1275">
                <a:solidFill>
                  <a:srgbClr val="1D2A34"/>
                </a:solidFill>
                <a:latin typeface="Aptos"/>
                <a:ea typeface="Aptos"/>
                <a:cs typeface="Aptos"/>
              </a:defRPr>
            </a:pPr>
            <a:r>
              <a:rPr sz="1275">
                <a:solidFill>
                  <a:srgbClr val="1D2A34"/>
                </a:solidFill>
                <a:latin typeface="Aptos"/>
                <a:ea typeface="Aptos"/>
                <a:cs typeface="Aptos"/>
              </a:rPr>
              <a:t>03  recursive retrieval</a:t>
            </a:r>
          </a:p>
        </p:txBody>
      </p:sp>
      <p:sp>
        <p:nvSpPr>
          <p:cNvPr id="13" name="graph-to-rrf">
            <a:extLst xmlns:a="http://schemas.openxmlformats.org/drawingml/2006/main">
              <a:ext uri="{FF2B5EF4-FFF2-40B4-BE49-F238E27FC236}">
                <a16:creationId xmlns:a16="http://schemas.microsoft.com/office/drawing/2014/main" id="{83A72BAD-6E31-48DA-BAAD-E8BA9887DBF8}"/>
              </a:ext>
            </a:extLst>
          </p:cNvPr>
          <p:cNvSpPr>
            <a:spLocks xmlns:a="http://schemas.openxmlformats.org/drawingml/2006/main" noGrp="1"/>
          </p:cNvSpPr>
          <p:nvPr/>
        </p:nvSpPr>
        <p:spPr>
          <a:xfrm xmlns:a="http://schemas.openxmlformats.org/drawingml/2006/main">
            <a:off x="3429000" y="2286000"/>
            <a:ext cx="895350" cy="171450"/>
          </a:xfrm>
          <a:prstGeom xmlns:a="http://schemas.openxmlformats.org/drawingml/2006/main" prst="rightArrow">
            <a:avLst/>
          </a:prstGeom>
          <a:solidFill xmlns:a="http://schemas.openxmlformats.org/drawingml/2006/main">
            <a:srgbClr val="2D6F78"/>
          </a:solidFill>
          <a:ln xmlns:a="http://schemas.openxmlformats.org/drawingml/2006/main" w="0">
            <a:solidFill>
              <a:srgbClr val="2D6F78"/>
            </a:solidFill>
            <a:prstDash val="solid"/>
          </a:ln>
        </p:spPr>
      </p:sp>
      <p:sp>
        <p:nvSpPr>
          <p:cNvPr id="14" name="vector-to-rrf">
            <a:extLst xmlns:a="http://schemas.openxmlformats.org/drawingml/2006/main">
              <a:ext uri="{FF2B5EF4-FFF2-40B4-BE49-F238E27FC236}">
                <a16:creationId xmlns:a16="http://schemas.microsoft.com/office/drawing/2014/main" id="{1E0B48DB-2E58-43F6-8CCE-03177F4A7F94}"/>
              </a:ext>
            </a:extLst>
          </p:cNvPr>
          <p:cNvSpPr>
            <a:spLocks xmlns:a="http://schemas.openxmlformats.org/drawingml/2006/main" noGrp="1"/>
          </p:cNvSpPr>
          <p:nvPr/>
        </p:nvSpPr>
        <p:spPr>
          <a:xfrm xmlns:a="http://schemas.openxmlformats.org/drawingml/2006/main">
            <a:off x="3429000" y="3943350"/>
            <a:ext cx="895350" cy="171450"/>
          </a:xfrm>
          <a:prstGeom xmlns:a="http://schemas.openxmlformats.org/drawingml/2006/main" prst="rightArrow">
            <a:avLst/>
          </a:prstGeom>
          <a:solidFill xmlns:a="http://schemas.openxmlformats.org/drawingml/2006/main">
            <a:srgbClr val="B65C3C"/>
          </a:solidFill>
          <a:ln xmlns:a="http://schemas.openxmlformats.org/drawingml/2006/main" w="0">
            <a:solidFill>
              <a:srgbClr val="B65C3C"/>
            </a:solidFill>
            <a:prstDash val="solid"/>
          </a:ln>
        </p:spPr>
      </p:sp>
      <p:sp>
        <p:nvSpPr>
          <p:cNvPr id="15" name="rrf-circle">
            <a:extLst xmlns:a="http://schemas.openxmlformats.org/drawingml/2006/main">
              <a:ext uri="{FF2B5EF4-FFF2-40B4-BE49-F238E27FC236}">
                <a16:creationId xmlns:a16="http://schemas.microsoft.com/office/drawing/2014/main" id="{B6CFC149-0595-4E1B-BD5F-A0AE9D118875}"/>
              </a:ext>
            </a:extLst>
          </p:cNvPr>
          <p:cNvSpPr>
            <a:spLocks xmlns:a="http://schemas.openxmlformats.org/drawingml/2006/main" noGrp="1"/>
          </p:cNvSpPr>
          <p:nvPr/>
        </p:nvSpPr>
        <p:spPr>
          <a:xfrm xmlns:a="http://schemas.openxmlformats.org/drawingml/2006/main">
            <a:off x="4572000" y="2628900"/>
            <a:ext cx="1238250" cy="1238250"/>
          </a:xfrm>
          <a:prstGeom xmlns:a="http://schemas.openxmlformats.org/drawingml/2006/main" prst="ellipse">
            <a:avLst/>
          </a:prstGeom>
          <a:solidFill xmlns:a="http://schemas.openxmlformats.org/drawingml/2006/main">
            <a:srgbClr val="E3F0E6"/>
          </a:solidFill>
          <a:ln xmlns:a="http://schemas.openxmlformats.org/drawingml/2006/main" w="9525">
            <a:solidFill>
              <a:srgbClr val="C9D1D1"/>
            </a:solidFill>
            <a:prstDash val="solid"/>
          </a:ln>
        </p:spPr>
      </p:sp>
      <p:sp>
        <p:nvSpPr>
          <p:cNvPr id="16" name="rrf-title">
            <a:extLst xmlns:a="http://schemas.openxmlformats.org/drawingml/2006/main">
              <a:ext uri="{FF2B5EF4-FFF2-40B4-BE49-F238E27FC236}">
                <a16:creationId xmlns:a16="http://schemas.microsoft.com/office/drawing/2014/main" id="{8A6B3A86-6DE6-489E-A12E-F2F1192DCD60}"/>
              </a:ext>
            </a:extLst>
          </p:cNvPr>
          <p:cNvSpPr>
            <a:spLocks xmlns:a="http://schemas.openxmlformats.org/drawingml/2006/main" noGrp="1"/>
          </p:cNvSpPr>
          <p:nvPr/>
        </p:nvSpPr>
        <p:spPr>
          <a:xfrm xmlns:a="http://schemas.openxmlformats.org/drawingml/2006/main">
            <a:off x="4714875" y="29527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3D6F58"/>
                </a:solidFill>
                <a:latin typeface="Aptos"/>
                <a:ea typeface="Aptos"/>
                <a:cs typeface="Aptos"/>
              </a:defRPr>
            </a:pPr>
            <a:r>
              <a:rPr sz="1800" b="1">
                <a:solidFill>
                  <a:srgbClr val="3D6F58"/>
                </a:solidFill>
                <a:latin typeface="Aptos"/>
                <a:ea typeface="Aptos"/>
                <a:cs typeface="Aptos"/>
              </a:rPr>
              <a:t>RRF</a:t>
            </a:r>
          </a:p>
        </p:txBody>
      </p:sp>
      <p:sp>
        <p:nvSpPr>
          <p:cNvPr id="17" name="rrf-subtitle">
            <a:extLst xmlns:a="http://schemas.openxmlformats.org/drawingml/2006/main">
              <a:ext uri="{FF2B5EF4-FFF2-40B4-BE49-F238E27FC236}">
                <a16:creationId xmlns:a16="http://schemas.microsoft.com/office/drawing/2014/main" id="{F2723CC5-AE0C-461B-B045-35658ECB25AC}"/>
              </a:ext>
            </a:extLst>
          </p:cNvPr>
          <p:cNvSpPr>
            <a:spLocks xmlns:a="http://schemas.openxmlformats.org/drawingml/2006/main" noGrp="1"/>
          </p:cNvSpPr>
          <p:nvPr/>
        </p:nvSpPr>
        <p:spPr>
          <a:xfrm xmlns:a="http://schemas.openxmlformats.org/drawingml/2006/main">
            <a:off x="4667250" y="33147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a:solidFill>
                  <a:srgbClr val="586671"/>
                </a:solidFill>
                <a:latin typeface="Aptos"/>
                <a:ea typeface="Aptos"/>
                <a:cs typeface="Aptos"/>
              </a:defRPr>
            </a:pPr>
            <a:r>
              <a:rPr sz="900">
                <a:solidFill>
                  <a:srgbClr val="586671"/>
                </a:solidFill>
                <a:latin typeface="Aptos"/>
                <a:ea typeface="Aptos"/>
                <a:cs typeface="Aptos"/>
              </a:rPr>
              <a:t>rank, not score</a:t>
            </a:r>
          </a:p>
        </p:txBody>
      </p:sp>
      <p:sp>
        <p:nvSpPr>
          <p:cNvPr id="18" name="rrf-to-context">
            <a:extLst xmlns:a="http://schemas.openxmlformats.org/drawingml/2006/main">
              <a:ext uri="{FF2B5EF4-FFF2-40B4-BE49-F238E27FC236}">
                <a16:creationId xmlns:a16="http://schemas.microsoft.com/office/drawing/2014/main" id="{2BBD3935-AF9A-4103-919C-EA0CE1A86F26}"/>
              </a:ext>
            </a:extLst>
          </p:cNvPr>
          <p:cNvSpPr>
            <a:spLocks xmlns:a="http://schemas.openxmlformats.org/drawingml/2006/main" noGrp="1"/>
          </p:cNvSpPr>
          <p:nvPr/>
        </p:nvSpPr>
        <p:spPr>
          <a:xfrm xmlns:a="http://schemas.openxmlformats.org/drawingml/2006/main">
            <a:off x="6096000" y="3143250"/>
            <a:ext cx="781050" cy="171450"/>
          </a:xfrm>
          <a:prstGeom xmlns:a="http://schemas.openxmlformats.org/drawingml/2006/main" prst="rightArrow">
            <a:avLst/>
          </a:prstGeom>
          <a:solidFill xmlns:a="http://schemas.openxmlformats.org/drawingml/2006/main">
            <a:srgbClr val="3D6F58"/>
          </a:solidFill>
          <a:ln xmlns:a="http://schemas.openxmlformats.org/drawingml/2006/main" w="0">
            <a:solidFill>
              <a:srgbClr val="3D6F58"/>
            </a:solidFill>
            <a:prstDash val="solid"/>
          </a:ln>
        </p:spPr>
      </p:sp>
      <p:sp>
        <p:nvSpPr>
          <p:cNvPr id="19" name="context-box">
            <a:extLst xmlns:a="http://schemas.openxmlformats.org/drawingml/2006/main">
              <a:ext uri="{FF2B5EF4-FFF2-40B4-BE49-F238E27FC236}">
                <a16:creationId xmlns:a16="http://schemas.microsoft.com/office/drawing/2014/main" id="{5B6D248B-0E7D-467C-B728-EEC92F69A629}"/>
              </a:ext>
            </a:extLst>
          </p:cNvPr>
          <p:cNvSpPr>
            <a:spLocks xmlns:a="http://schemas.openxmlformats.org/drawingml/2006/main" noGrp="1"/>
          </p:cNvSpPr>
          <p:nvPr/>
        </p:nvSpPr>
        <p:spPr>
          <a:xfrm xmlns:a="http://schemas.openxmlformats.org/drawingml/2006/main">
            <a:off x="7239000" y="1809750"/>
            <a:ext cx="3619500" cy="2743200"/>
          </a:xfrm>
          <a:prstGeom xmlns:a="http://schemas.openxmlformats.org/drawingml/2006/main" prst="roundRect">
            <a:avLst>
              <a:gd name="adj" fmla="val 4167"/>
            </a:avLst>
          </a:prstGeom>
          <a:solidFill xmlns:a="http://schemas.openxmlformats.org/drawingml/2006/main">
            <a:srgbClr val="E3F0E6"/>
          </a:solidFill>
          <a:ln xmlns:a="http://schemas.openxmlformats.org/drawingml/2006/main" w="9525">
            <a:solidFill>
              <a:srgbClr val="3D6F58"/>
            </a:solidFill>
            <a:prstDash val="solid"/>
          </a:ln>
        </p:spPr>
      </p:sp>
      <p:sp>
        <p:nvSpPr>
          <p:cNvPr id="20" name="context-label">
            <a:extLst xmlns:a="http://schemas.openxmlformats.org/drawingml/2006/main">
              <a:ext uri="{FF2B5EF4-FFF2-40B4-BE49-F238E27FC236}">
                <a16:creationId xmlns:a16="http://schemas.microsoft.com/office/drawing/2014/main" id="{23E899A5-64E3-476C-B38A-EAAA16207235}"/>
              </a:ext>
            </a:extLst>
          </p:cNvPr>
          <p:cNvSpPr>
            <a:spLocks xmlns:a="http://schemas.openxmlformats.org/drawingml/2006/main" noGrp="1"/>
          </p:cNvSpPr>
          <p:nvPr/>
        </p:nvSpPr>
        <p:spPr>
          <a:xfrm xmlns:a="http://schemas.openxmlformats.org/drawingml/2006/main">
            <a:off x="7543800" y="20574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3D6F58"/>
                </a:solidFill>
                <a:latin typeface="Aptos"/>
                <a:ea typeface="Aptos"/>
                <a:cs typeface="Aptos"/>
              </a:defRPr>
            </a:pPr>
            <a:r>
              <a:rPr sz="975" b="1">
                <a:solidFill>
                  <a:srgbClr val="3D6F58"/>
                </a:solidFill>
                <a:latin typeface="Aptos"/>
                <a:ea typeface="Aptos"/>
                <a:cs typeface="Aptos"/>
              </a:rPr>
              <a:t>CONTEXT TO OLLAMA</a:t>
            </a:r>
          </a:p>
        </p:txBody>
      </p:sp>
      <p:sp>
        <p:nvSpPr>
          <p:cNvPr id="21" name="context-bullet-rule-0">
            <a:extLst xmlns:a="http://schemas.openxmlformats.org/drawingml/2006/main">
              <a:ext uri="{FF2B5EF4-FFF2-40B4-BE49-F238E27FC236}">
                <a16:creationId xmlns:a16="http://schemas.microsoft.com/office/drawing/2014/main" id="{972EEE75-5D6D-4D8A-9241-FF20932CB861}"/>
              </a:ext>
            </a:extLst>
          </p:cNvPr>
          <p:cNvSpPr>
            <a:spLocks xmlns:a="http://schemas.openxmlformats.org/drawingml/2006/main" noGrp="1"/>
          </p:cNvSpPr>
          <p:nvPr/>
        </p:nvSpPr>
        <p:spPr>
          <a:xfrm xmlns:a="http://schemas.openxmlformats.org/drawingml/2006/main">
            <a:off x="7543800" y="2571750"/>
            <a:ext cx="28575" cy="361950"/>
          </a:xfrm>
          <a:prstGeom xmlns:a="http://schemas.openxmlformats.org/drawingml/2006/main" prst="line">
            <a:avLst/>
          </a:prstGeom>
          <a:noFill xmlns:a="http://schemas.openxmlformats.org/drawingml/2006/main"/>
          <a:ln xmlns:a="http://schemas.openxmlformats.org/drawingml/2006/main" w="28575">
            <a:solidFill>
              <a:srgbClr val="3D6F58"/>
            </a:solidFill>
            <a:prstDash val="solid"/>
          </a:ln>
        </p:spPr>
      </p:sp>
      <p:sp>
        <p:nvSpPr>
          <p:cNvPr id="22" name="context-bullet-0">
            <a:extLst xmlns:a="http://schemas.openxmlformats.org/drawingml/2006/main">
              <a:ext uri="{FF2B5EF4-FFF2-40B4-BE49-F238E27FC236}">
                <a16:creationId xmlns:a16="http://schemas.microsoft.com/office/drawing/2014/main" id="{13168994-C8A0-4B8A-BEC2-B35C644CFC89}"/>
              </a:ext>
            </a:extLst>
          </p:cNvPr>
          <p:cNvSpPr>
            <a:spLocks xmlns:a="http://schemas.openxmlformats.org/drawingml/2006/main" noGrp="1"/>
          </p:cNvSpPr>
          <p:nvPr/>
        </p:nvSpPr>
        <p:spPr>
          <a:xfrm xmlns:a="http://schemas.openxmlformats.org/drawingml/2006/main">
            <a:off x="7696200" y="2495550"/>
            <a:ext cx="2705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Fuse top-k 20</a:t>
            </a:r>
          </a:p>
        </p:txBody>
      </p:sp>
      <p:sp>
        <p:nvSpPr>
          <p:cNvPr id="23" name="context-bullet-rule-1">
            <a:extLst xmlns:a="http://schemas.openxmlformats.org/drawingml/2006/main">
              <a:ext uri="{FF2B5EF4-FFF2-40B4-BE49-F238E27FC236}">
                <a16:creationId xmlns:a16="http://schemas.microsoft.com/office/drawing/2014/main" id="{18924DED-27D5-4813-A2B2-68D40CBD7879}"/>
              </a:ext>
            </a:extLst>
          </p:cNvPr>
          <p:cNvSpPr>
            <a:spLocks xmlns:a="http://schemas.openxmlformats.org/drawingml/2006/main" noGrp="1"/>
          </p:cNvSpPr>
          <p:nvPr/>
        </p:nvSpPr>
        <p:spPr>
          <a:xfrm xmlns:a="http://schemas.openxmlformats.org/drawingml/2006/main">
            <a:off x="7543800" y="3028950"/>
            <a:ext cx="28575" cy="361950"/>
          </a:xfrm>
          <a:prstGeom xmlns:a="http://schemas.openxmlformats.org/drawingml/2006/main" prst="line">
            <a:avLst/>
          </a:prstGeom>
          <a:noFill xmlns:a="http://schemas.openxmlformats.org/drawingml/2006/main"/>
          <a:ln xmlns:a="http://schemas.openxmlformats.org/drawingml/2006/main" w="28575">
            <a:solidFill>
              <a:srgbClr val="3D6F58"/>
            </a:solidFill>
            <a:prstDash val="solid"/>
          </a:ln>
        </p:spPr>
      </p:sp>
      <p:sp>
        <p:nvSpPr>
          <p:cNvPr id="24" name="context-bullet-1">
            <a:extLst xmlns:a="http://schemas.openxmlformats.org/drawingml/2006/main">
              <a:ext uri="{FF2B5EF4-FFF2-40B4-BE49-F238E27FC236}">
                <a16:creationId xmlns:a16="http://schemas.microsoft.com/office/drawing/2014/main" id="{314E2436-27A9-469B-AEF1-EEE29E9D77AD}"/>
              </a:ext>
            </a:extLst>
          </p:cNvPr>
          <p:cNvSpPr>
            <a:spLocks xmlns:a="http://schemas.openxmlformats.org/drawingml/2006/main" noGrp="1"/>
          </p:cNvSpPr>
          <p:nvPr/>
        </p:nvSpPr>
        <p:spPr>
          <a:xfrm xmlns:a="http://schemas.openxmlformats.org/drawingml/2006/main">
            <a:off x="7696200" y="2952750"/>
            <a:ext cx="2705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Deduplicate by base node</a:t>
            </a:r>
          </a:p>
        </p:txBody>
      </p:sp>
      <p:sp>
        <p:nvSpPr>
          <p:cNvPr id="25" name="context-bullet-rule-2">
            <a:extLst xmlns:a="http://schemas.openxmlformats.org/drawingml/2006/main">
              <a:ext uri="{FF2B5EF4-FFF2-40B4-BE49-F238E27FC236}">
                <a16:creationId xmlns:a16="http://schemas.microsoft.com/office/drawing/2014/main" id="{62B8B3A8-8770-4C29-8691-0C011D9943DB}"/>
              </a:ext>
            </a:extLst>
          </p:cNvPr>
          <p:cNvSpPr>
            <a:spLocks xmlns:a="http://schemas.openxmlformats.org/drawingml/2006/main" noGrp="1"/>
          </p:cNvSpPr>
          <p:nvPr/>
        </p:nvSpPr>
        <p:spPr>
          <a:xfrm xmlns:a="http://schemas.openxmlformats.org/drawingml/2006/main">
            <a:off x="7543800" y="3486150"/>
            <a:ext cx="28575" cy="361950"/>
          </a:xfrm>
          <a:prstGeom xmlns:a="http://schemas.openxmlformats.org/drawingml/2006/main" prst="line">
            <a:avLst/>
          </a:prstGeom>
          <a:noFill xmlns:a="http://schemas.openxmlformats.org/drawingml/2006/main"/>
          <a:ln xmlns:a="http://schemas.openxmlformats.org/drawingml/2006/main" w="28575">
            <a:solidFill>
              <a:srgbClr val="3D6F58"/>
            </a:solidFill>
            <a:prstDash val="solid"/>
          </a:ln>
        </p:spPr>
      </p:sp>
      <p:sp>
        <p:nvSpPr>
          <p:cNvPr id="26" name="context-bullet-2">
            <a:extLst xmlns:a="http://schemas.openxmlformats.org/drawingml/2006/main">
              <a:ext uri="{FF2B5EF4-FFF2-40B4-BE49-F238E27FC236}">
                <a16:creationId xmlns:a16="http://schemas.microsoft.com/office/drawing/2014/main" id="{1C3B44C5-A8F5-496D-857F-6105F7342C9B}"/>
              </a:ext>
            </a:extLst>
          </p:cNvPr>
          <p:cNvSpPr>
            <a:spLocks xmlns:a="http://schemas.openxmlformats.org/drawingml/2006/main" noGrp="1"/>
          </p:cNvSpPr>
          <p:nvPr/>
        </p:nvSpPr>
        <p:spPr>
          <a:xfrm xmlns:a="http://schemas.openxmlformats.org/drawingml/2006/main">
            <a:off x="7696200" y="3409950"/>
            <a:ext cx="2705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Keep best 5 for benchmark</a:t>
            </a:r>
          </a:p>
        </p:txBody>
      </p:sp>
      <p:sp>
        <p:nvSpPr>
          <p:cNvPr id="27" name="context-bullet-rule-3">
            <a:extLst xmlns:a="http://schemas.openxmlformats.org/drawingml/2006/main">
              <a:ext uri="{FF2B5EF4-FFF2-40B4-BE49-F238E27FC236}">
                <a16:creationId xmlns:a16="http://schemas.microsoft.com/office/drawing/2014/main" id="{E72C1F0F-5542-45F4-87A7-FF7CDB48A547}"/>
              </a:ext>
            </a:extLst>
          </p:cNvPr>
          <p:cNvSpPr>
            <a:spLocks xmlns:a="http://schemas.openxmlformats.org/drawingml/2006/main" noGrp="1"/>
          </p:cNvSpPr>
          <p:nvPr/>
        </p:nvSpPr>
        <p:spPr>
          <a:xfrm xmlns:a="http://schemas.openxmlformats.org/drawingml/2006/main">
            <a:off x="7543800" y="3943350"/>
            <a:ext cx="28575" cy="361950"/>
          </a:xfrm>
          <a:prstGeom xmlns:a="http://schemas.openxmlformats.org/drawingml/2006/main" prst="line">
            <a:avLst/>
          </a:prstGeom>
          <a:noFill xmlns:a="http://schemas.openxmlformats.org/drawingml/2006/main"/>
          <a:ln xmlns:a="http://schemas.openxmlformats.org/drawingml/2006/main" w="28575">
            <a:solidFill>
              <a:srgbClr val="3D6F58"/>
            </a:solidFill>
            <a:prstDash val="solid"/>
          </a:ln>
        </p:spPr>
      </p:sp>
      <p:sp>
        <p:nvSpPr>
          <p:cNvPr id="28" name="context-bullet-3">
            <a:extLst xmlns:a="http://schemas.openxmlformats.org/drawingml/2006/main">
              <a:ext uri="{FF2B5EF4-FFF2-40B4-BE49-F238E27FC236}">
                <a16:creationId xmlns:a16="http://schemas.microsoft.com/office/drawing/2014/main" id="{D1E0083F-0AA0-448D-9E1B-F0962B5B8AD6}"/>
              </a:ext>
            </a:extLst>
          </p:cNvPr>
          <p:cNvSpPr>
            <a:spLocks xmlns:a="http://schemas.openxmlformats.org/drawingml/2006/main" noGrp="1"/>
          </p:cNvSpPr>
          <p:nvPr/>
        </p:nvSpPr>
        <p:spPr>
          <a:xfrm xmlns:a="http://schemas.openxmlformats.org/drawingml/2006/main">
            <a:off x="7696200" y="3867150"/>
            <a:ext cx="2705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1D2A34"/>
                </a:solidFill>
                <a:latin typeface="Aptos"/>
                <a:ea typeface="Aptos"/>
                <a:cs typeface="Aptos"/>
              </a:defRPr>
            </a:pPr>
            <a:r>
              <a:rPr sz="1350">
                <a:solidFill>
                  <a:srgbClr val="1D2A34"/>
                </a:solidFill>
                <a:latin typeface="Aptos"/>
                <a:ea typeface="Aptos"/>
                <a:cs typeface="Aptos"/>
              </a:rPr>
              <a:t>Optional token / character budget</a:t>
            </a:r>
          </a:p>
        </p:txBody>
      </p:sp>
      <p:sp>
        <p:nvSpPr>
          <p:cNvPr id="29" name="rrf-takeaway">
            <a:extLst xmlns:a="http://schemas.openxmlformats.org/drawingml/2006/main">
              <a:ext uri="{FF2B5EF4-FFF2-40B4-BE49-F238E27FC236}">
                <a16:creationId xmlns:a16="http://schemas.microsoft.com/office/drawing/2014/main" id="{139AF9AC-270F-4EB5-8A96-DD81DCDA3F19}"/>
              </a:ext>
            </a:extLst>
          </p:cNvPr>
          <p:cNvSpPr>
            <a:spLocks xmlns:a="http://schemas.openxmlformats.org/drawingml/2006/main" noGrp="1"/>
          </p:cNvSpPr>
          <p:nvPr/>
        </p:nvSpPr>
        <p:spPr>
          <a:xfrm xmlns:a="http://schemas.openxmlformats.org/drawingml/2006/main">
            <a:off x="685800" y="5143500"/>
            <a:ext cx="10172700" cy="533400"/>
          </a:xfrm>
          <a:prstGeom xmlns:a="http://schemas.openxmlformats.org/drawingml/2006/main" prst="roundRect">
            <a:avLst>
              <a:gd name="adj" fmla="val 14286"/>
            </a:avLst>
          </a:prstGeom>
          <a:solidFill xmlns:a="http://schemas.openxmlformats.org/drawingml/2006/main">
            <a:srgbClr val="FFFDF8"/>
          </a:solidFill>
          <a:ln xmlns:a="http://schemas.openxmlformats.org/drawingml/2006/main" w="9525">
            <a:solidFill>
              <a:srgbClr val="2D6F78"/>
            </a:solidFill>
            <a:prstDash val="solid"/>
          </a:ln>
        </p:spPr>
      </p:sp>
      <p:sp>
        <p:nvSpPr>
          <p:cNvPr id="30" name="rrf-takeaway-label">
            <a:extLst xmlns:a="http://schemas.openxmlformats.org/drawingml/2006/main">
              <a:ext uri="{FF2B5EF4-FFF2-40B4-BE49-F238E27FC236}">
                <a16:creationId xmlns:a16="http://schemas.microsoft.com/office/drawing/2014/main" id="{720DC436-BCF8-4CF2-9201-80355B1349A8}"/>
              </a:ext>
            </a:extLst>
          </p:cNvPr>
          <p:cNvSpPr>
            <a:spLocks xmlns:a="http://schemas.openxmlformats.org/drawingml/2006/main" noGrp="1"/>
          </p:cNvSpPr>
          <p:nvPr/>
        </p:nvSpPr>
        <p:spPr>
          <a:xfrm xmlns:a="http://schemas.openxmlformats.org/drawingml/2006/main">
            <a:off x="952500" y="52768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31" name="rrf-takeaway-copy">
            <a:extLst xmlns:a="http://schemas.openxmlformats.org/drawingml/2006/main">
              <a:ext uri="{FF2B5EF4-FFF2-40B4-BE49-F238E27FC236}">
                <a16:creationId xmlns:a16="http://schemas.microsoft.com/office/drawing/2014/main" id="{A9BD3A0A-6508-4763-96A6-220F841FF0DD}"/>
              </a:ext>
            </a:extLst>
          </p:cNvPr>
          <p:cNvSpPr>
            <a:spLocks xmlns:a="http://schemas.openxmlformats.org/drawingml/2006/main" noGrp="1"/>
          </p:cNvSpPr>
          <p:nvPr/>
        </p:nvSpPr>
        <p:spPr>
          <a:xfrm xmlns:a="http://schemas.openxmlformats.org/drawingml/2006/main">
            <a:off x="952500" y="5248275"/>
            <a:ext cx="962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D2A34"/>
                </a:solidFill>
                <a:latin typeface="Aptos"/>
                <a:ea typeface="Aptos"/>
                <a:cs typeface="Aptos"/>
              </a:defRPr>
            </a:pPr>
            <a:r>
              <a:rPr sz="1200" b="1">
                <a:solidFill>
                  <a:srgbClr val="1D2A34"/>
                </a:solidFill>
                <a:latin typeface="Aptos"/>
                <a:ea typeface="Aptos"/>
                <a:cs typeface="Aptos"/>
              </a:rPr>
              <a:t>RRF uses rank positions—not raw scores; generic local combines graph 1.0 with vector 1.0.</a:t>
            </a:r>
          </a:p>
        </p:txBody>
      </p:sp>
      <p:sp>
        <p:nvSpPr>
          <p:cNvPr id="32" name="footer-label">
            <a:extLst xmlns:a="http://schemas.openxmlformats.org/drawingml/2006/main">
              <a:ext uri="{FF2B5EF4-FFF2-40B4-BE49-F238E27FC236}">
                <a16:creationId xmlns:a16="http://schemas.microsoft.com/office/drawing/2014/main" id="{0F4ED215-E990-4300-A974-1F7A72B0D5BC}"/>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07 / 15</a:t>
            </a:r>
          </a:p>
        </p:txBody>
      </p:sp>
      <p:sp>
        <p:nvSpPr>
          <p:cNvPr id="33" name="footer-number">
            <a:extLst xmlns:a="http://schemas.openxmlformats.org/drawingml/2006/main">
              <a:ext uri="{FF2B5EF4-FFF2-40B4-BE49-F238E27FC236}">
                <a16:creationId xmlns:a16="http://schemas.microsoft.com/office/drawing/2014/main" id="{218EFDA1-7497-484D-A5FC-DAF16ABA2864}"/>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1305643684"/>
      </p:ext>
    </p:extLst>
  </p:cSld>
</p:sld>
</file>

<file path=ppt/slides/slide1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15823A0D-263B-4893-A59F-3393608FF2D8}"/>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RETRIEVAL MECHANISM  ·  DETAIL  ·  06 / 13</a:t>
            </a:r>
          </a:p>
        </p:txBody>
      </p:sp>
      <p:sp>
        <p:nvSpPr>
          <p:cNvPr id="2" name="kicker-rule">
            <a:extLst xmlns:a="http://schemas.openxmlformats.org/drawingml/2006/main">
              <a:ext uri="{FF2B5EF4-FFF2-40B4-BE49-F238E27FC236}">
                <a16:creationId xmlns:a16="http://schemas.microsoft.com/office/drawing/2014/main" id="{20174E00-7449-457E-A921-AAF56BC59959}"/>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54DAEB2C-742A-4FC9-936B-68D1CD3B02A9}"/>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RRF combines ranks without assuming calibrated scores.</a:t>
            </a:r>
          </a:p>
        </p:txBody>
      </p:sp>
      <p:sp>
        <p:nvSpPr>
          <p:cNvPr id="4" name="depth-box-5">
            <a:extLst xmlns:a="http://schemas.openxmlformats.org/drawingml/2006/main">
              <a:ext uri="{FF2B5EF4-FFF2-40B4-BE49-F238E27FC236}">
                <a16:creationId xmlns:a16="http://schemas.microsoft.com/office/drawing/2014/main" id="{AFA5E62A-8706-43FC-B536-435B8369D473}"/>
              </a:ext>
            </a:extLst>
          </p:cNvPr>
          <p:cNvSpPr>
            <a:spLocks xmlns:a="http://schemas.openxmlformats.org/drawingml/2006/main" noGrp="1"/>
          </p:cNvSpPr>
          <p:nvPr/>
        </p:nvSpPr>
        <p:spPr>
          <a:xfrm xmlns:a="http://schemas.openxmlformats.org/drawingml/2006/main">
            <a:off x="685800" y="1981200"/>
            <a:ext cx="108204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9525">
            <a:solidFill>
              <a:srgbClr val="C9D1D1"/>
            </a:solidFill>
            <a:prstDash val="solid"/>
          </a:ln>
        </p:spPr>
      </p:sp>
      <p:sp>
        <p:nvSpPr>
          <p:cNvPr id="5" name="depth-label-5">
            <a:extLst xmlns:a="http://schemas.openxmlformats.org/drawingml/2006/main">
              <a:ext uri="{FF2B5EF4-FFF2-40B4-BE49-F238E27FC236}">
                <a16:creationId xmlns:a16="http://schemas.microsoft.com/office/drawing/2014/main" id="{88F7C8E2-4238-4C93-9F8B-7C08AC77E5E5}"/>
              </a:ext>
            </a:extLst>
          </p:cNvPr>
          <p:cNvSpPr>
            <a:spLocks xmlns:a="http://schemas.openxmlformats.org/drawingml/2006/main" noGrp="1"/>
          </p:cNvSpPr>
          <p:nvPr/>
        </p:nvSpPr>
        <p:spPr>
          <a:xfrm xmlns:a="http://schemas.openxmlformats.org/drawingml/2006/main">
            <a:off x="990600" y="2286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EVIDENCE DETAIL</a:t>
            </a:r>
          </a:p>
        </p:txBody>
      </p:sp>
      <p:sp>
        <p:nvSpPr>
          <p:cNvPr id="6" name="depth-copy-5">
            <a:extLst xmlns:a="http://schemas.openxmlformats.org/drawingml/2006/main">
              <a:ext uri="{FF2B5EF4-FFF2-40B4-BE49-F238E27FC236}">
                <a16:creationId xmlns:a16="http://schemas.microsoft.com/office/drawing/2014/main" id="{26F68140-00D0-401A-AE27-35E42AB65D5F}"/>
              </a:ext>
            </a:extLst>
          </p:cNvPr>
          <p:cNvSpPr>
            <a:spLocks xmlns:a="http://schemas.openxmlformats.org/drawingml/2006/main" noGrp="1"/>
          </p:cNvSpPr>
          <p:nvPr/>
        </p:nvSpPr>
        <p:spPr>
          <a:xfrm xmlns:a="http://schemas.openxmlformats.org/drawingml/2006/main">
            <a:off x="990600" y="2724150"/>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D2A34"/>
                </a:solidFill>
                <a:latin typeface="Aptos"/>
                <a:ea typeface="Aptos"/>
                <a:cs typeface="Aptos"/>
              </a:defRPr>
            </a:pPr>
            <a:r>
              <a:rPr sz="2100" b="1">
                <a:solidFill>
                  <a:srgbClr val="1D2A34"/>
                </a:solidFill>
                <a:latin typeface="Aptos"/>
                <a:ea typeface="Aptos"/>
                <a:cs typeface="Aptos"/>
              </a:rPr>
              <a:t>Smoothing constant 60; route-specific weights; vector-only sets graph contribution to zero.</a:t>
            </a:r>
          </a:p>
        </p:txBody>
      </p:sp>
      <p:sp>
        <p:nvSpPr>
          <p:cNvPr id="7" name="depth-rule-5">
            <a:extLst xmlns:a="http://schemas.openxmlformats.org/drawingml/2006/main">
              <a:ext uri="{FF2B5EF4-FFF2-40B4-BE49-F238E27FC236}">
                <a16:creationId xmlns:a16="http://schemas.microsoft.com/office/drawing/2014/main" id="{D29326AA-CC92-47DF-8D00-04801A046352}"/>
              </a:ext>
            </a:extLst>
          </p:cNvPr>
          <p:cNvSpPr>
            <a:spLocks xmlns:a="http://schemas.openxmlformats.org/drawingml/2006/main" noGrp="1"/>
          </p:cNvSpPr>
          <p:nvPr/>
        </p:nvSpPr>
        <p:spPr>
          <a:xfrm xmlns:a="http://schemas.openxmlformats.org/drawingml/2006/main">
            <a:off x="990600" y="3886200"/>
            <a:ext cx="923925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8" name="depth-source-5">
            <a:extLst xmlns:a="http://schemas.openxmlformats.org/drawingml/2006/main">
              <a:ext uri="{FF2B5EF4-FFF2-40B4-BE49-F238E27FC236}">
                <a16:creationId xmlns:a16="http://schemas.microsoft.com/office/drawing/2014/main" id="{00ACF6B1-2485-4266-BCAF-33382D6377D6}"/>
              </a:ext>
            </a:extLst>
          </p:cNvPr>
          <p:cNvSpPr>
            <a:spLocks xmlns:a="http://schemas.openxmlformats.org/drawingml/2006/main" noGrp="1"/>
          </p:cNvSpPr>
          <p:nvPr/>
        </p:nvSpPr>
        <p:spPr>
          <a:xfrm xmlns:a="http://schemas.openxmlformats.org/drawingml/2006/main">
            <a:off x="990600" y="407670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Evidence boundary: src/hybrid_rag/retrieval/hybrid_retriever.py</a:t>
            </a:r>
          </a:p>
        </p:txBody>
      </p:sp>
      <p:sp>
        <p:nvSpPr>
          <p:cNvPr id="9" name="depth-callout-5">
            <a:extLst xmlns:a="http://schemas.openxmlformats.org/drawingml/2006/main">
              <a:ext uri="{FF2B5EF4-FFF2-40B4-BE49-F238E27FC236}">
                <a16:creationId xmlns:a16="http://schemas.microsoft.com/office/drawing/2014/main" id="{7D91AFAA-6782-4E6D-8119-7DD120558B77}"/>
              </a:ext>
            </a:extLst>
          </p:cNvPr>
          <p:cNvSpPr>
            <a:spLocks xmlns:a="http://schemas.openxmlformats.org/drawingml/2006/main" noGrp="1"/>
          </p:cNvSpPr>
          <p:nvPr/>
        </p:nvSpPr>
        <p:spPr>
          <a:xfrm xmlns:a="http://schemas.openxmlformats.org/drawingml/2006/main">
            <a:off x="685800" y="4857750"/>
            <a:ext cx="108204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0" name="depth-callout-5-label">
            <a:extLst xmlns:a="http://schemas.openxmlformats.org/drawingml/2006/main">
              <a:ext uri="{FF2B5EF4-FFF2-40B4-BE49-F238E27FC236}">
                <a16:creationId xmlns:a16="http://schemas.microsoft.com/office/drawing/2014/main" id="{CB86562A-3C4A-4B9C-9BEA-5CCABE87FDC3}"/>
              </a:ext>
            </a:extLst>
          </p:cNvPr>
          <p:cNvSpPr>
            <a:spLocks xmlns:a="http://schemas.openxmlformats.org/drawingml/2006/main" noGrp="1"/>
          </p:cNvSpPr>
          <p:nvPr/>
        </p:nvSpPr>
        <p:spPr>
          <a:xfrm xmlns:a="http://schemas.openxmlformats.org/drawingml/2006/main">
            <a:off x="952500" y="49911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1" name="depth-callout-5-copy">
            <a:extLst xmlns:a="http://schemas.openxmlformats.org/drawingml/2006/main">
              <a:ext uri="{FF2B5EF4-FFF2-40B4-BE49-F238E27FC236}">
                <a16:creationId xmlns:a16="http://schemas.microsoft.com/office/drawing/2014/main" id="{04A68FB8-E488-49A2-985B-FA1BF95CFD45}"/>
              </a:ext>
            </a:extLst>
          </p:cNvPr>
          <p:cNvSpPr>
            <a:spLocks xmlns:a="http://schemas.openxmlformats.org/drawingml/2006/main" noGrp="1"/>
          </p:cNvSpPr>
          <p:nvPr/>
        </p:nvSpPr>
        <p:spPr>
          <a:xfrm xmlns:a="http://schemas.openxmlformats.org/drawingml/2006/main">
            <a:off x="952500" y="4962525"/>
            <a:ext cx="10267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RRF makes rank positions comparable while keeping route-specific weights explicit.</a:t>
            </a:r>
          </a:p>
        </p:txBody>
      </p:sp>
      <p:sp>
        <p:nvSpPr>
          <p:cNvPr id="12" name="footer-label">
            <a:extLst xmlns:a="http://schemas.openxmlformats.org/drawingml/2006/main">
              <a:ext uri="{FF2B5EF4-FFF2-40B4-BE49-F238E27FC236}">
                <a16:creationId xmlns:a16="http://schemas.microsoft.com/office/drawing/2014/main" id="{5BD0D353-1248-4DD0-B8D5-DB4708FC6DB7}"/>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07 / 15 · DETAIL 1 / 1</a:t>
            </a:r>
          </a:p>
        </p:txBody>
      </p:sp>
      <p:sp>
        <p:nvSpPr>
          <p:cNvPr id="13" name="footer-number">
            <a:extLst xmlns:a="http://schemas.openxmlformats.org/drawingml/2006/main">
              <a:ext uri="{FF2B5EF4-FFF2-40B4-BE49-F238E27FC236}">
                <a16:creationId xmlns:a16="http://schemas.microsoft.com/office/drawing/2014/main" id="{28FE2824-478D-4D6C-8C05-F424AA57B060}"/>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SUPPORTING DETAIL</a:t>
            </a:r>
          </a:p>
        </p:txBody>
      </p:sp>
    </p:spTree>
    <p:extLst>
      <p:ext uri="{BB962C8B-B14F-4D97-AF65-F5344CB8AC3E}">
        <p14:creationId xmlns:p14="http://schemas.microsoft.com/office/powerpoint/2010/main" val="43485932"/>
      </p:ext>
    </p:extLst>
  </p:cSld>
</p:sld>
</file>

<file path=ppt/slides/slide1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36" name="kicker">
            <a:extLst xmlns:a="http://schemas.openxmlformats.org/drawingml/2006/main">
              <a:ext uri="{FF2B5EF4-FFF2-40B4-BE49-F238E27FC236}">
                <a16:creationId xmlns:a16="http://schemas.microsoft.com/office/drawing/2014/main" id="{B9021AC0-03DD-4C26-B8DF-880504001498}"/>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RELIABILITY &amp; PROVENANCE  ·  08 / 15</a:t>
            </a:r>
          </a:p>
        </p:txBody>
      </p:sp>
      <p:sp>
        <p:nvSpPr>
          <p:cNvPr id="2" name="kicker-rule">
            <a:extLst xmlns:a="http://schemas.openxmlformats.org/drawingml/2006/main">
              <a:ext uri="{FF2B5EF4-FFF2-40B4-BE49-F238E27FC236}">
                <a16:creationId xmlns:a16="http://schemas.microsoft.com/office/drawing/2014/main" id="{896248EB-82DE-4834-818D-218B495A8FEA}"/>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FB572E60-374A-490F-B2F1-3CD9C93B2BDB}"/>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Failure boundaries are explicit; replacement reduces index gaps.</a:t>
            </a:r>
          </a:p>
        </p:txBody>
      </p:sp>
      <p:sp>
        <p:nvSpPr>
          <p:cNvPr id="4" name="running-case-core-08-label">
            <a:extLst xmlns:a="http://schemas.openxmlformats.org/drawingml/2006/main">
              <a:ext uri="{FF2B5EF4-FFF2-40B4-BE49-F238E27FC236}">
                <a16:creationId xmlns:a16="http://schemas.microsoft.com/office/drawing/2014/main" id="{FFC7C396-6D2D-45E8-821E-DFC925CB7A49}"/>
              </a:ext>
            </a:extLst>
          </p:cNvPr>
          <p:cNvSpPr>
            <a:spLocks xmlns:a="http://schemas.openxmlformats.org/drawingml/2006/main" noGrp="1"/>
          </p:cNvSpPr>
          <p:nvPr/>
        </p:nvSpPr>
        <p:spPr>
          <a:xfrm xmlns:a="http://schemas.openxmlformats.org/drawingml/2006/main">
            <a:off x="685800" y="161925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RUNNING CASE</a:t>
            </a:r>
          </a:p>
        </p:txBody>
      </p:sp>
      <p:sp>
        <p:nvSpPr>
          <p:cNvPr id="5" name="running-case-core-08-query">
            <a:extLst xmlns:a="http://schemas.openxmlformats.org/drawingml/2006/main">
              <a:ext uri="{FF2B5EF4-FFF2-40B4-BE49-F238E27FC236}">
                <a16:creationId xmlns:a16="http://schemas.microsoft.com/office/drawing/2014/main" id="{9AE17C1C-1B00-4382-BA96-25BEA466CC42}"/>
              </a:ext>
            </a:extLst>
          </p:cNvPr>
          <p:cNvSpPr>
            <a:spLocks xmlns:a="http://schemas.openxmlformats.org/drawingml/2006/main" noGrp="1"/>
          </p:cNvSpPr>
          <p:nvPr/>
        </p:nvSpPr>
        <p:spPr>
          <a:xfrm xmlns:a="http://schemas.openxmlformats.org/drawingml/2006/main">
            <a:off x="2000250" y="1619250"/>
            <a:ext cx="2762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D6F58"/>
                </a:solidFill>
                <a:latin typeface="Aptos Mono"/>
                <a:ea typeface="Aptos Mono"/>
                <a:cs typeface="Aptos Mono"/>
              </a:defRPr>
            </a:pPr>
            <a:r>
              <a:rPr sz="825" b="1">
                <a:solidFill>
                  <a:srgbClr val="3D6F58"/>
                </a:solidFill>
                <a:latin typeface="Aptos Mono"/>
                <a:ea typeface="Aptos Mono"/>
                <a:cs typeface="Aptos Mono"/>
              </a:rPr>
              <a:t>BaseRetriever.retrieve</a:t>
            </a:r>
          </a:p>
        </p:txBody>
      </p:sp>
      <p:sp>
        <p:nvSpPr>
          <p:cNvPr id="6" name="running-case-core-08-stage">
            <a:extLst xmlns:a="http://schemas.openxmlformats.org/drawingml/2006/main">
              <a:ext uri="{FF2B5EF4-FFF2-40B4-BE49-F238E27FC236}">
                <a16:creationId xmlns:a16="http://schemas.microsoft.com/office/drawing/2014/main" id="{E7A0E3AF-078D-49FD-9C17-28368545A822}"/>
              </a:ext>
            </a:extLst>
          </p:cNvPr>
          <p:cNvSpPr>
            <a:spLocks xmlns:a="http://schemas.openxmlformats.org/drawingml/2006/main" noGrp="1"/>
          </p:cNvSpPr>
          <p:nvPr/>
        </p:nvSpPr>
        <p:spPr>
          <a:xfrm xmlns:a="http://schemas.openxmlformats.org/drawingml/2006/main">
            <a:off x="4857750" y="1619250"/>
            <a:ext cx="619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B65C3C"/>
                </a:solidFill>
                <a:latin typeface="Aptos"/>
                <a:ea typeface="Aptos"/>
                <a:cs typeface="Aptos"/>
              </a:defRPr>
            </a:pPr>
            <a:r>
              <a:rPr sz="825" b="1">
                <a:solidFill>
                  <a:srgbClr val="B65C3C"/>
                </a:solidFill>
                <a:latin typeface="Aptos"/>
                <a:ea typeface="Aptos"/>
                <a:cs typeface="Aptos"/>
              </a:rPr>
              <a:t>trace → provenance gate</a:t>
            </a:r>
          </a:p>
        </p:txBody>
      </p:sp>
      <p:sp>
        <p:nvSpPr>
          <p:cNvPr id="7" name="gate-0">
            <a:extLst xmlns:a="http://schemas.openxmlformats.org/drawingml/2006/main">
              <a:ext uri="{FF2B5EF4-FFF2-40B4-BE49-F238E27FC236}">
                <a16:creationId xmlns:a16="http://schemas.microsoft.com/office/drawing/2014/main" id="{F86932F4-6640-4CCB-8258-19B978FA8F6F}"/>
              </a:ext>
            </a:extLst>
          </p:cNvPr>
          <p:cNvSpPr>
            <a:spLocks xmlns:a="http://schemas.openxmlformats.org/drawingml/2006/main" noGrp="1"/>
          </p:cNvSpPr>
          <p:nvPr/>
        </p:nvSpPr>
        <p:spPr>
          <a:xfrm xmlns:a="http://schemas.openxmlformats.org/drawingml/2006/main">
            <a:off x="685800" y="2190750"/>
            <a:ext cx="1714500" cy="1428750"/>
          </a:xfrm>
          <a:prstGeom xmlns:a="http://schemas.openxmlformats.org/drawingml/2006/main" prst="roundRect">
            <a:avLst>
              <a:gd name="adj" fmla="val 5333"/>
            </a:avLst>
          </a:prstGeom>
          <a:solidFill xmlns:a="http://schemas.openxmlformats.org/drawingml/2006/main">
            <a:srgbClr val="DCEBED"/>
          </a:solidFill>
          <a:ln xmlns:a="http://schemas.openxmlformats.org/drawingml/2006/main" w="9525">
            <a:solidFill>
              <a:srgbClr val="2D6F78"/>
            </a:solidFill>
            <a:prstDash val="solid"/>
          </a:ln>
        </p:spPr>
      </p:sp>
      <p:sp>
        <p:nvSpPr>
          <p:cNvPr id="8" name="gate-num-0">
            <a:extLst xmlns:a="http://schemas.openxmlformats.org/drawingml/2006/main">
              <a:ext uri="{FF2B5EF4-FFF2-40B4-BE49-F238E27FC236}">
                <a16:creationId xmlns:a16="http://schemas.microsoft.com/office/drawing/2014/main" id="{A3200A20-AC48-42B0-8B9E-4B634EA6E136}"/>
              </a:ext>
            </a:extLst>
          </p:cNvPr>
          <p:cNvSpPr>
            <a:spLocks xmlns:a="http://schemas.openxmlformats.org/drawingml/2006/main" noGrp="1"/>
          </p:cNvSpPr>
          <p:nvPr/>
        </p:nvSpPr>
        <p:spPr>
          <a:xfrm xmlns:a="http://schemas.openxmlformats.org/drawingml/2006/main">
            <a:off x="876300" y="23812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2D6F78"/>
                </a:solidFill>
                <a:latin typeface="Aptos"/>
                <a:ea typeface="Aptos"/>
                <a:cs typeface="Aptos"/>
              </a:defRPr>
            </a:pPr>
            <a:r>
              <a:rPr sz="1650" b="1">
                <a:solidFill>
                  <a:srgbClr val="2D6F78"/>
                </a:solidFill>
                <a:latin typeface="Aptos"/>
                <a:ea typeface="Aptos"/>
                <a:cs typeface="Aptos"/>
              </a:rPr>
              <a:t>1</a:t>
            </a:r>
          </a:p>
        </p:txBody>
      </p:sp>
      <p:sp>
        <p:nvSpPr>
          <p:cNvPr id="9" name="gate-title-0">
            <a:extLst xmlns:a="http://schemas.openxmlformats.org/drawingml/2006/main">
              <a:ext uri="{FF2B5EF4-FFF2-40B4-BE49-F238E27FC236}">
                <a16:creationId xmlns:a16="http://schemas.microsoft.com/office/drawing/2014/main" id="{72CAE6B7-5D5B-466A-BCCF-1A4B8954607D}"/>
              </a:ext>
            </a:extLst>
          </p:cNvPr>
          <p:cNvSpPr>
            <a:spLocks xmlns:a="http://schemas.openxmlformats.org/drawingml/2006/main" noGrp="1"/>
          </p:cNvSpPr>
          <p:nvPr/>
        </p:nvSpPr>
        <p:spPr>
          <a:xfrm xmlns:a="http://schemas.openxmlformats.org/drawingml/2006/main">
            <a:off x="876300" y="27813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D2A34"/>
                </a:solidFill>
                <a:latin typeface="Aptos"/>
                <a:ea typeface="Aptos"/>
                <a:cs typeface="Aptos"/>
              </a:defRPr>
            </a:pPr>
            <a:r>
              <a:rPr sz="1500" b="1">
                <a:solidFill>
                  <a:srgbClr val="1D2A34"/>
                </a:solidFill>
                <a:latin typeface="Aptos"/>
                <a:ea typeface="Aptos"/>
                <a:cs typeface="Aptos"/>
              </a:rPr>
              <a:t>Accept input</a:t>
            </a:r>
          </a:p>
        </p:txBody>
      </p:sp>
      <p:sp>
        <p:nvSpPr>
          <p:cNvPr id="10" name="gate-copy-0">
            <a:extLst xmlns:a="http://schemas.openxmlformats.org/drawingml/2006/main">
              <a:ext uri="{FF2B5EF4-FFF2-40B4-BE49-F238E27FC236}">
                <a16:creationId xmlns:a16="http://schemas.microsoft.com/office/drawing/2014/main" id="{CF9470B2-B8F8-4C1D-A3D3-5ECD79E74C7D}"/>
              </a:ext>
            </a:extLst>
          </p:cNvPr>
          <p:cNvSpPr>
            <a:spLocks xmlns:a="http://schemas.openxmlformats.org/drawingml/2006/main" noGrp="1"/>
          </p:cNvSpPr>
          <p:nvPr/>
        </p:nvSpPr>
        <p:spPr>
          <a:xfrm xmlns:a="http://schemas.openxmlformats.org/drawingml/2006/main">
            <a:off x="876300" y="3238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a:solidFill>
                  <a:srgbClr val="586671"/>
                </a:solidFill>
                <a:latin typeface="Aptos"/>
                <a:ea typeface="Aptos"/>
                <a:cs typeface="Aptos"/>
              </a:defRPr>
            </a:pPr>
            <a:r>
              <a:rPr sz="1125">
                <a:solidFill>
                  <a:srgbClr val="586671"/>
                </a:solidFill>
                <a:latin typeface="Aptos"/>
                <a:ea typeface="Aptos"/>
                <a:cs typeface="Aptos"/>
              </a:rPr>
              <a:t>Python + local Ollama</a:t>
            </a:r>
          </a:p>
        </p:txBody>
      </p:sp>
      <p:sp>
        <p:nvSpPr>
          <p:cNvPr id="11" name="gate-arrow-0">
            <a:extLst xmlns:a="http://schemas.openxmlformats.org/drawingml/2006/main">
              <a:ext uri="{FF2B5EF4-FFF2-40B4-BE49-F238E27FC236}">
                <a16:creationId xmlns:a16="http://schemas.microsoft.com/office/drawing/2014/main" id="{6D977018-9F07-41AB-868D-AC727729D279}"/>
              </a:ext>
            </a:extLst>
          </p:cNvPr>
          <p:cNvSpPr>
            <a:spLocks xmlns:a="http://schemas.openxmlformats.org/drawingml/2006/main" noGrp="1"/>
          </p:cNvSpPr>
          <p:nvPr/>
        </p:nvSpPr>
        <p:spPr>
          <a:xfrm xmlns:a="http://schemas.openxmlformats.org/drawingml/2006/main">
            <a:off x="2438400" y="2800350"/>
            <a:ext cx="228600" cy="133350"/>
          </a:xfrm>
          <a:prstGeom xmlns:a="http://schemas.openxmlformats.org/drawingml/2006/main" prst="rightArrow">
            <a:avLst/>
          </a:prstGeom>
          <a:solidFill xmlns:a="http://schemas.openxmlformats.org/drawingml/2006/main">
            <a:srgbClr val="B65C3C"/>
          </a:solidFill>
          <a:ln xmlns:a="http://schemas.openxmlformats.org/drawingml/2006/main" w="0">
            <a:solidFill>
              <a:srgbClr val="B65C3C"/>
            </a:solidFill>
            <a:prstDash val="solid"/>
          </a:ln>
        </p:spPr>
      </p:sp>
      <p:sp>
        <p:nvSpPr>
          <p:cNvPr id="12" name="gate-1">
            <a:extLst xmlns:a="http://schemas.openxmlformats.org/drawingml/2006/main">
              <a:ext uri="{FF2B5EF4-FFF2-40B4-BE49-F238E27FC236}">
                <a16:creationId xmlns:a16="http://schemas.microsoft.com/office/drawing/2014/main" id="{831739A5-EE67-4FCF-A37F-E7034C4DC31A}"/>
              </a:ext>
            </a:extLst>
          </p:cNvPr>
          <p:cNvSpPr>
            <a:spLocks xmlns:a="http://schemas.openxmlformats.org/drawingml/2006/main" noGrp="1"/>
          </p:cNvSpPr>
          <p:nvPr/>
        </p:nvSpPr>
        <p:spPr>
          <a:xfrm xmlns:a="http://schemas.openxmlformats.org/drawingml/2006/main">
            <a:off x="2724150" y="2190750"/>
            <a:ext cx="1714500" cy="1428750"/>
          </a:xfrm>
          <a:prstGeom xmlns:a="http://schemas.openxmlformats.org/drawingml/2006/main" prst="roundRect">
            <a:avLst>
              <a:gd name="adj" fmla="val 5333"/>
            </a:avLst>
          </a:prstGeom>
          <a:solidFill xmlns:a="http://schemas.openxmlformats.org/drawingml/2006/main">
            <a:srgbClr val="E6EEF5"/>
          </a:solidFill>
          <a:ln xmlns:a="http://schemas.openxmlformats.org/drawingml/2006/main" w="9525">
            <a:solidFill>
              <a:srgbClr val="B65C3C"/>
            </a:solidFill>
            <a:prstDash val="solid"/>
          </a:ln>
        </p:spPr>
      </p:sp>
      <p:sp>
        <p:nvSpPr>
          <p:cNvPr id="13" name="gate-num-1">
            <a:extLst xmlns:a="http://schemas.openxmlformats.org/drawingml/2006/main">
              <a:ext uri="{FF2B5EF4-FFF2-40B4-BE49-F238E27FC236}">
                <a16:creationId xmlns:a16="http://schemas.microsoft.com/office/drawing/2014/main" id="{FDFA82A8-2DB7-4351-A29F-1D5EA4FB9971}"/>
              </a:ext>
            </a:extLst>
          </p:cNvPr>
          <p:cNvSpPr>
            <a:spLocks xmlns:a="http://schemas.openxmlformats.org/drawingml/2006/main" noGrp="1"/>
          </p:cNvSpPr>
          <p:nvPr/>
        </p:nvSpPr>
        <p:spPr>
          <a:xfrm xmlns:a="http://schemas.openxmlformats.org/drawingml/2006/main">
            <a:off x="2914650" y="23812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B65C3C"/>
                </a:solidFill>
                <a:latin typeface="Aptos"/>
                <a:ea typeface="Aptos"/>
                <a:cs typeface="Aptos"/>
              </a:defRPr>
            </a:pPr>
            <a:r>
              <a:rPr sz="1650" b="1">
                <a:solidFill>
                  <a:srgbClr val="B65C3C"/>
                </a:solidFill>
                <a:latin typeface="Aptos"/>
                <a:ea typeface="Aptos"/>
                <a:cs typeface="Aptos"/>
              </a:rPr>
              <a:t>2</a:t>
            </a:r>
          </a:p>
        </p:txBody>
      </p:sp>
      <p:sp>
        <p:nvSpPr>
          <p:cNvPr id="14" name="gate-title-1">
            <a:extLst xmlns:a="http://schemas.openxmlformats.org/drawingml/2006/main">
              <a:ext uri="{FF2B5EF4-FFF2-40B4-BE49-F238E27FC236}">
                <a16:creationId xmlns:a16="http://schemas.microsoft.com/office/drawing/2014/main" id="{5F760182-716C-4018-8A33-C64C1E79026B}"/>
              </a:ext>
            </a:extLst>
          </p:cNvPr>
          <p:cNvSpPr>
            <a:spLocks xmlns:a="http://schemas.openxmlformats.org/drawingml/2006/main" noGrp="1"/>
          </p:cNvSpPr>
          <p:nvPr/>
        </p:nvSpPr>
        <p:spPr>
          <a:xfrm xmlns:a="http://schemas.openxmlformats.org/drawingml/2006/main">
            <a:off x="2914650" y="27813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D2A34"/>
                </a:solidFill>
                <a:latin typeface="Aptos"/>
                <a:ea typeface="Aptos"/>
                <a:cs typeface="Aptos"/>
              </a:defRPr>
            </a:pPr>
            <a:r>
              <a:rPr sz="1500" b="1">
                <a:solidFill>
                  <a:srgbClr val="1D2A34"/>
                </a:solidFill>
                <a:latin typeface="Aptos"/>
                <a:ea typeface="Aptos"/>
                <a:cs typeface="Aptos"/>
              </a:rPr>
              <a:t>Bind identity</a:t>
            </a:r>
          </a:p>
        </p:txBody>
      </p:sp>
      <p:sp>
        <p:nvSpPr>
          <p:cNvPr id="15" name="gate-copy-1">
            <a:extLst xmlns:a="http://schemas.openxmlformats.org/drawingml/2006/main">
              <a:ext uri="{FF2B5EF4-FFF2-40B4-BE49-F238E27FC236}">
                <a16:creationId xmlns:a16="http://schemas.microsoft.com/office/drawing/2014/main" id="{9120C8A4-FEAA-40D5-A547-ABDE5381BD52}"/>
              </a:ext>
            </a:extLst>
          </p:cNvPr>
          <p:cNvSpPr>
            <a:spLocks xmlns:a="http://schemas.openxmlformats.org/drawingml/2006/main" noGrp="1"/>
          </p:cNvSpPr>
          <p:nvPr/>
        </p:nvSpPr>
        <p:spPr>
          <a:xfrm xmlns:a="http://schemas.openxmlformats.org/drawingml/2006/main">
            <a:off x="2914650" y="3238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a:solidFill>
                  <a:srgbClr val="586671"/>
                </a:solidFill>
                <a:latin typeface="Aptos"/>
                <a:ea typeface="Aptos"/>
                <a:cs typeface="Aptos"/>
              </a:defRPr>
            </a:pPr>
            <a:r>
              <a:rPr sz="1125">
                <a:solidFill>
                  <a:srgbClr val="586671"/>
                </a:solidFill>
                <a:latin typeface="Aptos"/>
                <a:ea typeface="Aptos"/>
                <a:cs typeface="Aptos"/>
              </a:rPr>
              <a:t>digest · schema · model</a:t>
            </a:r>
          </a:p>
        </p:txBody>
      </p:sp>
      <p:sp>
        <p:nvSpPr>
          <p:cNvPr id="16" name="gate-arrow-1">
            <a:extLst xmlns:a="http://schemas.openxmlformats.org/drawingml/2006/main">
              <a:ext uri="{FF2B5EF4-FFF2-40B4-BE49-F238E27FC236}">
                <a16:creationId xmlns:a16="http://schemas.microsoft.com/office/drawing/2014/main" id="{FACA5418-2EC5-4424-9618-F5020C6CE9A6}"/>
              </a:ext>
            </a:extLst>
          </p:cNvPr>
          <p:cNvSpPr>
            <a:spLocks xmlns:a="http://schemas.openxmlformats.org/drawingml/2006/main" noGrp="1"/>
          </p:cNvSpPr>
          <p:nvPr/>
        </p:nvSpPr>
        <p:spPr>
          <a:xfrm xmlns:a="http://schemas.openxmlformats.org/drawingml/2006/main">
            <a:off x="4476750" y="2800350"/>
            <a:ext cx="228600" cy="133350"/>
          </a:xfrm>
          <a:prstGeom xmlns:a="http://schemas.openxmlformats.org/drawingml/2006/main" prst="rightArrow">
            <a:avLst/>
          </a:prstGeom>
          <a:solidFill xmlns:a="http://schemas.openxmlformats.org/drawingml/2006/main">
            <a:srgbClr val="B65C3C"/>
          </a:solidFill>
          <a:ln xmlns:a="http://schemas.openxmlformats.org/drawingml/2006/main" w="0">
            <a:solidFill>
              <a:srgbClr val="B65C3C"/>
            </a:solidFill>
            <a:prstDash val="solid"/>
          </a:ln>
        </p:spPr>
      </p:sp>
      <p:sp>
        <p:nvSpPr>
          <p:cNvPr id="17" name="gate-2">
            <a:extLst xmlns:a="http://schemas.openxmlformats.org/drawingml/2006/main">
              <a:ext uri="{FF2B5EF4-FFF2-40B4-BE49-F238E27FC236}">
                <a16:creationId xmlns:a16="http://schemas.microsoft.com/office/drawing/2014/main" id="{26426522-04A1-48CD-B3EB-B48410185D59}"/>
              </a:ext>
            </a:extLst>
          </p:cNvPr>
          <p:cNvSpPr>
            <a:spLocks xmlns:a="http://schemas.openxmlformats.org/drawingml/2006/main" noGrp="1"/>
          </p:cNvSpPr>
          <p:nvPr/>
        </p:nvSpPr>
        <p:spPr>
          <a:xfrm xmlns:a="http://schemas.openxmlformats.org/drawingml/2006/main">
            <a:off x="4762500" y="2190750"/>
            <a:ext cx="1714500" cy="1428750"/>
          </a:xfrm>
          <a:prstGeom xmlns:a="http://schemas.openxmlformats.org/drawingml/2006/main" prst="roundRect">
            <a:avLst>
              <a:gd name="adj" fmla="val 5333"/>
            </a:avLst>
          </a:prstGeom>
          <a:solidFill xmlns:a="http://schemas.openxmlformats.org/drawingml/2006/main">
            <a:srgbClr val="E3F0E6"/>
          </a:solidFill>
          <a:ln xmlns:a="http://schemas.openxmlformats.org/drawingml/2006/main" w="9525">
            <a:solidFill>
              <a:srgbClr val="3D6F58"/>
            </a:solidFill>
            <a:prstDash val="solid"/>
          </a:ln>
        </p:spPr>
      </p:sp>
      <p:sp>
        <p:nvSpPr>
          <p:cNvPr id="18" name="gate-num-2">
            <a:extLst xmlns:a="http://schemas.openxmlformats.org/drawingml/2006/main">
              <a:ext uri="{FF2B5EF4-FFF2-40B4-BE49-F238E27FC236}">
                <a16:creationId xmlns:a16="http://schemas.microsoft.com/office/drawing/2014/main" id="{7DB62BF3-F368-4B9B-9F71-02065A21D9BF}"/>
              </a:ext>
            </a:extLst>
          </p:cNvPr>
          <p:cNvSpPr>
            <a:spLocks xmlns:a="http://schemas.openxmlformats.org/drawingml/2006/main" noGrp="1"/>
          </p:cNvSpPr>
          <p:nvPr/>
        </p:nvSpPr>
        <p:spPr>
          <a:xfrm xmlns:a="http://schemas.openxmlformats.org/drawingml/2006/main">
            <a:off x="4953000" y="23812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3D6F58"/>
                </a:solidFill>
                <a:latin typeface="Aptos"/>
                <a:ea typeface="Aptos"/>
                <a:cs typeface="Aptos"/>
              </a:defRPr>
            </a:pPr>
            <a:r>
              <a:rPr sz="1650" b="1">
                <a:solidFill>
                  <a:srgbClr val="3D6F58"/>
                </a:solidFill>
                <a:latin typeface="Aptos"/>
                <a:ea typeface="Aptos"/>
                <a:cs typeface="Aptos"/>
              </a:rPr>
              <a:t>3</a:t>
            </a:r>
          </a:p>
        </p:txBody>
      </p:sp>
      <p:sp>
        <p:nvSpPr>
          <p:cNvPr id="19" name="gate-title-2">
            <a:extLst xmlns:a="http://schemas.openxmlformats.org/drawingml/2006/main">
              <a:ext uri="{FF2B5EF4-FFF2-40B4-BE49-F238E27FC236}">
                <a16:creationId xmlns:a16="http://schemas.microsoft.com/office/drawing/2014/main" id="{BFB6B937-592A-4006-B131-485706B8ADC0}"/>
              </a:ext>
            </a:extLst>
          </p:cNvPr>
          <p:cNvSpPr>
            <a:spLocks xmlns:a="http://schemas.openxmlformats.org/drawingml/2006/main" noGrp="1"/>
          </p:cNvSpPr>
          <p:nvPr/>
        </p:nvSpPr>
        <p:spPr>
          <a:xfrm xmlns:a="http://schemas.openxmlformats.org/drawingml/2006/main">
            <a:off x="4953000" y="27813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D2A34"/>
                </a:solidFill>
                <a:latin typeface="Aptos"/>
                <a:ea typeface="Aptos"/>
                <a:cs typeface="Aptos"/>
              </a:defRPr>
            </a:pPr>
            <a:r>
              <a:rPr sz="1500" b="1">
                <a:solidFill>
                  <a:srgbClr val="1D2A34"/>
                </a:solidFill>
                <a:latin typeface="Aptos"/>
                <a:ea typeface="Aptos"/>
                <a:cs typeface="Aptos"/>
              </a:rPr>
              <a:t>Prepare data</a:t>
            </a:r>
          </a:p>
        </p:txBody>
      </p:sp>
      <p:sp>
        <p:nvSpPr>
          <p:cNvPr id="20" name="gate-copy-2">
            <a:extLst xmlns:a="http://schemas.openxmlformats.org/drawingml/2006/main">
              <a:ext uri="{FF2B5EF4-FFF2-40B4-BE49-F238E27FC236}">
                <a16:creationId xmlns:a16="http://schemas.microsoft.com/office/drawing/2014/main" id="{ADFC1C13-DAEB-4ED2-980E-7A45F216C848}"/>
              </a:ext>
            </a:extLst>
          </p:cNvPr>
          <p:cNvSpPr>
            <a:spLocks xmlns:a="http://schemas.openxmlformats.org/drawingml/2006/main" noGrp="1"/>
          </p:cNvSpPr>
          <p:nvPr/>
        </p:nvSpPr>
        <p:spPr>
          <a:xfrm xmlns:a="http://schemas.openxmlformats.org/drawingml/2006/main">
            <a:off x="4953000" y="3238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a:solidFill>
                  <a:srgbClr val="586671"/>
                </a:solidFill>
                <a:latin typeface="Aptos"/>
                <a:ea typeface="Aptos"/>
                <a:cs typeface="Aptos"/>
              </a:defRPr>
            </a:pPr>
            <a:r>
              <a:rPr sz="1125">
                <a:solidFill>
                  <a:srgbClr val="586671"/>
                </a:solidFill>
                <a:latin typeface="Aptos"/>
                <a:ea typeface="Aptos"/>
                <a:cs typeface="Aptos"/>
              </a:rPr>
              <a:t>parse + embed first</a:t>
            </a:r>
          </a:p>
        </p:txBody>
      </p:sp>
      <p:sp>
        <p:nvSpPr>
          <p:cNvPr id="21" name="gate-arrow-2">
            <a:extLst xmlns:a="http://schemas.openxmlformats.org/drawingml/2006/main">
              <a:ext uri="{FF2B5EF4-FFF2-40B4-BE49-F238E27FC236}">
                <a16:creationId xmlns:a16="http://schemas.microsoft.com/office/drawing/2014/main" id="{DA6851B8-890B-45A1-89E7-E4261A701D08}"/>
              </a:ext>
            </a:extLst>
          </p:cNvPr>
          <p:cNvSpPr>
            <a:spLocks xmlns:a="http://schemas.openxmlformats.org/drawingml/2006/main" noGrp="1"/>
          </p:cNvSpPr>
          <p:nvPr/>
        </p:nvSpPr>
        <p:spPr>
          <a:xfrm xmlns:a="http://schemas.openxmlformats.org/drawingml/2006/main">
            <a:off x="6515100" y="2800350"/>
            <a:ext cx="228600" cy="133350"/>
          </a:xfrm>
          <a:prstGeom xmlns:a="http://schemas.openxmlformats.org/drawingml/2006/main" prst="rightArrow">
            <a:avLst/>
          </a:prstGeom>
          <a:solidFill xmlns:a="http://schemas.openxmlformats.org/drawingml/2006/main">
            <a:srgbClr val="B65C3C"/>
          </a:solidFill>
          <a:ln xmlns:a="http://schemas.openxmlformats.org/drawingml/2006/main" w="0">
            <a:solidFill>
              <a:srgbClr val="B65C3C"/>
            </a:solidFill>
            <a:prstDash val="solid"/>
          </a:ln>
        </p:spPr>
      </p:sp>
      <p:sp>
        <p:nvSpPr>
          <p:cNvPr id="22" name="gate-3">
            <a:extLst xmlns:a="http://schemas.openxmlformats.org/drawingml/2006/main">
              <a:ext uri="{FF2B5EF4-FFF2-40B4-BE49-F238E27FC236}">
                <a16:creationId xmlns:a16="http://schemas.microsoft.com/office/drawing/2014/main" id="{AA128941-327F-47DD-B2EA-7B929B2908CF}"/>
              </a:ext>
            </a:extLst>
          </p:cNvPr>
          <p:cNvSpPr>
            <a:spLocks xmlns:a="http://schemas.openxmlformats.org/drawingml/2006/main" noGrp="1"/>
          </p:cNvSpPr>
          <p:nvPr/>
        </p:nvSpPr>
        <p:spPr>
          <a:xfrm xmlns:a="http://schemas.openxmlformats.org/drawingml/2006/main">
            <a:off x="6800850" y="2190750"/>
            <a:ext cx="1714500" cy="1428750"/>
          </a:xfrm>
          <a:prstGeom xmlns:a="http://schemas.openxmlformats.org/drawingml/2006/main" prst="roundRect">
            <a:avLst>
              <a:gd name="adj" fmla="val 5333"/>
            </a:avLst>
          </a:prstGeom>
          <a:solidFill xmlns:a="http://schemas.openxmlformats.org/drawingml/2006/main">
            <a:srgbClr val="E3F0E6"/>
          </a:solidFill>
          <a:ln xmlns:a="http://schemas.openxmlformats.org/drawingml/2006/main" w="9525">
            <a:solidFill>
              <a:srgbClr val="3D6F58"/>
            </a:solidFill>
            <a:prstDash val="solid"/>
          </a:ln>
        </p:spPr>
      </p:sp>
      <p:sp>
        <p:nvSpPr>
          <p:cNvPr id="23" name="gate-num-3">
            <a:extLst xmlns:a="http://schemas.openxmlformats.org/drawingml/2006/main">
              <a:ext uri="{FF2B5EF4-FFF2-40B4-BE49-F238E27FC236}">
                <a16:creationId xmlns:a16="http://schemas.microsoft.com/office/drawing/2014/main" id="{BAEC216B-D815-417C-88C8-BD2778347547}"/>
              </a:ext>
            </a:extLst>
          </p:cNvPr>
          <p:cNvSpPr>
            <a:spLocks xmlns:a="http://schemas.openxmlformats.org/drawingml/2006/main" noGrp="1"/>
          </p:cNvSpPr>
          <p:nvPr/>
        </p:nvSpPr>
        <p:spPr>
          <a:xfrm xmlns:a="http://schemas.openxmlformats.org/drawingml/2006/main">
            <a:off x="6991350" y="23812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3D6F58"/>
                </a:solidFill>
                <a:latin typeface="Aptos"/>
                <a:ea typeface="Aptos"/>
                <a:cs typeface="Aptos"/>
              </a:defRPr>
            </a:pPr>
            <a:r>
              <a:rPr sz="1650" b="1">
                <a:solidFill>
                  <a:srgbClr val="3D6F58"/>
                </a:solidFill>
                <a:latin typeface="Aptos"/>
                <a:ea typeface="Aptos"/>
                <a:cs typeface="Aptos"/>
              </a:rPr>
              <a:t>4</a:t>
            </a:r>
          </a:p>
        </p:txBody>
      </p:sp>
      <p:sp>
        <p:nvSpPr>
          <p:cNvPr id="24" name="gate-title-3">
            <a:extLst xmlns:a="http://schemas.openxmlformats.org/drawingml/2006/main">
              <a:ext uri="{FF2B5EF4-FFF2-40B4-BE49-F238E27FC236}">
                <a16:creationId xmlns:a16="http://schemas.microsoft.com/office/drawing/2014/main" id="{F7183480-0163-4690-9B51-0BA5454B5E7E}"/>
              </a:ext>
            </a:extLst>
          </p:cNvPr>
          <p:cNvSpPr>
            <a:spLocks xmlns:a="http://schemas.openxmlformats.org/drawingml/2006/main" noGrp="1"/>
          </p:cNvSpPr>
          <p:nvPr/>
        </p:nvSpPr>
        <p:spPr>
          <a:xfrm xmlns:a="http://schemas.openxmlformats.org/drawingml/2006/main">
            <a:off x="6991350" y="27813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D2A34"/>
                </a:solidFill>
                <a:latin typeface="Aptos"/>
                <a:ea typeface="Aptos"/>
                <a:cs typeface="Aptos"/>
              </a:defRPr>
            </a:pPr>
            <a:r>
              <a:rPr sz="1500" b="1">
                <a:solidFill>
                  <a:srgbClr val="1D2A34"/>
                </a:solidFill>
                <a:latin typeface="Aptos"/>
                <a:ea typeface="Aptos"/>
                <a:cs typeface="Aptos"/>
              </a:rPr>
              <a:t>Replace</a:t>
            </a:r>
          </a:p>
        </p:txBody>
      </p:sp>
      <p:sp>
        <p:nvSpPr>
          <p:cNvPr id="25" name="gate-copy-3">
            <a:extLst xmlns:a="http://schemas.openxmlformats.org/drawingml/2006/main">
              <a:ext uri="{FF2B5EF4-FFF2-40B4-BE49-F238E27FC236}">
                <a16:creationId xmlns:a16="http://schemas.microsoft.com/office/drawing/2014/main" id="{6AAD9C97-743A-4B2C-90C8-8A2FC07892B9}"/>
              </a:ext>
            </a:extLst>
          </p:cNvPr>
          <p:cNvSpPr>
            <a:spLocks xmlns:a="http://schemas.openxmlformats.org/drawingml/2006/main" noGrp="1"/>
          </p:cNvSpPr>
          <p:nvPr/>
        </p:nvSpPr>
        <p:spPr>
          <a:xfrm xmlns:a="http://schemas.openxmlformats.org/drawingml/2006/main">
            <a:off x="6991350" y="3238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a:solidFill>
                  <a:srgbClr val="586671"/>
                </a:solidFill>
                <a:latin typeface="Aptos"/>
                <a:ea typeface="Aptos"/>
                <a:cs typeface="Aptos"/>
              </a:defRPr>
            </a:pPr>
            <a:r>
              <a:rPr sz="1125">
                <a:solidFill>
                  <a:srgbClr val="586671"/>
                </a:solidFill>
                <a:latin typeface="Aptos"/>
                <a:ea typeface="Aptos"/>
                <a:cs typeface="Aptos"/>
              </a:rPr>
              <a:t>write before cleanup</a:t>
            </a:r>
          </a:p>
        </p:txBody>
      </p:sp>
      <p:sp>
        <p:nvSpPr>
          <p:cNvPr id="26" name="gate-arrow-3">
            <a:extLst xmlns:a="http://schemas.openxmlformats.org/drawingml/2006/main">
              <a:ext uri="{FF2B5EF4-FFF2-40B4-BE49-F238E27FC236}">
                <a16:creationId xmlns:a16="http://schemas.microsoft.com/office/drawing/2014/main" id="{CD2BCE21-D55F-4EDF-9ED8-3A90C12FD7E6}"/>
              </a:ext>
            </a:extLst>
          </p:cNvPr>
          <p:cNvSpPr>
            <a:spLocks xmlns:a="http://schemas.openxmlformats.org/drawingml/2006/main" noGrp="1"/>
          </p:cNvSpPr>
          <p:nvPr/>
        </p:nvSpPr>
        <p:spPr>
          <a:xfrm xmlns:a="http://schemas.openxmlformats.org/drawingml/2006/main">
            <a:off x="8553450" y="2800350"/>
            <a:ext cx="228600" cy="133350"/>
          </a:xfrm>
          <a:prstGeom xmlns:a="http://schemas.openxmlformats.org/drawingml/2006/main" prst="rightArrow">
            <a:avLst/>
          </a:prstGeom>
          <a:solidFill xmlns:a="http://schemas.openxmlformats.org/drawingml/2006/main">
            <a:srgbClr val="B65C3C"/>
          </a:solidFill>
          <a:ln xmlns:a="http://schemas.openxmlformats.org/drawingml/2006/main" w="0">
            <a:solidFill>
              <a:srgbClr val="B65C3C"/>
            </a:solidFill>
            <a:prstDash val="solid"/>
          </a:ln>
        </p:spPr>
      </p:sp>
      <p:sp>
        <p:nvSpPr>
          <p:cNvPr id="27" name="gate-4">
            <a:extLst xmlns:a="http://schemas.openxmlformats.org/drawingml/2006/main">
              <a:ext uri="{FF2B5EF4-FFF2-40B4-BE49-F238E27FC236}">
                <a16:creationId xmlns:a16="http://schemas.microsoft.com/office/drawing/2014/main" id="{DA5ACD8A-FD65-4433-9013-0090A9980364}"/>
              </a:ext>
            </a:extLst>
          </p:cNvPr>
          <p:cNvSpPr>
            <a:spLocks xmlns:a="http://schemas.openxmlformats.org/drawingml/2006/main" noGrp="1"/>
          </p:cNvSpPr>
          <p:nvPr/>
        </p:nvSpPr>
        <p:spPr>
          <a:xfrm xmlns:a="http://schemas.openxmlformats.org/drawingml/2006/main">
            <a:off x="8839200" y="2190750"/>
            <a:ext cx="1714500" cy="1428750"/>
          </a:xfrm>
          <a:prstGeom xmlns:a="http://schemas.openxmlformats.org/drawingml/2006/main" prst="roundRect">
            <a:avLst>
              <a:gd name="adj" fmla="val 5333"/>
            </a:avLst>
          </a:prstGeom>
          <a:solidFill xmlns:a="http://schemas.openxmlformats.org/drawingml/2006/main">
            <a:srgbClr val="F4E2DA"/>
          </a:solidFill>
          <a:ln xmlns:a="http://schemas.openxmlformats.org/drawingml/2006/main" w="9525">
            <a:solidFill>
              <a:srgbClr val="B65C3C"/>
            </a:solidFill>
            <a:prstDash val="solid"/>
          </a:ln>
        </p:spPr>
      </p:sp>
      <p:sp>
        <p:nvSpPr>
          <p:cNvPr id="28" name="gate-num-4">
            <a:extLst xmlns:a="http://schemas.openxmlformats.org/drawingml/2006/main">
              <a:ext uri="{FF2B5EF4-FFF2-40B4-BE49-F238E27FC236}">
                <a16:creationId xmlns:a16="http://schemas.microsoft.com/office/drawing/2014/main" id="{DDF382CB-D495-4141-973E-02AE94B41530}"/>
              </a:ext>
            </a:extLst>
          </p:cNvPr>
          <p:cNvSpPr>
            <a:spLocks xmlns:a="http://schemas.openxmlformats.org/drawingml/2006/main" noGrp="1"/>
          </p:cNvSpPr>
          <p:nvPr/>
        </p:nvSpPr>
        <p:spPr>
          <a:xfrm xmlns:a="http://schemas.openxmlformats.org/drawingml/2006/main">
            <a:off x="9029700" y="23812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B65C3C"/>
                </a:solidFill>
                <a:latin typeface="Aptos"/>
                <a:ea typeface="Aptos"/>
                <a:cs typeface="Aptos"/>
              </a:defRPr>
            </a:pPr>
            <a:r>
              <a:rPr sz="1650" b="1">
                <a:solidFill>
                  <a:srgbClr val="B65C3C"/>
                </a:solidFill>
                <a:latin typeface="Aptos"/>
                <a:ea typeface="Aptos"/>
                <a:cs typeface="Aptos"/>
              </a:rPr>
              <a:t>5</a:t>
            </a:r>
          </a:p>
        </p:txBody>
      </p:sp>
      <p:sp>
        <p:nvSpPr>
          <p:cNvPr id="29" name="gate-title-4">
            <a:extLst xmlns:a="http://schemas.openxmlformats.org/drawingml/2006/main">
              <a:ext uri="{FF2B5EF4-FFF2-40B4-BE49-F238E27FC236}">
                <a16:creationId xmlns:a16="http://schemas.microsoft.com/office/drawing/2014/main" id="{F8E053EB-D941-45D3-8103-262E0548115C}"/>
              </a:ext>
            </a:extLst>
          </p:cNvPr>
          <p:cNvSpPr>
            <a:spLocks xmlns:a="http://schemas.openxmlformats.org/drawingml/2006/main" noGrp="1"/>
          </p:cNvSpPr>
          <p:nvPr/>
        </p:nvSpPr>
        <p:spPr>
          <a:xfrm xmlns:a="http://schemas.openxmlformats.org/drawingml/2006/main">
            <a:off x="9029700" y="27813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D2A34"/>
                </a:solidFill>
                <a:latin typeface="Aptos"/>
                <a:ea typeface="Aptos"/>
                <a:cs typeface="Aptos"/>
              </a:defRPr>
            </a:pPr>
            <a:r>
              <a:rPr sz="1500" b="1">
                <a:solidFill>
                  <a:srgbClr val="1D2A34"/>
                </a:solidFill>
                <a:latin typeface="Aptos"/>
                <a:ea typeface="Aptos"/>
                <a:cs typeface="Aptos"/>
              </a:rPr>
              <a:t>Rotate cache</a:t>
            </a:r>
          </a:p>
        </p:txBody>
      </p:sp>
      <p:sp>
        <p:nvSpPr>
          <p:cNvPr id="30" name="gate-copy-4">
            <a:extLst xmlns:a="http://schemas.openxmlformats.org/drawingml/2006/main">
              <a:ext uri="{FF2B5EF4-FFF2-40B4-BE49-F238E27FC236}">
                <a16:creationId xmlns:a16="http://schemas.microsoft.com/office/drawing/2014/main" id="{5B0D1DEB-52ED-407D-AB2F-C4829FD08EB6}"/>
              </a:ext>
            </a:extLst>
          </p:cNvPr>
          <p:cNvSpPr>
            <a:spLocks xmlns:a="http://schemas.openxmlformats.org/drawingml/2006/main" noGrp="1"/>
          </p:cNvSpPr>
          <p:nvPr/>
        </p:nvSpPr>
        <p:spPr>
          <a:xfrm xmlns:a="http://schemas.openxmlformats.org/drawingml/2006/main">
            <a:off x="9029700" y="3238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a:solidFill>
                  <a:srgbClr val="586671"/>
                </a:solidFill>
                <a:latin typeface="Aptos"/>
                <a:ea typeface="Aptos"/>
                <a:cs typeface="Aptos"/>
              </a:defRPr>
            </a:pPr>
            <a:r>
              <a:rPr sz="1125">
                <a:solidFill>
                  <a:srgbClr val="586671"/>
                </a:solidFill>
                <a:latin typeface="Aptos"/>
                <a:ea typeface="Aptos"/>
                <a:cs typeface="Aptos"/>
              </a:rPr>
              <a:t>new generation</a:t>
            </a:r>
          </a:p>
        </p:txBody>
      </p:sp>
      <p:sp>
        <p:nvSpPr>
          <p:cNvPr id="31" name="validation-callout">
            <a:extLst xmlns:a="http://schemas.openxmlformats.org/drawingml/2006/main">
              <a:ext uri="{FF2B5EF4-FFF2-40B4-BE49-F238E27FC236}">
                <a16:creationId xmlns:a16="http://schemas.microsoft.com/office/drawing/2014/main" id="{9676931F-2A71-436F-8DEB-F1E61BBB1ABE}"/>
              </a:ext>
            </a:extLst>
          </p:cNvPr>
          <p:cNvSpPr>
            <a:spLocks xmlns:a="http://schemas.openxmlformats.org/drawingml/2006/main" noGrp="1"/>
          </p:cNvSpPr>
          <p:nvPr/>
        </p:nvSpPr>
        <p:spPr>
          <a:xfrm xmlns:a="http://schemas.openxmlformats.org/drawingml/2006/main">
            <a:off x="685800" y="4286250"/>
            <a:ext cx="10172700" cy="838200"/>
          </a:xfrm>
          <a:prstGeom xmlns:a="http://schemas.openxmlformats.org/drawingml/2006/main" prst="roundRect">
            <a:avLst>
              <a:gd name="adj" fmla="val 9091"/>
            </a:avLst>
          </a:prstGeom>
          <a:solidFill xmlns:a="http://schemas.openxmlformats.org/drawingml/2006/main">
            <a:srgbClr val="FFFDF8"/>
          </a:solidFill>
          <a:ln xmlns:a="http://schemas.openxmlformats.org/drawingml/2006/main" w="9525">
            <a:solidFill>
              <a:srgbClr val="2D6F78"/>
            </a:solidFill>
            <a:prstDash val="solid"/>
          </a:ln>
        </p:spPr>
      </p:sp>
      <p:sp>
        <p:nvSpPr>
          <p:cNvPr id="32" name="validation-callout-label">
            <a:extLst xmlns:a="http://schemas.openxmlformats.org/drawingml/2006/main">
              <a:ext uri="{FF2B5EF4-FFF2-40B4-BE49-F238E27FC236}">
                <a16:creationId xmlns:a16="http://schemas.microsoft.com/office/drawing/2014/main" id="{182AEAA1-360E-4FAE-98EC-3923CA92B73E}"/>
              </a:ext>
            </a:extLst>
          </p:cNvPr>
          <p:cNvSpPr>
            <a:spLocks xmlns:a="http://schemas.openxmlformats.org/drawingml/2006/main" noGrp="1"/>
          </p:cNvSpPr>
          <p:nvPr/>
        </p:nvSpPr>
        <p:spPr>
          <a:xfrm xmlns:a="http://schemas.openxmlformats.org/drawingml/2006/main">
            <a:off x="952500" y="44196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33" name="validation-callout-copy">
            <a:extLst xmlns:a="http://schemas.openxmlformats.org/drawingml/2006/main">
              <a:ext uri="{FF2B5EF4-FFF2-40B4-BE49-F238E27FC236}">
                <a16:creationId xmlns:a16="http://schemas.microsoft.com/office/drawing/2014/main" id="{5E04C4D7-9C70-43C6-9E4B-074E4C6A41C4}"/>
              </a:ext>
            </a:extLst>
          </p:cNvPr>
          <p:cNvSpPr>
            <a:spLocks xmlns:a="http://schemas.openxmlformats.org/drawingml/2006/main" noGrp="1"/>
          </p:cNvSpPr>
          <p:nvPr/>
        </p:nvSpPr>
        <p:spPr>
          <a:xfrm xmlns:a="http://schemas.openxmlformats.org/drawingml/2006/main">
            <a:off x="952500" y="4391025"/>
            <a:ext cx="962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Latest merged validation: 315 tests passed, 27 integration cases skipped explicitly and 2 warnings.</a:t>
            </a:r>
          </a:p>
        </p:txBody>
      </p:sp>
      <p:sp>
        <p:nvSpPr>
          <p:cNvPr id="34" name="footer-label">
            <a:extLst xmlns:a="http://schemas.openxmlformats.org/drawingml/2006/main">
              <a:ext uri="{FF2B5EF4-FFF2-40B4-BE49-F238E27FC236}">
                <a16:creationId xmlns:a16="http://schemas.microsoft.com/office/drawing/2014/main" id="{545E892F-09B9-48AE-B250-9E0272E6D93F}"/>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08 / 15</a:t>
            </a:r>
          </a:p>
        </p:txBody>
      </p:sp>
      <p:sp>
        <p:nvSpPr>
          <p:cNvPr id="35" name="footer-number">
            <a:extLst xmlns:a="http://schemas.openxmlformats.org/drawingml/2006/main">
              <a:ext uri="{FF2B5EF4-FFF2-40B4-BE49-F238E27FC236}">
                <a16:creationId xmlns:a16="http://schemas.microsoft.com/office/drawing/2014/main" id="{10A9BDC0-08C8-4F76-A3D2-A65123BAAE7C}"/>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558599052"/>
      </p:ext>
    </p:extLst>
  </p:cSld>
</p:sld>
</file>

<file path=ppt/slides/slide15.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1012FC1D-05BD-476E-9C31-7C54409B85D4}"/>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RELIABILITY &amp; PROVENANCE  ·  DETAIL  ·  07 / 13</a:t>
            </a:r>
          </a:p>
        </p:txBody>
      </p:sp>
      <p:sp>
        <p:nvSpPr>
          <p:cNvPr id="2" name="kicker-rule">
            <a:extLst xmlns:a="http://schemas.openxmlformats.org/drawingml/2006/main">
              <a:ext uri="{FF2B5EF4-FFF2-40B4-BE49-F238E27FC236}">
                <a16:creationId xmlns:a16="http://schemas.microsoft.com/office/drawing/2014/main" id="{03E4746B-8293-4A69-8A76-5069266DD0A7}"/>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3F50C8B2-3E69-43FC-87F0-FDE9B0F0F8F1}"/>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Provenance gates evaluation before measurements proceed.</a:t>
            </a:r>
          </a:p>
        </p:txBody>
      </p:sp>
      <p:sp>
        <p:nvSpPr>
          <p:cNvPr id="4" name="depth-box-6">
            <a:extLst xmlns:a="http://schemas.openxmlformats.org/drawingml/2006/main">
              <a:ext uri="{FF2B5EF4-FFF2-40B4-BE49-F238E27FC236}">
                <a16:creationId xmlns:a16="http://schemas.microsoft.com/office/drawing/2014/main" id="{4F484281-E755-4B8F-A294-C77533F987B8}"/>
              </a:ext>
            </a:extLst>
          </p:cNvPr>
          <p:cNvSpPr>
            <a:spLocks xmlns:a="http://schemas.openxmlformats.org/drawingml/2006/main" noGrp="1"/>
          </p:cNvSpPr>
          <p:nvPr/>
        </p:nvSpPr>
        <p:spPr>
          <a:xfrm xmlns:a="http://schemas.openxmlformats.org/drawingml/2006/main">
            <a:off x="685800" y="1981200"/>
            <a:ext cx="108204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9525">
            <a:solidFill>
              <a:srgbClr val="C9D1D1"/>
            </a:solidFill>
            <a:prstDash val="solid"/>
          </a:ln>
        </p:spPr>
      </p:sp>
      <p:sp>
        <p:nvSpPr>
          <p:cNvPr id="5" name="depth-label-6">
            <a:extLst xmlns:a="http://schemas.openxmlformats.org/drawingml/2006/main">
              <a:ext uri="{FF2B5EF4-FFF2-40B4-BE49-F238E27FC236}">
                <a16:creationId xmlns:a16="http://schemas.microsoft.com/office/drawing/2014/main" id="{EFAEDCF1-048E-4019-893D-2BEFC594F876}"/>
              </a:ext>
            </a:extLst>
          </p:cNvPr>
          <p:cNvSpPr>
            <a:spLocks xmlns:a="http://schemas.openxmlformats.org/drawingml/2006/main" noGrp="1"/>
          </p:cNvSpPr>
          <p:nvPr/>
        </p:nvSpPr>
        <p:spPr>
          <a:xfrm xmlns:a="http://schemas.openxmlformats.org/drawingml/2006/main">
            <a:off x="990600" y="2286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
            </a:r>
          </a:p>
        </p:txBody>
      </p:sp>
      <p:sp>
        <p:nvSpPr>
          <p:cNvPr id="6" name="depth-copy-6">
            <a:extLst xmlns:a="http://schemas.openxmlformats.org/drawingml/2006/main">
              <a:ext uri="{FF2B5EF4-FFF2-40B4-BE49-F238E27FC236}">
                <a16:creationId xmlns:a16="http://schemas.microsoft.com/office/drawing/2014/main" id="{D58CEC62-A4BD-48E2-BC0F-6E614C68306F}"/>
              </a:ext>
            </a:extLst>
          </p:cNvPr>
          <p:cNvSpPr>
            <a:spLocks xmlns:a="http://schemas.openxmlformats.org/drawingml/2006/main" noGrp="1"/>
          </p:cNvSpPr>
          <p:nvPr/>
        </p:nvSpPr>
        <p:spPr>
          <a:xfrm xmlns:a="http://schemas.openxmlformats.org/drawingml/2006/main">
            <a:off x="990600" y="2724150"/>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D2A34"/>
                </a:solidFill>
                <a:latin typeface="Aptos"/>
                <a:ea typeface="Aptos"/>
                <a:cs typeface="Aptos"/>
              </a:defRPr>
            </a:pPr>
            <a:r>
              <a:rPr sz="2100" b="1">
                <a:solidFill>
                  <a:srgbClr val="1D2A34"/>
                </a:solidFill>
                <a:latin typeface="Aptos"/>
                <a:ea typeface="Aptos"/>
                <a:cs typeface="Aptos"/>
              </a:rPr>
              <a:t/>
            </a:r>
          </a:p>
        </p:txBody>
      </p:sp>
      <p:sp>
        <p:nvSpPr>
          <p:cNvPr id="7" name="depth-rule-6">
            <a:extLst xmlns:a="http://schemas.openxmlformats.org/drawingml/2006/main">
              <a:ext uri="{FF2B5EF4-FFF2-40B4-BE49-F238E27FC236}">
                <a16:creationId xmlns:a16="http://schemas.microsoft.com/office/drawing/2014/main" id="{EB2C5242-F911-43C6-BF91-5006D04FDE0D}"/>
              </a:ext>
            </a:extLst>
          </p:cNvPr>
          <p:cNvSpPr>
            <a:spLocks xmlns:a="http://schemas.openxmlformats.org/drawingml/2006/main" noGrp="1"/>
          </p:cNvSpPr>
          <p:nvPr/>
        </p:nvSpPr>
        <p:spPr>
          <a:xfrm xmlns:a="http://schemas.openxmlformats.org/drawingml/2006/main">
            <a:off x="990600" y="3886200"/>
            <a:ext cx="9239250" cy="0"/>
          </a:xfrm>
          <a:prstGeom xmlns:a="http://schemas.openxmlformats.org/drawingml/2006/main" prst="line">
            <a:avLst/>
          </a:prstGeom>
          <a:noFill xmlns:a="http://schemas.openxmlformats.org/drawingml/2006/main"/>
          <a:ln xmlns:a="http://schemas.openxmlformats.org/drawingml/2006/main" w="0">
            <a:noFill/>
            <a:prstDash val="solid"/>
          </a:ln>
        </p:spPr>
      </p:sp>
      <p:sp>
        <p:nvSpPr>
          <p:cNvPr id="8" name="depth-source-6">
            <a:extLst xmlns:a="http://schemas.openxmlformats.org/drawingml/2006/main">
              <a:ext uri="{FF2B5EF4-FFF2-40B4-BE49-F238E27FC236}">
                <a16:creationId xmlns:a16="http://schemas.microsoft.com/office/drawing/2014/main" id="{24200216-CFE5-4764-BFE5-1A1A5ED0F444}"/>
              </a:ext>
            </a:extLst>
          </p:cNvPr>
          <p:cNvSpPr>
            <a:spLocks xmlns:a="http://schemas.openxmlformats.org/drawingml/2006/main" noGrp="1"/>
          </p:cNvSpPr>
          <p:nvPr/>
        </p:nvSpPr>
        <p:spPr>
          <a:xfrm xmlns:a="http://schemas.openxmlformats.org/drawingml/2006/main">
            <a:off x="990600" y="407670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
            </a:r>
          </a:p>
        </p:txBody>
      </p:sp>
      <p:sp>
        <p:nvSpPr>
          <p:cNvPr id="9" name="depth-callout-6">
            <a:extLst xmlns:a="http://schemas.openxmlformats.org/drawingml/2006/main">
              <a:ext uri="{FF2B5EF4-FFF2-40B4-BE49-F238E27FC236}">
                <a16:creationId xmlns:a16="http://schemas.microsoft.com/office/drawing/2014/main" id="{35992E71-7714-433B-A75A-BD2D79CA2F9A}"/>
              </a:ext>
            </a:extLst>
          </p:cNvPr>
          <p:cNvSpPr>
            <a:spLocks xmlns:a="http://schemas.openxmlformats.org/drawingml/2006/main" noGrp="1"/>
          </p:cNvSpPr>
          <p:nvPr/>
        </p:nvSpPr>
        <p:spPr>
          <a:xfrm xmlns:a="http://schemas.openxmlformats.org/drawingml/2006/main">
            <a:off x="685800" y="4857750"/>
            <a:ext cx="108204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0" name="depth-callout-6-label">
            <a:extLst xmlns:a="http://schemas.openxmlformats.org/drawingml/2006/main">
              <a:ext uri="{FF2B5EF4-FFF2-40B4-BE49-F238E27FC236}">
                <a16:creationId xmlns:a16="http://schemas.microsoft.com/office/drawing/2014/main" id="{C1636FC8-93A8-4082-9A91-1F4725B2D3DD}"/>
              </a:ext>
            </a:extLst>
          </p:cNvPr>
          <p:cNvSpPr>
            <a:spLocks xmlns:a="http://schemas.openxmlformats.org/drawingml/2006/main" noGrp="1"/>
          </p:cNvSpPr>
          <p:nvPr/>
        </p:nvSpPr>
        <p:spPr>
          <a:xfrm xmlns:a="http://schemas.openxmlformats.org/drawingml/2006/main">
            <a:off x="952500" y="49911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1" name="depth-callout-6-copy">
            <a:extLst xmlns:a="http://schemas.openxmlformats.org/drawingml/2006/main">
              <a:ext uri="{FF2B5EF4-FFF2-40B4-BE49-F238E27FC236}">
                <a16:creationId xmlns:a16="http://schemas.microsoft.com/office/drawing/2014/main" id="{DEC9C7E5-058F-487D-995B-3DDBE08B2299}"/>
              </a:ext>
            </a:extLst>
          </p:cNvPr>
          <p:cNvSpPr>
            <a:spLocks xmlns:a="http://schemas.openxmlformats.org/drawingml/2006/main" noGrp="1"/>
          </p:cNvSpPr>
          <p:nvPr/>
        </p:nvSpPr>
        <p:spPr>
          <a:xfrm xmlns:a="http://schemas.openxmlformats.org/drawingml/2006/main">
            <a:off x="952500" y="4962525"/>
            <a:ext cx="10267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A benchmark cannot compare graph and vector stores from different index runs or embedding models.</a:t>
            </a:r>
          </a:p>
        </p:txBody>
      </p:sp>
      <p:sp>
        <p:nvSpPr>
          <p:cNvPr id="12" name="footer-label">
            <a:extLst xmlns:a="http://schemas.openxmlformats.org/drawingml/2006/main">
              <a:ext uri="{FF2B5EF4-FFF2-40B4-BE49-F238E27FC236}">
                <a16:creationId xmlns:a16="http://schemas.microsoft.com/office/drawing/2014/main" id="{66C0EBF2-7D39-4BE8-8D07-EF9BD33F3A78}"/>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08 / 15 · DETAIL 1 / 2</a:t>
            </a:r>
          </a:p>
        </p:txBody>
      </p:sp>
      <p:sp>
        <p:nvSpPr>
          <p:cNvPr id="13" name="footer-number">
            <a:extLst xmlns:a="http://schemas.openxmlformats.org/drawingml/2006/main">
              <a:ext uri="{FF2B5EF4-FFF2-40B4-BE49-F238E27FC236}">
                <a16:creationId xmlns:a16="http://schemas.microsoft.com/office/drawing/2014/main" id="{176657AC-5B79-47CA-9AB6-EEBE4C83F8D0}"/>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SUPPORTING DETAIL</a:t>
            </a:r>
          </a:p>
        </p:txBody>
      </p:sp>
      <p:sp>
        <p:nvSpPr>
          <p:cNvPr id="15" name="sync-provenance-container">
            <a:extLst xmlns:a="http://schemas.openxmlformats.org/drawingml/2006/main">
              <a:ext uri="{FF2B5EF4-FFF2-40B4-BE49-F238E27FC236}">
                <a16:creationId xmlns:a16="http://schemas.microsoft.com/office/drawing/2014/main" id="{FA33D146-14AF-4746-A8E8-3FB3B8727242}"/>
              </a:ext>
            </a:extLst>
          </p:cNvPr>
          <p:cNvSpPr>
            <a:spLocks xmlns:a="http://schemas.openxmlformats.org/drawingml/2006/main" noGrp="1"/>
          </p:cNvSpPr>
          <p:nvPr/>
        </p:nvSpPr>
        <p:spPr>
          <a:xfrm xmlns:a="http://schemas.openxmlformats.org/drawingml/2006/main">
            <a:off x="990600" y="22098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2D6F78"/>
                </a:solidFill>
              </a:defRPr>
            </a:pPr>
            <a:r>
              <a:rPr sz="900" b="1">
                <a:solidFill>
                  <a:srgbClr val="2D6F78"/>
                </a:solidFill>
              </a:rPr>
              <a:t>PROVENANCE</a:t>
            </a:r>
          </a:p>
        </p:txBody>
      </p:sp>
      <p:sp>
        <p:nvSpPr>
          <p:cNvPr id="16" name="sync-provenance-a">
            <a:extLst xmlns:a="http://schemas.openxmlformats.org/drawingml/2006/main">
              <a:ext uri="{FF2B5EF4-FFF2-40B4-BE49-F238E27FC236}">
                <a16:creationId xmlns:a16="http://schemas.microsoft.com/office/drawing/2014/main" id="{E9947252-397F-48A7-B312-C9B2E86F8130}"/>
              </a:ext>
            </a:extLst>
          </p:cNvPr>
          <p:cNvSpPr>
            <a:spLocks xmlns:a="http://schemas.openxmlformats.org/drawingml/2006/main" noGrp="1"/>
          </p:cNvSpPr>
          <p:nvPr/>
        </p:nvSpPr>
        <p:spPr>
          <a:xfrm xmlns:a="http://schemas.openxmlformats.org/drawingml/2006/main">
            <a:off x="952500" y="2714625"/>
            <a:ext cx="1714500" cy="685800"/>
          </a:xfrm>
          <a:prstGeom xmlns:a="http://schemas.openxmlformats.org/drawingml/2006/main" prst="roundRect">
            <a:avLst>
              <a:gd name="adj" fmla="val 9722"/>
            </a:avLst>
          </a:prstGeom>
          <a:solidFill xmlns:a="http://schemas.openxmlformats.org/drawingml/2006/main">
            <a:srgbClr val="E8F0EE"/>
          </a:solidFill>
          <a:ln xmlns:a="http://schemas.openxmlformats.org/drawingml/2006/main" w="14288">
            <a:solidFill>
              <a:srgbClr val="2D6F78"/>
            </a:solidFill>
            <a:prstDash val="solid"/>
          </a:ln>
        </p:spPr>
      </p:sp>
      <p:sp>
        <p:nvSpPr>
          <p:cNvPr id="17" name="sync-provenance-a-title">
            <a:extLst xmlns:a="http://schemas.openxmlformats.org/drawingml/2006/main">
              <a:ext uri="{FF2B5EF4-FFF2-40B4-BE49-F238E27FC236}">
                <a16:creationId xmlns:a16="http://schemas.microsoft.com/office/drawing/2014/main" id="{75B3AB74-44AF-4810-82A1-F4D0BB6733E8}"/>
              </a:ext>
            </a:extLst>
          </p:cNvPr>
          <p:cNvSpPr>
            <a:spLocks xmlns:a="http://schemas.openxmlformats.org/drawingml/2006/main" noGrp="1"/>
          </p:cNvSpPr>
          <p:nvPr/>
        </p:nvSpPr>
        <p:spPr>
          <a:xfrm xmlns:a="http://schemas.openxmlformats.org/drawingml/2006/main">
            <a:off x="1104900" y="28384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Source artifact</a:t>
            </a:r>
          </a:p>
        </p:txBody>
      </p:sp>
      <p:sp>
        <p:nvSpPr>
          <p:cNvPr id="18" name="sync-provenance-a-subtitle">
            <a:extLst xmlns:a="http://schemas.openxmlformats.org/drawingml/2006/main">
              <a:ext uri="{FF2B5EF4-FFF2-40B4-BE49-F238E27FC236}">
                <a16:creationId xmlns:a16="http://schemas.microsoft.com/office/drawing/2014/main" id="{51268F2F-E05F-4985-97CA-7E61E83A1D1F}"/>
              </a:ext>
            </a:extLst>
          </p:cNvPr>
          <p:cNvSpPr>
            <a:spLocks xmlns:a="http://schemas.openxmlformats.org/drawingml/2006/main" noGrp="1"/>
          </p:cNvSpPr>
          <p:nvPr/>
        </p:nvSpPr>
        <p:spPr>
          <a:xfrm xmlns:a="http://schemas.openxmlformats.org/drawingml/2006/main">
            <a:off x="1104900" y="308610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version + wheel hash</a:t>
            </a:r>
          </a:p>
        </p:txBody>
      </p:sp>
      <p:sp>
        <p:nvSpPr>
          <p:cNvPr id="19" name="sync-provenance-b">
            <a:extLst xmlns:a="http://schemas.openxmlformats.org/drawingml/2006/main">
              <a:ext uri="{FF2B5EF4-FFF2-40B4-BE49-F238E27FC236}">
                <a16:creationId xmlns:a16="http://schemas.microsoft.com/office/drawing/2014/main" id="{299AFE39-CB04-4CCE-80D1-809EDA743981}"/>
              </a:ext>
            </a:extLst>
          </p:cNvPr>
          <p:cNvSpPr>
            <a:spLocks xmlns:a="http://schemas.openxmlformats.org/drawingml/2006/main" noGrp="1"/>
          </p:cNvSpPr>
          <p:nvPr/>
        </p:nvSpPr>
        <p:spPr>
          <a:xfrm xmlns:a="http://schemas.openxmlformats.org/drawingml/2006/main">
            <a:off x="3000375" y="2714625"/>
            <a:ext cx="1809750" cy="685800"/>
          </a:xfrm>
          <a:prstGeom xmlns:a="http://schemas.openxmlformats.org/drawingml/2006/main" prst="roundRect">
            <a:avLst>
              <a:gd name="adj" fmla="val 9722"/>
            </a:avLst>
          </a:prstGeom>
          <a:solidFill xmlns:a="http://schemas.openxmlformats.org/drawingml/2006/main">
            <a:srgbClr val="FFFDF8"/>
          </a:solidFill>
          <a:ln xmlns:a="http://schemas.openxmlformats.org/drawingml/2006/main" w="14288">
            <a:solidFill>
              <a:srgbClr val="1D2A34"/>
            </a:solidFill>
            <a:prstDash val="solid"/>
          </a:ln>
        </p:spPr>
      </p:sp>
      <p:sp>
        <p:nvSpPr>
          <p:cNvPr id="20" name="sync-provenance-b-title">
            <a:extLst xmlns:a="http://schemas.openxmlformats.org/drawingml/2006/main">
              <a:ext uri="{FF2B5EF4-FFF2-40B4-BE49-F238E27FC236}">
                <a16:creationId xmlns:a16="http://schemas.microsoft.com/office/drawing/2014/main" id="{9EDA4D83-0619-440A-A412-63AE3690F575}"/>
              </a:ext>
            </a:extLst>
          </p:cNvPr>
          <p:cNvSpPr>
            <a:spLocks xmlns:a="http://schemas.openxmlformats.org/drawingml/2006/main" noGrp="1"/>
          </p:cNvSpPr>
          <p:nvPr/>
        </p:nvSpPr>
        <p:spPr>
          <a:xfrm xmlns:a="http://schemas.openxmlformats.org/drawingml/2006/main">
            <a:off x="3152775" y="2838450"/>
            <a:ext cx="1504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Source digest</a:t>
            </a:r>
          </a:p>
        </p:txBody>
      </p:sp>
      <p:sp>
        <p:nvSpPr>
          <p:cNvPr id="21" name="sync-provenance-b-subtitle">
            <a:extLst xmlns:a="http://schemas.openxmlformats.org/drawingml/2006/main">
              <a:ext uri="{FF2B5EF4-FFF2-40B4-BE49-F238E27FC236}">
                <a16:creationId xmlns:a16="http://schemas.microsoft.com/office/drawing/2014/main" id="{ABC91EB2-1CAD-4BE2-B988-21AAA90C6237}"/>
              </a:ext>
            </a:extLst>
          </p:cNvPr>
          <p:cNvSpPr>
            <a:spLocks xmlns:a="http://schemas.openxmlformats.org/drawingml/2006/main" noGrp="1"/>
          </p:cNvSpPr>
          <p:nvPr/>
        </p:nvSpPr>
        <p:spPr>
          <a:xfrm xmlns:a="http://schemas.openxmlformats.org/drawingml/2006/main">
            <a:off x="3152775" y="3086100"/>
            <a:ext cx="1504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content identity</a:t>
            </a:r>
          </a:p>
        </p:txBody>
      </p:sp>
      <p:sp>
        <p:nvSpPr>
          <p:cNvPr id="22" name="sync-provenance-c">
            <a:extLst xmlns:a="http://schemas.openxmlformats.org/drawingml/2006/main">
              <a:ext uri="{FF2B5EF4-FFF2-40B4-BE49-F238E27FC236}">
                <a16:creationId xmlns:a16="http://schemas.microsoft.com/office/drawing/2014/main" id="{474DF8FD-467A-484C-84B7-62B881CDA8C5}"/>
              </a:ext>
            </a:extLst>
          </p:cNvPr>
          <p:cNvSpPr>
            <a:spLocks xmlns:a="http://schemas.openxmlformats.org/drawingml/2006/main" noGrp="1"/>
          </p:cNvSpPr>
          <p:nvPr/>
        </p:nvSpPr>
        <p:spPr>
          <a:xfrm xmlns:a="http://schemas.openxmlformats.org/drawingml/2006/main">
            <a:off x="5143500" y="2714625"/>
            <a:ext cx="1809750" cy="685800"/>
          </a:xfrm>
          <a:prstGeom xmlns:a="http://schemas.openxmlformats.org/drawingml/2006/main" prst="roundRect">
            <a:avLst>
              <a:gd name="adj" fmla="val 9722"/>
            </a:avLst>
          </a:prstGeom>
          <a:solidFill xmlns:a="http://schemas.openxmlformats.org/drawingml/2006/main">
            <a:srgbClr val="DCEBED"/>
          </a:solidFill>
          <a:ln xmlns:a="http://schemas.openxmlformats.org/drawingml/2006/main" w="14288">
            <a:solidFill>
              <a:srgbClr val="2D6F78"/>
            </a:solidFill>
            <a:prstDash val="solid"/>
          </a:ln>
        </p:spPr>
      </p:sp>
      <p:sp>
        <p:nvSpPr>
          <p:cNvPr id="23" name="sync-provenance-c-title">
            <a:extLst xmlns:a="http://schemas.openxmlformats.org/drawingml/2006/main">
              <a:ext uri="{FF2B5EF4-FFF2-40B4-BE49-F238E27FC236}">
                <a16:creationId xmlns:a16="http://schemas.microsoft.com/office/drawing/2014/main" id="{53AE2C61-377C-45BE-BA66-6311D090D54C}"/>
              </a:ext>
            </a:extLst>
          </p:cNvPr>
          <p:cNvSpPr>
            <a:spLocks xmlns:a="http://schemas.openxmlformats.org/drawingml/2006/main" noGrp="1"/>
          </p:cNvSpPr>
          <p:nvPr/>
        </p:nvSpPr>
        <p:spPr>
          <a:xfrm xmlns:a="http://schemas.openxmlformats.org/drawingml/2006/main">
            <a:off x="5295900" y="2838450"/>
            <a:ext cx="1504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Index run</a:t>
            </a:r>
          </a:p>
        </p:txBody>
      </p:sp>
      <p:sp>
        <p:nvSpPr>
          <p:cNvPr id="24" name="sync-provenance-c-subtitle">
            <a:extLst xmlns:a="http://schemas.openxmlformats.org/drawingml/2006/main">
              <a:ext uri="{FF2B5EF4-FFF2-40B4-BE49-F238E27FC236}">
                <a16:creationId xmlns:a16="http://schemas.microsoft.com/office/drawing/2014/main" id="{FDBCFCB5-8278-4348-8EDB-7DEB393B927B}"/>
              </a:ext>
            </a:extLst>
          </p:cNvPr>
          <p:cNvSpPr>
            <a:spLocks xmlns:a="http://schemas.openxmlformats.org/drawingml/2006/main" noGrp="1"/>
          </p:cNvSpPr>
          <p:nvPr/>
        </p:nvSpPr>
        <p:spPr>
          <a:xfrm xmlns:a="http://schemas.openxmlformats.org/drawingml/2006/main">
            <a:off x="5295900" y="3086100"/>
            <a:ext cx="1504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graph + vector metadata</a:t>
            </a:r>
          </a:p>
        </p:txBody>
      </p:sp>
      <p:sp>
        <p:nvSpPr>
          <p:cNvPr id="25" name="sync-provenance-d">
            <a:extLst xmlns:a="http://schemas.openxmlformats.org/drawingml/2006/main">
              <a:ext uri="{FF2B5EF4-FFF2-40B4-BE49-F238E27FC236}">
                <a16:creationId xmlns:a16="http://schemas.microsoft.com/office/drawing/2014/main" id="{0C13FA52-648E-4468-A274-4E8D603C9218}"/>
              </a:ext>
            </a:extLst>
          </p:cNvPr>
          <p:cNvSpPr>
            <a:spLocks xmlns:a="http://schemas.openxmlformats.org/drawingml/2006/main" noGrp="1"/>
          </p:cNvSpPr>
          <p:nvPr/>
        </p:nvSpPr>
        <p:spPr>
          <a:xfrm xmlns:a="http://schemas.openxmlformats.org/drawingml/2006/main">
            <a:off x="7286625" y="2714625"/>
            <a:ext cx="1809750" cy="685800"/>
          </a:xfrm>
          <a:prstGeom xmlns:a="http://schemas.openxmlformats.org/drawingml/2006/main" prst="roundRect">
            <a:avLst>
              <a:gd name="adj" fmla="val 9722"/>
            </a:avLst>
          </a:prstGeom>
          <a:solidFill xmlns:a="http://schemas.openxmlformats.org/drawingml/2006/main">
            <a:srgbClr val="F4E2DA"/>
          </a:solidFill>
          <a:ln xmlns:a="http://schemas.openxmlformats.org/drawingml/2006/main" w="14288">
            <a:solidFill>
              <a:srgbClr val="B65C3C"/>
            </a:solidFill>
            <a:prstDash val="solid"/>
          </a:ln>
        </p:spPr>
      </p:sp>
      <p:sp>
        <p:nvSpPr>
          <p:cNvPr id="26" name="sync-provenance-d-title">
            <a:extLst xmlns:a="http://schemas.openxmlformats.org/drawingml/2006/main">
              <a:ext uri="{FF2B5EF4-FFF2-40B4-BE49-F238E27FC236}">
                <a16:creationId xmlns:a16="http://schemas.microsoft.com/office/drawing/2014/main" id="{9BD9E1E1-2906-4674-BF98-92A6BC06CD51}"/>
              </a:ext>
            </a:extLst>
          </p:cNvPr>
          <p:cNvSpPr>
            <a:spLocks xmlns:a="http://schemas.openxmlformats.org/drawingml/2006/main" noGrp="1"/>
          </p:cNvSpPr>
          <p:nvPr/>
        </p:nvSpPr>
        <p:spPr>
          <a:xfrm xmlns:a="http://schemas.openxmlformats.org/drawingml/2006/main">
            <a:off x="7439025" y="2838450"/>
            <a:ext cx="1504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Preflight</a:t>
            </a:r>
          </a:p>
        </p:txBody>
      </p:sp>
      <p:sp>
        <p:nvSpPr>
          <p:cNvPr id="27" name="sync-provenance-d-subtitle">
            <a:extLst xmlns:a="http://schemas.openxmlformats.org/drawingml/2006/main">
              <a:ext uri="{FF2B5EF4-FFF2-40B4-BE49-F238E27FC236}">
                <a16:creationId xmlns:a16="http://schemas.microsoft.com/office/drawing/2014/main" id="{C0B49BB0-A760-4350-9CA1-05BD33860C20}"/>
              </a:ext>
            </a:extLst>
          </p:cNvPr>
          <p:cNvSpPr>
            <a:spLocks xmlns:a="http://schemas.openxmlformats.org/drawingml/2006/main" noGrp="1"/>
          </p:cNvSpPr>
          <p:nvPr/>
        </p:nvSpPr>
        <p:spPr>
          <a:xfrm xmlns:a="http://schemas.openxmlformats.org/drawingml/2006/main">
            <a:off x="7439025" y="3086100"/>
            <a:ext cx="1504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schema + model match</a:t>
            </a:r>
          </a:p>
        </p:txBody>
      </p:sp>
      <p:sp>
        <p:nvSpPr>
          <p:cNvPr id="28" name="sync-provenance-e">
            <a:extLst xmlns:a="http://schemas.openxmlformats.org/drawingml/2006/main">
              <a:ext uri="{FF2B5EF4-FFF2-40B4-BE49-F238E27FC236}">
                <a16:creationId xmlns:a16="http://schemas.microsoft.com/office/drawing/2014/main" id="{1D1A834A-07FE-4427-B9EC-18FAF5834727}"/>
              </a:ext>
            </a:extLst>
          </p:cNvPr>
          <p:cNvSpPr>
            <a:spLocks xmlns:a="http://schemas.openxmlformats.org/drawingml/2006/main" noGrp="1"/>
          </p:cNvSpPr>
          <p:nvPr/>
        </p:nvSpPr>
        <p:spPr>
          <a:xfrm xmlns:a="http://schemas.openxmlformats.org/drawingml/2006/main">
            <a:off x="9429750" y="2714625"/>
            <a:ext cx="1571625" cy="685800"/>
          </a:xfrm>
          <a:prstGeom xmlns:a="http://schemas.openxmlformats.org/drawingml/2006/main" prst="roundRect">
            <a:avLst>
              <a:gd name="adj" fmla="val 9722"/>
            </a:avLst>
          </a:prstGeom>
          <a:solidFill xmlns:a="http://schemas.openxmlformats.org/drawingml/2006/main">
            <a:srgbClr val="E3F0E6"/>
          </a:solidFill>
          <a:ln xmlns:a="http://schemas.openxmlformats.org/drawingml/2006/main" w="14288">
            <a:solidFill>
              <a:srgbClr val="3D6F58"/>
            </a:solidFill>
            <a:prstDash val="solid"/>
          </a:ln>
        </p:spPr>
      </p:sp>
      <p:sp>
        <p:nvSpPr>
          <p:cNvPr id="29" name="sync-provenance-e-title">
            <a:extLst xmlns:a="http://schemas.openxmlformats.org/drawingml/2006/main">
              <a:ext uri="{FF2B5EF4-FFF2-40B4-BE49-F238E27FC236}">
                <a16:creationId xmlns:a16="http://schemas.microsoft.com/office/drawing/2014/main" id="{2FF81D64-F665-48A9-8B81-8EEBB0D16669}"/>
              </a:ext>
            </a:extLst>
          </p:cNvPr>
          <p:cNvSpPr>
            <a:spLocks xmlns:a="http://schemas.openxmlformats.org/drawingml/2006/main" noGrp="1"/>
          </p:cNvSpPr>
          <p:nvPr/>
        </p:nvSpPr>
        <p:spPr>
          <a:xfrm xmlns:a="http://schemas.openxmlformats.org/drawingml/2006/main">
            <a:off x="9582150" y="2838450"/>
            <a:ext cx="1266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Evaluation</a:t>
            </a:r>
          </a:p>
        </p:txBody>
      </p:sp>
      <p:sp>
        <p:nvSpPr>
          <p:cNvPr id="30" name="sync-provenance-e-subtitle">
            <a:extLst xmlns:a="http://schemas.openxmlformats.org/drawingml/2006/main">
              <a:ext uri="{FF2B5EF4-FFF2-40B4-BE49-F238E27FC236}">
                <a16:creationId xmlns:a16="http://schemas.microsoft.com/office/drawing/2014/main" id="{3BE2372F-427E-49D4-918C-0E9A471B0078}"/>
              </a:ext>
            </a:extLst>
          </p:cNvPr>
          <p:cNvSpPr>
            <a:spLocks xmlns:a="http://schemas.openxmlformats.org/drawingml/2006/main" noGrp="1"/>
          </p:cNvSpPr>
          <p:nvPr/>
        </p:nvSpPr>
        <p:spPr>
          <a:xfrm xmlns:a="http://schemas.openxmlformats.org/drawingml/2006/main">
            <a:off x="9582150" y="3086100"/>
            <a:ext cx="1266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measure or report</a:t>
            </a:r>
          </a:p>
        </p:txBody>
      </p:sp>
      <p:sp>
        <p:nvSpPr>
          <p:cNvPr id="31" name="sync-provenance-abort">
            <a:extLst xmlns:a="http://schemas.openxmlformats.org/drawingml/2006/main">
              <a:ext uri="{FF2B5EF4-FFF2-40B4-BE49-F238E27FC236}">
                <a16:creationId xmlns:a16="http://schemas.microsoft.com/office/drawing/2014/main" id="{E51DC66E-AFF3-49AB-B92D-342070E8A583}"/>
              </a:ext>
            </a:extLst>
          </p:cNvPr>
          <p:cNvSpPr>
            <a:spLocks xmlns:a="http://schemas.openxmlformats.org/drawingml/2006/main" noGrp="1"/>
          </p:cNvSpPr>
          <p:nvPr/>
        </p:nvSpPr>
        <p:spPr>
          <a:xfrm xmlns:a="http://schemas.openxmlformats.org/drawingml/2006/main">
            <a:off x="7096125" y="3667125"/>
            <a:ext cx="2095500" cy="419100"/>
          </a:xfrm>
          <a:prstGeom xmlns:a="http://schemas.openxmlformats.org/drawingml/2006/main" prst="roundRect">
            <a:avLst>
              <a:gd name="adj" fmla="val 15909"/>
            </a:avLst>
          </a:prstGeom>
          <a:solidFill xmlns:a="http://schemas.openxmlformats.org/drawingml/2006/main">
            <a:srgbClr val="F4E2DA"/>
          </a:solidFill>
          <a:ln xmlns:a="http://schemas.openxmlformats.org/drawingml/2006/main" w="14288">
            <a:solidFill>
              <a:srgbClr val="B65C3C"/>
            </a:solidFill>
            <a:prstDash val="solid"/>
          </a:ln>
        </p:spPr>
      </p:sp>
      <p:sp>
        <p:nvSpPr>
          <p:cNvPr id="32" name="sync-provenance-abort-title">
            <a:extLst xmlns:a="http://schemas.openxmlformats.org/drawingml/2006/main">
              <a:ext uri="{FF2B5EF4-FFF2-40B4-BE49-F238E27FC236}">
                <a16:creationId xmlns:a16="http://schemas.microsoft.com/office/drawing/2014/main" id="{F352CBA8-E08E-44A6-9FF2-4B68F34BD6A3}"/>
              </a:ext>
            </a:extLst>
          </p:cNvPr>
          <p:cNvSpPr>
            <a:spLocks xmlns:a="http://schemas.openxmlformats.org/drawingml/2006/main" noGrp="1"/>
          </p:cNvSpPr>
          <p:nvPr/>
        </p:nvSpPr>
        <p:spPr>
          <a:xfrm xmlns:a="http://schemas.openxmlformats.org/drawingml/2006/main">
            <a:off x="7248525" y="379095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1D2A34"/>
                </a:solidFill>
              </a:defRPr>
            </a:pPr>
            <a:r>
              <a:rPr sz="1125" b="1">
                <a:solidFill>
                  <a:srgbClr val="1D2A34"/>
                </a:solidFill>
              </a:rPr>
              <a:t>Mismatch → abort</a:t>
            </a:r>
          </a:p>
        </p:txBody>
      </p:sp>
      <p:sp>
        <p:nvSpPr>
          <p:cNvPr id="33" name="sync-provenance-abort-subtitle">
            <a:extLst xmlns:a="http://schemas.openxmlformats.org/drawingml/2006/main">
              <a:ext uri="{FF2B5EF4-FFF2-40B4-BE49-F238E27FC236}">
                <a16:creationId xmlns:a16="http://schemas.microsoft.com/office/drawing/2014/main" id="{730B6395-66A0-4B98-B80D-7A5975DC3102}"/>
              </a:ext>
            </a:extLst>
          </p:cNvPr>
          <p:cNvSpPr>
            <a:spLocks xmlns:a="http://schemas.openxmlformats.org/drawingml/2006/main" noGrp="1"/>
          </p:cNvSpPr>
          <p:nvPr/>
        </p:nvSpPr>
        <p:spPr>
          <a:xfrm xmlns:a="http://schemas.openxmlformats.org/drawingml/2006/main">
            <a:off x="7248525" y="403860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a:solidFill>
                  <a:srgbClr val="586671"/>
                </a:solidFill>
              </a:defRPr>
            </a:pPr>
            <a:r>
              <a:rPr sz="825">
                <a:solidFill>
                  <a:srgbClr val="586671"/>
                </a:solidFill>
              </a:rPr>
              <a:t>explicit stop</a:t>
            </a:r>
          </a:p>
        </p:txBody>
      </p:sp>
      <p:cxnSp>
        <p:nvCxnSpPr>
          <p:cNvPr id="219" name=""/>
          <p:cNvCxnSpPr>
            <a:stCxn xmlns:a="http://schemas.openxmlformats.org/drawingml/2006/main" id="19" idx="1"/>
            <a:endCxn xmlns:a="http://schemas.openxmlformats.org/drawingml/2006/main" id="16" idx="3"/>
          </p:cNvCxnSpPr>
          <p:nvPr/>
        </p:nvCxnSpPr>
        <p:spPr>
          <a:xfrm xmlns:a="http://schemas.openxmlformats.org/drawingml/2006/main" flipH="1">
            <a:off x="2667000" y="3057525"/>
            <a:ext cx="333375" cy="0"/>
          </a:xfrm>
          <a:prstGeom xmlns:a="http://schemas.openxmlformats.org/drawingml/2006/main" prst="straightConnector1">
            <a:avLst/>
          </a:prstGeom>
          <a:ln xmlns:a="http://schemas.openxmlformats.org/drawingml/2006/main" w="19050">
            <a:solidFill>
              <a:srgbClr val="71808A"/>
            </a:solidFill>
            <a:prstDash val="solid"/>
            <a:headEnd type="triangle" w="sm" len="sm"/>
          </a:ln>
        </p:spPr>
      </p:cxnSp>
      <p:cxnSp>
        <p:nvCxnSpPr>
          <p:cNvPr id="220" name=""/>
          <p:cNvCxnSpPr>
            <a:stCxn xmlns:a="http://schemas.openxmlformats.org/drawingml/2006/main" id="22" idx="1"/>
            <a:endCxn xmlns:a="http://schemas.openxmlformats.org/drawingml/2006/main" id="19" idx="3"/>
          </p:cNvCxnSpPr>
          <p:nvPr/>
        </p:nvCxnSpPr>
        <p:spPr>
          <a:xfrm xmlns:a="http://schemas.openxmlformats.org/drawingml/2006/main" flipH="1">
            <a:off x="4810125" y="3057525"/>
            <a:ext cx="333375" cy="0"/>
          </a:xfrm>
          <a:prstGeom xmlns:a="http://schemas.openxmlformats.org/drawingml/2006/main" prst="straightConnector1">
            <a:avLst/>
          </a:prstGeom>
          <a:ln xmlns:a="http://schemas.openxmlformats.org/drawingml/2006/main" w="19050">
            <a:solidFill>
              <a:srgbClr val="71808A"/>
            </a:solidFill>
            <a:prstDash val="solid"/>
            <a:headEnd type="triangle" w="sm" len="sm"/>
          </a:ln>
        </p:spPr>
      </p:cxnSp>
      <p:cxnSp>
        <p:nvCxnSpPr>
          <p:cNvPr id="221" name=""/>
          <p:cNvCxnSpPr>
            <a:stCxn xmlns:a="http://schemas.openxmlformats.org/drawingml/2006/main" id="25" idx="1"/>
            <a:endCxn xmlns:a="http://schemas.openxmlformats.org/drawingml/2006/main" id="22" idx="3"/>
          </p:cNvCxnSpPr>
          <p:nvPr/>
        </p:nvCxnSpPr>
        <p:spPr>
          <a:xfrm xmlns:a="http://schemas.openxmlformats.org/drawingml/2006/main" flipH="1">
            <a:off x="6953250" y="3057525"/>
            <a:ext cx="333375" cy="0"/>
          </a:xfrm>
          <a:prstGeom xmlns:a="http://schemas.openxmlformats.org/drawingml/2006/main" prst="straightConnector1">
            <a:avLst/>
          </a:prstGeom>
          <a:ln xmlns:a="http://schemas.openxmlformats.org/drawingml/2006/main" w="19050">
            <a:solidFill>
              <a:srgbClr val="71808A"/>
            </a:solidFill>
            <a:prstDash val="solid"/>
            <a:headEnd type="triangle" w="sm" len="sm"/>
          </a:ln>
        </p:spPr>
      </p:cxnSp>
      <p:cxnSp>
        <p:nvCxnSpPr>
          <p:cNvPr id="222" name=""/>
          <p:cNvCxnSpPr>
            <a:stCxn xmlns:a="http://schemas.openxmlformats.org/drawingml/2006/main" id="28" idx="1"/>
            <a:endCxn xmlns:a="http://schemas.openxmlformats.org/drawingml/2006/main" id="25" idx="3"/>
          </p:cNvCxnSpPr>
          <p:nvPr/>
        </p:nvCxnSpPr>
        <p:spPr>
          <a:xfrm xmlns:a="http://schemas.openxmlformats.org/drawingml/2006/main" flipH="1">
            <a:off x="9096375" y="3057525"/>
            <a:ext cx="333375" cy="0"/>
          </a:xfrm>
          <a:prstGeom xmlns:a="http://schemas.openxmlformats.org/drawingml/2006/main" prst="straightConnector1">
            <a:avLst/>
          </a:prstGeom>
          <a:ln xmlns:a="http://schemas.openxmlformats.org/drawingml/2006/main" w="19050">
            <a:solidFill>
              <a:srgbClr val="71808A"/>
            </a:solidFill>
            <a:prstDash val="solid"/>
            <a:headEnd type="triangle" w="sm" len="sm"/>
          </a:ln>
        </p:spPr>
      </p:cxnSp>
      <p:cxnSp>
        <p:nvCxnSpPr>
          <p:cNvPr id="223" name=""/>
          <p:cNvCxnSpPr>
            <a:stCxn xmlns:a="http://schemas.openxmlformats.org/drawingml/2006/main" id="31" idx="0"/>
            <a:endCxn xmlns:a="http://schemas.openxmlformats.org/drawingml/2006/main" id="25" idx="2"/>
          </p:cNvCxnSpPr>
          <p:nvPr/>
        </p:nvCxnSpPr>
        <p:spPr>
          <a:xfrm xmlns:a="http://schemas.openxmlformats.org/drawingml/2006/main" flipH="0" flipV="1">
            <a:off x="8143875" y="3400425"/>
            <a:ext cx="47625" cy="266700"/>
          </a:xfrm>
          <a:prstGeom xmlns:a="http://schemas.openxmlformats.org/drawingml/2006/main" prst="bentConnector4">
            <a:avLst>
              <a:gd name="adj1" fmla="val 0"/>
              <a:gd name="adj2" fmla="val 50000"/>
            </a:avLst>
          </a:prstGeom>
          <a:ln xmlns:a="http://schemas.openxmlformats.org/drawingml/2006/main" w="19050">
            <a:solidFill>
              <a:srgbClr val="B65C3C"/>
            </a:solidFill>
            <a:prstDash val="dash"/>
            <a:headEnd type="triangle" w="sm" len="sm"/>
          </a:ln>
        </p:spPr>
      </p:cxnSp>
    </p:spTree>
    <p:extLst>
      <p:ext uri="{BB962C8B-B14F-4D97-AF65-F5344CB8AC3E}">
        <p14:creationId xmlns:p14="http://schemas.microsoft.com/office/powerpoint/2010/main" val="1733193953"/>
      </p:ext>
    </p:extLst>
  </p:cSld>
</p:sld>
</file>

<file path=ppt/slides/slide1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38" name="kicker">
            <a:extLst xmlns:a="http://schemas.openxmlformats.org/drawingml/2006/main">
              <a:ext uri="{FF2B5EF4-FFF2-40B4-BE49-F238E27FC236}">
                <a16:creationId xmlns:a16="http://schemas.microsoft.com/office/drawing/2014/main" id="{835937C0-B5C6-4FCA-80A0-D0E55EA1ED92}"/>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EXPERIMENTAL DESIGN  ·  09 / 15</a:t>
            </a:r>
          </a:p>
        </p:txBody>
      </p:sp>
      <p:sp>
        <p:nvSpPr>
          <p:cNvPr id="2" name="kicker-rule">
            <a:extLst xmlns:a="http://schemas.openxmlformats.org/drawingml/2006/main">
              <a:ext uri="{FF2B5EF4-FFF2-40B4-BE49-F238E27FC236}">
                <a16:creationId xmlns:a16="http://schemas.microsoft.com/office/drawing/2014/main" id="{7263EE49-AD85-461A-BD9F-B1245398955A}"/>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E22338D0-C987-4864-B2BE-D42B36C54A77}"/>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Question-level pairing preserves the inference unit.</a:t>
            </a:r>
          </a:p>
        </p:txBody>
      </p:sp>
      <p:sp>
        <p:nvSpPr>
          <p:cNvPr id="4" name="running-case-core-09-label">
            <a:extLst xmlns:a="http://schemas.openxmlformats.org/drawingml/2006/main">
              <a:ext uri="{FF2B5EF4-FFF2-40B4-BE49-F238E27FC236}">
                <a16:creationId xmlns:a16="http://schemas.microsoft.com/office/drawing/2014/main" id="{0E5D6599-4917-4CFD-88D1-D108FBE1B743}"/>
              </a:ext>
            </a:extLst>
          </p:cNvPr>
          <p:cNvSpPr>
            <a:spLocks xmlns:a="http://schemas.openxmlformats.org/drawingml/2006/main" noGrp="1"/>
          </p:cNvSpPr>
          <p:nvPr/>
        </p:nvSpPr>
        <p:spPr>
          <a:xfrm xmlns:a="http://schemas.openxmlformats.org/drawingml/2006/main">
            <a:off x="685800" y="161925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RUNNING CASE</a:t>
            </a:r>
          </a:p>
        </p:txBody>
      </p:sp>
      <p:sp>
        <p:nvSpPr>
          <p:cNvPr id="5" name="running-case-core-09-query">
            <a:extLst xmlns:a="http://schemas.openxmlformats.org/drawingml/2006/main">
              <a:ext uri="{FF2B5EF4-FFF2-40B4-BE49-F238E27FC236}">
                <a16:creationId xmlns:a16="http://schemas.microsoft.com/office/drawing/2014/main" id="{471422C7-B865-43DB-8371-B93FD9977A54}"/>
              </a:ext>
            </a:extLst>
          </p:cNvPr>
          <p:cNvSpPr>
            <a:spLocks xmlns:a="http://schemas.openxmlformats.org/drawingml/2006/main" noGrp="1"/>
          </p:cNvSpPr>
          <p:nvPr/>
        </p:nvSpPr>
        <p:spPr>
          <a:xfrm xmlns:a="http://schemas.openxmlformats.org/drawingml/2006/main">
            <a:off x="2000250" y="1619250"/>
            <a:ext cx="2762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D6F58"/>
                </a:solidFill>
                <a:latin typeface="Aptos Mono"/>
                <a:ea typeface="Aptos Mono"/>
                <a:cs typeface="Aptos Mono"/>
              </a:defRPr>
            </a:pPr>
            <a:r>
              <a:rPr sz="825" b="1">
                <a:solidFill>
                  <a:srgbClr val="3D6F58"/>
                </a:solidFill>
                <a:latin typeface="Aptos Mono"/>
                <a:ea typeface="Aptos Mono"/>
                <a:cs typeface="Aptos Mono"/>
              </a:rPr>
              <a:t>BaseRetriever.retrieve</a:t>
            </a:r>
          </a:p>
        </p:txBody>
      </p:sp>
      <p:sp>
        <p:nvSpPr>
          <p:cNvPr id="6" name="running-case-core-09-stage">
            <a:extLst xmlns:a="http://schemas.openxmlformats.org/drawingml/2006/main">
              <a:ext uri="{FF2B5EF4-FFF2-40B4-BE49-F238E27FC236}">
                <a16:creationId xmlns:a16="http://schemas.microsoft.com/office/drawing/2014/main" id="{C3B41396-7ABE-478B-9122-DBDA2EF9FA06}"/>
              </a:ext>
            </a:extLst>
          </p:cNvPr>
          <p:cNvSpPr>
            <a:spLocks xmlns:a="http://schemas.openxmlformats.org/drawingml/2006/main" noGrp="1"/>
          </p:cNvSpPr>
          <p:nvPr/>
        </p:nvSpPr>
        <p:spPr>
          <a:xfrm xmlns:a="http://schemas.openxmlformats.org/drawingml/2006/main">
            <a:off x="4857750" y="1619250"/>
            <a:ext cx="619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B65C3C"/>
                </a:solidFill>
                <a:latin typeface="Aptos"/>
                <a:ea typeface="Aptos"/>
                <a:cs typeface="Aptos"/>
              </a:defRPr>
            </a:pPr>
            <a:r>
              <a:rPr sz="825" b="1">
                <a:solidFill>
                  <a:srgbClr val="B65C3C"/>
                </a:solidFill>
                <a:latin typeface="Aptos"/>
                <a:ea typeface="Aptos"/>
                <a:cs typeface="Aptos"/>
              </a:rPr>
              <a:t>one representative case · not aggregate proof</a:t>
            </a:r>
          </a:p>
        </p:txBody>
      </p:sp>
      <p:sp>
        <p:nvSpPr>
          <p:cNvPr id="7" name="flow-box-0">
            <a:extLst xmlns:a="http://schemas.openxmlformats.org/drawingml/2006/main">
              <a:ext uri="{FF2B5EF4-FFF2-40B4-BE49-F238E27FC236}">
                <a16:creationId xmlns:a16="http://schemas.microsoft.com/office/drawing/2014/main" id="{638921F1-6D04-4F6E-B09A-0C6CB500AF57}"/>
              </a:ext>
            </a:extLst>
          </p:cNvPr>
          <p:cNvSpPr>
            <a:spLocks xmlns:a="http://schemas.openxmlformats.org/drawingml/2006/main" noGrp="1"/>
          </p:cNvSpPr>
          <p:nvPr/>
        </p:nvSpPr>
        <p:spPr>
          <a:xfrm xmlns:a="http://schemas.openxmlformats.org/drawingml/2006/main">
            <a:off x="685800" y="2000250"/>
            <a:ext cx="190500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2D6F78"/>
            </a:solidFill>
            <a:prstDash val="solid"/>
          </a:ln>
        </p:spPr>
      </p:sp>
      <p:sp>
        <p:nvSpPr>
          <p:cNvPr id="8" name="flow-title-0">
            <a:extLst xmlns:a="http://schemas.openxmlformats.org/drawingml/2006/main">
              <a:ext uri="{FF2B5EF4-FFF2-40B4-BE49-F238E27FC236}">
                <a16:creationId xmlns:a16="http://schemas.microsoft.com/office/drawing/2014/main" id="{00DF25B7-69DE-4238-831E-7888C7D8163A}"/>
              </a:ext>
            </a:extLst>
          </p:cNvPr>
          <p:cNvSpPr>
            <a:spLocks xmlns:a="http://schemas.openxmlformats.org/drawingml/2006/main" noGrp="1"/>
          </p:cNvSpPr>
          <p:nvPr/>
        </p:nvSpPr>
        <p:spPr>
          <a:xfrm xmlns:a="http://schemas.openxmlformats.org/drawingml/2006/main">
            <a:off x="876300" y="22098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D2A34"/>
                </a:solidFill>
                <a:latin typeface="Aptos"/>
                <a:ea typeface="Aptos"/>
                <a:cs typeface="Aptos"/>
              </a:defRPr>
            </a:pPr>
            <a:r>
              <a:rPr sz="1575" b="1">
                <a:solidFill>
                  <a:srgbClr val="1D2A34"/>
                </a:solidFill>
                <a:latin typeface="Aptos"/>
                <a:ea typeface="Aptos"/>
                <a:cs typeface="Aptos"/>
              </a:rPr>
              <a:t>30 questions</a:t>
            </a:r>
          </a:p>
        </p:txBody>
      </p:sp>
      <p:sp>
        <p:nvSpPr>
          <p:cNvPr id="9" name="flow-sub-0">
            <a:extLst xmlns:a="http://schemas.openxmlformats.org/drawingml/2006/main">
              <a:ext uri="{FF2B5EF4-FFF2-40B4-BE49-F238E27FC236}">
                <a16:creationId xmlns:a16="http://schemas.microsoft.com/office/drawing/2014/main" id="{CFB4A1A7-ABA3-467C-9E9C-4A3E39BFB22A}"/>
              </a:ext>
            </a:extLst>
          </p:cNvPr>
          <p:cNvSpPr>
            <a:spLocks xmlns:a="http://schemas.openxmlformats.org/drawingml/2006/main" noGrp="1"/>
          </p:cNvSpPr>
          <p:nvPr/>
        </p:nvSpPr>
        <p:spPr>
          <a:xfrm xmlns:a="http://schemas.openxmlformats.org/drawingml/2006/main">
            <a:off x="876300" y="2552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a:solidFill>
                  <a:srgbClr val="586671"/>
                </a:solidFill>
                <a:latin typeface="Aptos"/>
                <a:ea typeface="Aptos"/>
                <a:cs typeface="Aptos"/>
              </a:defRPr>
            </a:pPr>
            <a:r>
              <a:rPr sz="825">
                <a:solidFill>
                  <a:srgbClr val="586671"/>
                </a:solidFill>
                <a:latin typeface="Aptos"/>
                <a:ea typeface="Aptos"/>
                <a:cs typeface="Aptos"/>
              </a:rPr>
              <a:t>10 each · 3 levels</a:t>
            </a:r>
          </a:p>
        </p:txBody>
      </p:sp>
      <p:sp>
        <p:nvSpPr>
          <p:cNvPr id="10" name="flow-arrow-1">
            <a:extLst xmlns:a="http://schemas.openxmlformats.org/drawingml/2006/main">
              <a:ext uri="{FF2B5EF4-FFF2-40B4-BE49-F238E27FC236}">
                <a16:creationId xmlns:a16="http://schemas.microsoft.com/office/drawing/2014/main" id="{022AF8FD-4880-4E16-B700-D08B55F4BA05}"/>
              </a:ext>
            </a:extLst>
          </p:cNvPr>
          <p:cNvSpPr>
            <a:spLocks xmlns:a="http://schemas.openxmlformats.org/drawingml/2006/main" noGrp="1"/>
          </p:cNvSpPr>
          <p:nvPr/>
        </p:nvSpPr>
        <p:spPr>
          <a:xfrm xmlns:a="http://schemas.openxmlformats.org/drawingml/2006/main">
            <a:off x="2667000" y="2343150"/>
            <a:ext cx="285750" cy="152400"/>
          </a:xfrm>
          <a:prstGeom xmlns:a="http://schemas.openxmlformats.org/drawingml/2006/main" prst="rightArrow">
            <a:avLst/>
          </a:prstGeom>
          <a:solidFill xmlns:a="http://schemas.openxmlformats.org/drawingml/2006/main">
            <a:srgbClr val="B65C3C"/>
          </a:solidFill>
          <a:ln xmlns:a="http://schemas.openxmlformats.org/drawingml/2006/main" w="0">
            <a:solidFill>
              <a:srgbClr val="B65C3C"/>
            </a:solidFill>
            <a:prstDash val="solid"/>
          </a:ln>
        </p:spPr>
      </p:sp>
      <p:sp>
        <p:nvSpPr>
          <p:cNvPr id="11" name="flow-box-1">
            <a:extLst xmlns:a="http://schemas.openxmlformats.org/drawingml/2006/main">
              <a:ext uri="{FF2B5EF4-FFF2-40B4-BE49-F238E27FC236}">
                <a16:creationId xmlns:a16="http://schemas.microsoft.com/office/drawing/2014/main" id="{E751F38A-16AB-4D15-A8B3-F4B8773F8C29}"/>
              </a:ext>
            </a:extLst>
          </p:cNvPr>
          <p:cNvSpPr>
            <a:spLocks xmlns:a="http://schemas.openxmlformats.org/drawingml/2006/main" noGrp="1"/>
          </p:cNvSpPr>
          <p:nvPr/>
        </p:nvSpPr>
        <p:spPr>
          <a:xfrm xmlns:a="http://schemas.openxmlformats.org/drawingml/2006/main">
            <a:off x="3067050" y="2000250"/>
            <a:ext cx="1524000" cy="876300"/>
          </a:xfrm>
          <a:prstGeom xmlns:a="http://schemas.openxmlformats.org/drawingml/2006/main" prst="roundRect">
            <a:avLst>
              <a:gd name="adj" fmla="val 8696"/>
            </a:avLst>
          </a:prstGeom>
          <a:solidFill xmlns:a="http://schemas.openxmlformats.org/drawingml/2006/main">
            <a:srgbClr val="E6EEF5"/>
          </a:solidFill>
          <a:ln xmlns:a="http://schemas.openxmlformats.org/drawingml/2006/main" w="9525">
            <a:solidFill>
              <a:srgbClr val="B65C3C"/>
            </a:solidFill>
            <a:prstDash val="solid"/>
          </a:ln>
        </p:spPr>
      </p:sp>
      <p:sp>
        <p:nvSpPr>
          <p:cNvPr id="12" name="flow-title-1">
            <a:extLst xmlns:a="http://schemas.openxmlformats.org/drawingml/2006/main">
              <a:ext uri="{FF2B5EF4-FFF2-40B4-BE49-F238E27FC236}">
                <a16:creationId xmlns:a16="http://schemas.microsoft.com/office/drawing/2014/main" id="{69C73342-20F7-4669-B99C-CA4BCD6CA0CF}"/>
              </a:ext>
            </a:extLst>
          </p:cNvPr>
          <p:cNvSpPr>
            <a:spLocks xmlns:a="http://schemas.openxmlformats.org/drawingml/2006/main" noGrp="1"/>
          </p:cNvSpPr>
          <p:nvPr/>
        </p:nvSpPr>
        <p:spPr>
          <a:xfrm xmlns:a="http://schemas.openxmlformats.org/drawingml/2006/main">
            <a:off x="3257550" y="22098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D2A34"/>
                </a:solidFill>
                <a:latin typeface="Aptos"/>
                <a:ea typeface="Aptos"/>
                <a:cs typeface="Aptos"/>
              </a:defRPr>
            </a:pPr>
            <a:r>
              <a:rPr sz="1575" b="1">
                <a:solidFill>
                  <a:srgbClr val="1D2A34"/>
                </a:solidFill>
                <a:latin typeface="Aptos"/>
                <a:ea typeface="Aptos"/>
                <a:cs typeface="Aptos"/>
              </a:rPr>
              <a:t>2 modes</a:t>
            </a:r>
          </a:p>
        </p:txBody>
      </p:sp>
      <p:sp>
        <p:nvSpPr>
          <p:cNvPr id="13" name="flow-sub-1">
            <a:extLst xmlns:a="http://schemas.openxmlformats.org/drawingml/2006/main">
              <a:ext uri="{FF2B5EF4-FFF2-40B4-BE49-F238E27FC236}">
                <a16:creationId xmlns:a16="http://schemas.microsoft.com/office/drawing/2014/main" id="{B63E4933-ECE9-4324-997D-78E26F8A4A40}"/>
              </a:ext>
            </a:extLst>
          </p:cNvPr>
          <p:cNvSpPr>
            <a:spLocks xmlns:a="http://schemas.openxmlformats.org/drawingml/2006/main" noGrp="1"/>
          </p:cNvSpPr>
          <p:nvPr/>
        </p:nvSpPr>
        <p:spPr>
          <a:xfrm xmlns:a="http://schemas.openxmlformats.org/drawingml/2006/main">
            <a:off x="3257550" y="25527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a:solidFill>
                  <a:srgbClr val="586671"/>
                </a:solidFill>
                <a:latin typeface="Aptos"/>
                <a:ea typeface="Aptos"/>
                <a:cs typeface="Aptos"/>
              </a:defRPr>
            </a:pPr>
            <a:r>
              <a:rPr sz="1050">
                <a:solidFill>
                  <a:srgbClr val="586671"/>
                </a:solidFill>
                <a:latin typeface="Aptos"/>
                <a:ea typeface="Aptos"/>
                <a:cs typeface="Aptos"/>
              </a:rPr>
              <a:t>vector · hybrid</a:t>
            </a:r>
          </a:p>
        </p:txBody>
      </p:sp>
      <p:sp>
        <p:nvSpPr>
          <p:cNvPr id="14" name="flow-arrow-2">
            <a:extLst xmlns:a="http://schemas.openxmlformats.org/drawingml/2006/main">
              <a:ext uri="{FF2B5EF4-FFF2-40B4-BE49-F238E27FC236}">
                <a16:creationId xmlns:a16="http://schemas.microsoft.com/office/drawing/2014/main" id="{B5750F3E-D6F0-4298-A755-CF15B4AF6FE6}"/>
              </a:ext>
            </a:extLst>
          </p:cNvPr>
          <p:cNvSpPr>
            <a:spLocks xmlns:a="http://schemas.openxmlformats.org/drawingml/2006/main" noGrp="1"/>
          </p:cNvSpPr>
          <p:nvPr/>
        </p:nvSpPr>
        <p:spPr>
          <a:xfrm xmlns:a="http://schemas.openxmlformats.org/drawingml/2006/main">
            <a:off x="4667250" y="2343150"/>
            <a:ext cx="285750" cy="152400"/>
          </a:xfrm>
          <a:prstGeom xmlns:a="http://schemas.openxmlformats.org/drawingml/2006/main" prst="rightArrow">
            <a:avLst/>
          </a:prstGeom>
          <a:solidFill xmlns:a="http://schemas.openxmlformats.org/drawingml/2006/main">
            <a:srgbClr val="B65C3C"/>
          </a:solidFill>
          <a:ln xmlns:a="http://schemas.openxmlformats.org/drawingml/2006/main" w="0">
            <a:solidFill>
              <a:srgbClr val="B65C3C"/>
            </a:solidFill>
            <a:prstDash val="solid"/>
          </a:ln>
        </p:spPr>
      </p:sp>
      <p:sp>
        <p:nvSpPr>
          <p:cNvPr id="15" name="flow-box-2">
            <a:extLst xmlns:a="http://schemas.openxmlformats.org/drawingml/2006/main">
              <a:ext uri="{FF2B5EF4-FFF2-40B4-BE49-F238E27FC236}">
                <a16:creationId xmlns:a16="http://schemas.microsoft.com/office/drawing/2014/main" id="{7E76C720-A955-49E4-A6DB-198FE1ABA39B}"/>
              </a:ext>
            </a:extLst>
          </p:cNvPr>
          <p:cNvSpPr>
            <a:spLocks xmlns:a="http://schemas.openxmlformats.org/drawingml/2006/main" noGrp="1"/>
          </p:cNvSpPr>
          <p:nvPr/>
        </p:nvSpPr>
        <p:spPr>
          <a:xfrm xmlns:a="http://schemas.openxmlformats.org/drawingml/2006/main">
            <a:off x="5067300" y="2000250"/>
            <a:ext cx="152400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2D6F78"/>
            </a:solidFill>
            <a:prstDash val="solid"/>
          </a:ln>
        </p:spPr>
      </p:sp>
      <p:sp>
        <p:nvSpPr>
          <p:cNvPr id="16" name="flow-title-2">
            <a:extLst xmlns:a="http://schemas.openxmlformats.org/drawingml/2006/main">
              <a:ext uri="{FF2B5EF4-FFF2-40B4-BE49-F238E27FC236}">
                <a16:creationId xmlns:a16="http://schemas.microsoft.com/office/drawing/2014/main" id="{13BEAF41-D997-4149-A788-CF619043D881}"/>
              </a:ext>
            </a:extLst>
          </p:cNvPr>
          <p:cNvSpPr>
            <a:spLocks xmlns:a="http://schemas.openxmlformats.org/drawingml/2006/main" noGrp="1"/>
          </p:cNvSpPr>
          <p:nvPr/>
        </p:nvSpPr>
        <p:spPr>
          <a:xfrm xmlns:a="http://schemas.openxmlformats.org/drawingml/2006/main">
            <a:off x="5257800" y="22098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D2A34"/>
                </a:solidFill>
                <a:latin typeface="Aptos"/>
                <a:ea typeface="Aptos"/>
                <a:cs typeface="Aptos"/>
              </a:defRPr>
            </a:pPr>
            <a:r>
              <a:rPr sz="1575" b="1">
                <a:solidFill>
                  <a:srgbClr val="1D2A34"/>
                </a:solidFill>
                <a:latin typeface="Aptos"/>
                <a:ea typeface="Aptos"/>
                <a:cs typeface="Aptos"/>
              </a:rPr>
              <a:t>3 repeats</a:t>
            </a:r>
          </a:p>
        </p:txBody>
      </p:sp>
      <p:sp>
        <p:nvSpPr>
          <p:cNvPr id="17" name="flow-sub-2">
            <a:extLst xmlns:a="http://schemas.openxmlformats.org/drawingml/2006/main">
              <a:ext uri="{FF2B5EF4-FFF2-40B4-BE49-F238E27FC236}">
                <a16:creationId xmlns:a16="http://schemas.microsoft.com/office/drawing/2014/main" id="{47AF1F56-4ABB-4826-B31B-C3BD6CEEEC01}"/>
              </a:ext>
            </a:extLst>
          </p:cNvPr>
          <p:cNvSpPr>
            <a:spLocks xmlns:a="http://schemas.openxmlformats.org/drawingml/2006/main" noGrp="1"/>
          </p:cNvSpPr>
          <p:nvPr/>
        </p:nvSpPr>
        <p:spPr>
          <a:xfrm xmlns:a="http://schemas.openxmlformats.org/drawingml/2006/main">
            <a:off x="5257800" y="25527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a:solidFill>
                  <a:srgbClr val="586671"/>
                </a:solidFill>
                <a:latin typeface="Aptos"/>
                <a:ea typeface="Aptos"/>
                <a:cs typeface="Aptos"/>
              </a:defRPr>
            </a:pPr>
            <a:r>
              <a:rPr sz="750">
                <a:solidFill>
                  <a:srgbClr val="586671"/>
                </a:solidFill>
                <a:latin typeface="Aptos"/>
                <a:ea typeface="Aptos"/>
                <a:cs typeface="Aptos"/>
              </a:rPr>
              <a:t>average within case</a:t>
            </a:r>
          </a:p>
        </p:txBody>
      </p:sp>
      <p:sp>
        <p:nvSpPr>
          <p:cNvPr id="18" name="flow-arrow-3">
            <a:extLst xmlns:a="http://schemas.openxmlformats.org/drawingml/2006/main">
              <a:ext uri="{FF2B5EF4-FFF2-40B4-BE49-F238E27FC236}">
                <a16:creationId xmlns:a16="http://schemas.microsoft.com/office/drawing/2014/main" id="{99E04B89-ECD0-4F72-BD5F-9B7BB49332FA}"/>
              </a:ext>
            </a:extLst>
          </p:cNvPr>
          <p:cNvSpPr>
            <a:spLocks xmlns:a="http://schemas.openxmlformats.org/drawingml/2006/main" noGrp="1"/>
          </p:cNvSpPr>
          <p:nvPr/>
        </p:nvSpPr>
        <p:spPr>
          <a:xfrm xmlns:a="http://schemas.openxmlformats.org/drawingml/2006/main">
            <a:off x="6667500" y="2343150"/>
            <a:ext cx="285750" cy="152400"/>
          </a:xfrm>
          <a:prstGeom xmlns:a="http://schemas.openxmlformats.org/drawingml/2006/main" prst="rightArrow">
            <a:avLst/>
          </a:prstGeom>
          <a:solidFill xmlns:a="http://schemas.openxmlformats.org/drawingml/2006/main">
            <a:srgbClr val="B65C3C"/>
          </a:solidFill>
          <a:ln xmlns:a="http://schemas.openxmlformats.org/drawingml/2006/main" w="0">
            <a:solidFill>
              <a:srgbClr val="B65C3C"/>
            </a:solidFill>
            <a:prstDash val="solid"/>
          </a:ln>
        </p:spPr>
      </p:sp>
      <p:sp>
        <p:nvSpPr>
          <p:cNvPr id="19" name="flow-box-3">
            <a:extLst xmlns:a="http://schemas.openxmlformats.org/drawingml/2006/main">
              <a:ext uri="{FF2B5EF4-FFF2-40B4-BE49-F238E27FC236}">
                <a16:creationId xmlns:a16="http://schemas.microsoft.com/office/drawing/2014/main" id="{8B533779-489B-4DD0-B682-E51F5BB9AC19}"/>
              </a:ext>
            </a:extLst>
          </p:cNvPr>
          <p:cNvSpPr>
            <a:spLocks xmlns:a="http://schemas.openxmlformats.org/drawingml/2006/main" noGrp="1"/>
          </p:cNvSpPr>
          <p:nvPr/>
        </p:nvSpPr>
        <p:spPr>
          <a:xfrm xmlns:a="http://schemas.openxmlformats.org/drawingml/2006/main">
            <a:off x="7067550" y="2000250"/>
            <a:ext cx="2000250" cy="876300"/>
          </a:xfrm>
          <a:prstGeom xmlns:a="http://schemas.openxmlformats.org/drawingml/2006/main" prst="roundRect">
            <a:avLst>
              <a:gd name="adj" fmla="val 8696"/>
            </a:avLst>
          </a:prstGeom>
          <a:solidFill xmlns:a="http://schemas.openxmlformats.org/drawingml/2006/main">
            <a:srgbClr val="DCEBED"/>
          </a:solidFill>
          <a:ln xmlns:a="http://schemas.openxmlformats.org/drawingml/2006/main" w="9525">
            <a:solidFill>
              <a:srgbClr val="2D6F78"/>
            </a:solidFill>
            <a:prstDash val="solid"/>
          </a:ln>
        </p:spPr>
      </p:sp>
      <p:sp>
        <p:nvSpPr>
          <p:cNvPr id="20" name="flow-title-3">
            <a:extLst xmlns:a="http://schemas.openxmlformats.org/drawingml/2006/main">
              <a:ext uri="{FF2B5EF4-FFF2-40B4-BE49-F238E27FC236}">
                <a16:creationId xmlns:a16="http://schemas.microsoft.com/office/drawing/2014/main" id="{854C6AE2-33B9-4F46-AF50-0532E6074F32}"/>
              </a:ext>
            </a:extLst>
          </p:cNvPr>
          <p:cNvSpPr>
            <a:spLocks xmlns:a="http://schemas.openxmlformats.org/drawingml/2006/main" noGrp="1"/>
          </p:cNvSpPr>
          <p:nvPr/>
        </p:nvSpPr>
        <p:spPr>
          <a:xfrm xmlns:a="http://schemas.openxmlformats.org/drawingml/2006/main">
            <a:off x="7258050" y="22098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D2A34"/>
                </a:solidFill>
                <a:latin typeface="Aptos"/>
                <a:ea typeface="Aptos"/>
                <a:cs typeface="Aptos"/>
              </a:defRPr>
            </a:pPr>
            <a:r>
              <a:rPr sz="1575" b="1">
                <a:solidFill>
                  <a:srgbClr val="1D2A34"/>
                </a:solidFill>
                <a:latin typeface="Aptos"/>
                <a:ea typeface="Aptos"/>
                <a:cs typeface="Aptos"/>
              </a:rPr>
              <a:t>180 records</a:t>
            </a:r>
          </a:p>
        </p:txBody>
      </p:sp>
      <p:sp>
        <p:nvSpPr>
          <p:cNvPr id="21" name="flow-sub-3">
            <a:extLst xmlns:a="http://schemas.openxmlformats.org/drawingml/2006/main">
              <a:ext uri="{FF2B5EF4-FFF2-40B4-BE49-F238E27FC236}">
                <a16:creationId xmlns:a16="http://schemas.microsoft.com/office/drawing/2014/main" id="{DB5758B8-B7A1-414A-BC50-716C23D90A6F}"/>
              </a:ext>
            </a:extLst>
          </p:cNvPr>
          <p:cNvSpPr>
            <a:spLocks xmlns:a="http://schemas.openxmlformats.org/drawingml/2006/main" noGrp="1"/>
          </p:cNvSpPr>
          <p:nvPr/>
        </p:nvSpPr>
        <p:spPr>
          <a:xfrm xmlns:a="http://schemas.openxmlformats.org/drawingml/2006/main">
            <a:off x="7258050" y="25527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a:solidFill>
                  <a:srgbClr val="586671"/>
                </a:solidFill>
                <a:latin typeface="Aptos"/>
                <a:ea typeface="Aptos"/>
                <a:cs typeface="Aptos"/>
              </a:defRPr>
            </a:pPr>
            <a:r>
              <a:rPr sz="825">
                <a:solidFill>
                  <a:srgbClr val="586671"/>
                </a:solidFill>
                <a:latin typeface="Aptos"/>
                <a:ea typeface="Aptos"/>
                <a:cs typeface="Aptos"/>
              </a:rPr>
              <a:t>30 × 2 × 3 · retained for audit</a:t>
            </a:r>
          </a:p>
        </p:txBody>
      </p:sp>
      <p:sp>
        <p:nvSpPr>
          <p:cNvPr id="22" name="raw-to-pairs">
            <a:extLst xmlns:a="http://schemas.openxmlformats.org/drawingml/2006/main">
              <a:ext uri="{FF2B5EF4-FFF2-40B4-BE49-F238E27FC236}">
                <a16:creationId xmlns:a16="http://schemas.microsoft.com/office/drawing/2014/main" id="{B16306BA-CCE2-4C6B-8CD3-B0C5F3B3E2CC}"/>
              </a:ext>
            </a:extLst>
          </p:cNvPr>
          <p:cNvSpPr>
            <a:spLocks xmlns:a="http://schemas.openxmlformats.org/drawingml/2006/main" noGrp="1"/>
          </p:cNvSpPr>
          <p:nvPr/>
        </p:nvSpPr>
        <p:spPr>
          <a:xfrm xmlns:a="http://schemas.openxmlformats.org/drawingml/2006/main">
            <a:off x="9372600" y="3048000"/>
            <a:ext cx="171450" cy="495300"/>
          </a:xfrm>
          <a:prstGeom xmlns:a="http://schemas.openxmlformats.org/drawingml/2006/main" prst="downArrow">
            <a:avLst/>
          </a:prstGeom>
          <a:solidFill xmlns:a="http://schemas.openxmlformats.org/drawingml/2006/main">
            <a:srgbClr val="B65C3C"/>
          </a:solidFill>
          <a:ln xmlns:a="http://schemas.openxmlformats.org/drawingml/2006/main" w="0">
            <a:solidFill>
              <a:srgbClr val="B65C3C"/>
            </a:solidFill>
            <a:prstDash val="solid"/>
          </a:ln>
        </p:spPr>
      </p:sp>
      <p:sp>
        <p:nvSpPr>
          <p:cNvPr id="23" name="paired-means">
            <a:extLst xmlns:a="http://schemas.openxmlformats.org/drawingml/2006/main">
              <a:ext uri="{FF2B5EF4-FFF2-40B4-BE49-F238E27FC236}">
                <a16:creationId xmlns:a16="http://schemas.microsoft.com/office/drawing/2014/main" id="{4A602001-8A28-43C3-ACF5-531CA26AD538}"/>
              </a:ext>
            </a:extLst>
          </p:cNvPr>
          <p:cNvSpPr>
            <a:spLocks xmlns:a="http://schemas.openxmlformats.org/drawingml/2006/main" noGrp="1"/>
          </p:cNvSpPr>
          <p:nvPr/>
        </p:nvSpPr>
        <p:spPr>
          <a:xfrm xmlns:a="http://schemas.openxmlformats.org/drawingml/2006/main">
            <a:off x="4000500" y="3714750"/>
            <a:ext cx="2857500" cy="762000"/>
          </a:xfrm>
          <a:prstGeom xmlns:a="http://schemas.openxmlformats.org/drawingml/2006/main" prst="roundRect">
            <a:avLst>
              <a:gd name="adj" fmla="val 10000"/>
            </a:avLst>
          </a:prstGeom>
          <a:solidFill xmlns:a="http://schemas.openxmlformats.org/drawingml/2006/main">
            <a:srgbClr val="E3F0E6"/>
          </a:solidFill>
          <a:ln xmlns:a="http://schemas.openxmlformats.org/drawingml/2006/main" w="9525">
            <a:solidFill>
              <a:srgbClr val="3D6F58"/>
            </a:solidFill>
            <a:prstDash val="solid"/>
          </a:ln>
        </p:spPr>
      </p:sp>
      <p:sp>
        <p:nvSpPr>
          <p:cNvPr id="24" name="paired-title">
            <a:extLst xmlns:a="http://schemas.openxmlformats.org/drawingml/2006/main">
              <a:ext uri="{FF2B5EF4-FFF2-40B4-BE49-F238E27FC236}">
                <a16:creationId xmlns:a16="http://schemas.microsoft.com/office/drawing/2014/main" id="{DCF45DF4-3E03-4041-A3DC-3A9A52955DAC}"/>
              </a:ext>
            </a:extLst>
          </p:cNvPr>
          <p:cNvSpPr>
            <a:spLocks xmlns:a="http://schemas.openxmlformats.org/drawingml/2006/main" noGrp="1"/>
          </p:cNvSpPr>
          <p:nvPr/>
        </p:nvSpPr>
        <p:spPr>
          <a:xfrm xmlns:a="http://schemas.openxmlformats.org/drawingml/2006/main">
            <a:off x="4248150" y="39052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D2A34"/>
                </a:solidFill>
                <a:latin typeface="Aptos"/>
                <a:ea typeface="Aptos"/>
                <a:cs typeface="Aptos"/>
              </a:defRPr>
            </a:pPr>
            <a:r>
              <a:rPr sz="1350" b="1">
                <a:solidFill>
                  <a:srgbClr val="1D2A34"/>
                </a:solidFill>
                <a:latin typeface="Aptos"/>
                <a:ea typeface="Aptos"/>
                <a:cs typeface="Aptos"/>
              </a:rPr>
              <a:t>30 paired means</a:t>
            </a:r>
          </a:p>
        </p:txBody>
      </p:sp>
      <p:sp>
        <p:nvSpPr>
          <p:cNvPr id="25" name="paired-subtitle">
            <a:extLst xmlns:a="http://schemas.openxmlformats.org/drawingml/2006/main">
              <a:ext uri="{FF2B5EF4-FFF2-40B4-BE49-F238E27FC236}">
                <a16:creationId xmlns:a16="http://schemas.microsoft.com/office/drawing/2014/main" id="{544BFF92-8416-4A83-9602-6D47F24F58D0}"/>
              </a:ext>
            </a:extLst>
          </p:cNvPr>
          <p:cNvSpPr>
            <a:spLocks xmlns:a="http://schemas.openxmlformats.org/drawingml/2006/main" noGrp="1"/>
          </p:cNvSpPr>
          <p:nvPr/>
        </p:nvSpPr>
        <p:spPr>
          <a:xfrm xmlns:a="http://schemas.openxmlformats.org/drawingml/2006/main">
            <a:off x="4248150" y="4210050"/>
            <a:ext cx="2362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a:solidFill>
                  <a:srgbClr val="586671"/>
                </a:solidFill>
                <a:latin typeface="Aptos"/>
                <a:ea typeface="Aptos"/>
                <a:cs typeface="Aptos"/>
              </a:defRPr>
            </a:pPr>
            <a:r>
              <a:rPr sz="1050">
                <a:solidFill>
                  <a:srgbClr val="586671"/>
                </a:solidFill>
                <a:latin typeface="Aptos"/>
                <a:ea typeface="Aptos"/>
                <a:cs typeface="Aptos"/>
              </a:rPr>
              <a:t>average repeats before inference</a:t>
            </a:r>
          </a:p>
        </p:txBody>
      </p:sp>
      <p:sp>
        <p:nvSpPr>
          <p:cNvPr id="26" name="pairs-to-bootstrap">
            <a:extLst xmlns:a="http://schemas.openxmlformats.org/drawingml/2006/main">
              <a:ext uri="{FF2B5EF4-FFF2-40B4-BE49-F238E27FC236}">
                <a16:creationId xmlns:a16="http://schemas.microsoft.com/office/drawing/2014/main" id="{B183AB22-0BC2-49FC-9451-61A0436AD41B}"/>
              </a:ext>
            </a:extLst>
          </p:cNvPr>
          <p:cNvSpPr>
            <a:spLocks xmlns:a="http://schemas.openxmlformats.org/drawingml/2006/main" noGrp="1"/>
          </p:cNvSpPr>
          <p:nvPr/>
        </p:nvSpPr>
        <p:spPr>
          <a:xfrm xmlns:a="http://schemas.openxmlformats.org/drawingml/2006/main">
            <a:off x="7067550" y="4010025"/>
            <a:ext cx="685800" cy="171450"/>
          </a:xfrm>
          <a:prstGeom xmlns:a="http://schemas.openxmlformats.org/drawingml/2006/main" prst="rightArrow">
            <a:avLst/>
          </a:prstGeom>
          <a:solidFill xmlns:a="http://schemas.openxmlformats.org/drawingml/2006/main">
            <a:srgbClr val="3D6F58"/>
          </a:solidFill>
          <a:ln xmlns:a="http://schemas.openxmlformats.org/drawingml/2006/main" w="0">
            <a:solidFill>
              <a:srgbClr val="3D6F58"/>
            </a:solidFill>
            <a:prstDash val="solid"/>
          </a:ln>
        </p:spPr>
      </p:sp>
      <p:sp>
        <p:nvSpPr>
          <p:cNvPr id="27" name="bootstraps">
            <a:extLst xmlns:a="http://schemas.openxmlformats.org/drawingml/2006/main">
              <a:ext uri="{FF2B5EF4-FFF2-40B4-BE49-F238E27FC236}">
                <a16:creationId xmlns:a16="http://schemas.microsoft.com/office/drawing/2014/main" id="{EF052238-7C76-422B-A41A-403CA2CF1D3F}"/>
              </a:ext>
            </a:extLst>
          </p:cNvPr>
          <p:cNvSpPr>
            <a:spLocks xmlns:a="http://schemas.openxmlformats.org/drawingml/2006/main" noGrp="1"/>
          </p:cNvSpPr>
          <p:nvPr/>
        </p:nvSpPr>
        <p:spPr>
          <a:xfrm xmlns:a="http://schemas.openxmlformats.org/drawingml/2006/main">
            <a:off x="7943850" y="3714750"/>
            <a:ext cx="2914650" cy="762000"/>
          </a:xfrm>
          <a:prstGeom xmlns:a="http://schemas.openxmlformats.org/drawingml/2006/main" prst="roundRect">
            <a:avLst>
              <a:gd name="adj" fmla="val 10000"/>
            </a:avLst>
          </a:prstGeom>
          <a:solidFill xmlns:a="http://schemas.openxmlformats.org/drawingml/2006/main">
            <a:srgbClr val="E3F0E6"/>
          </a:solidFill>
          <a:ln xmlns:a="http://schemas.openxmlformats.org/drawingml/2006/main" w="9525">
            <a:solidFill>
              <a:srgbClr val="3D6F58"/>
            </a:solidFill>
            <a:prstDash val="solid"/>
          </a:ln>
        </p:spPr>
      </p:sp>
      <p:sp>
        <p:nvSpPr>
          <p:cNvPr id="28" name="bootstrap-title">
            <a:extLst xmlns:a="http://schemas.openxmlformats.org/drawingml/2006/main">
              <a:ext uri="{FF2B5EF4-FFF2-40B4-BE49-F238E27FC236}">
                <a16:creationId xmlns:a16="http://schemas.microsoft.com/office/drawing/2014/main" id="{FBC90601-10A6-4B12-865F-66FD9A6C360A}"/>
              </a:ext>
            </a:extLst>
          </p:cNvPr>
          <p:cNvSpPr>
            <a:spLocks xmlns:a="http://schemas.openxmlformats.org/drawingml/2006/main" noGrp="1"/>
          </p:cNvSpPr>
          <p:nvPr/>
        </p:nvSpPr>
        <p:spPr>
          <a:xfrm xmlns:a="http://schemas.openxmlformats.org/drawingml/2006/main">
            <a:off x="8153400" y="3905250"/>
            <a:ext cx="257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D2A34"/>
                </a:solidFill>
                <a:latin typeface="Aptos"/>
                <a:ea typeface="Aptos"/>
                <a:cs typeface="Aptos"/>
              </a:defRPr>
            </a:pPr>
            <a:r>
              <a:rPr sz="1500" b="1">
                <a:solidFill>
                  <a:srgbClr val="1D2A34"/>
                </a:solidFill>
                <a:latin typeface="Aptos"/>
                <a:ea typeface="Aptos"/>
                <a:cs typeface="Aptos"/>
              </a:rPr>
              <a:t>10,000 paired bootstraps</a:t>
            </a:r>
          </a:p>
        </p:txBody>
      </p:sp>
      <p:sp>
        <p:nvSpPr>
          <p:cNvPr id="29" name="bootstrap-subtitle">
            <a:extLst xmlns:a="http://schemas.openxmlformats.org/drawingml/2006/main">
              <a:ext uri="{FF2B5EF4-FFF2-40B4-BE49-F238E27FC236}">
                <a16:creationId xmlns:a16="http://schemas.microsoft.com/office/drawing/2014/main" id="{B363A608-A6AF-4729-AC4D-5AFCE944E7D7}"/>
              </a:ext>
            </a:extLst>
          </p:cNvPr>
          <p:cNvSpPr>
            <a:spLocks xmlns:a="http://schemas.openxmlformats.org/drawingml/2006/main" noGrp="1"/>
          </p:cNvSpPr>
          <p:nvPr/>
        </p:nvSpPr>
        <p:spPr>
          <a:xfrm xmlns:a="http://schemas.openxmlformats.org/drawingml/2006/main">
            <a:off x="8153400" y="42100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a:solidFill>
                  <a:srgbClr val="586671"/>
                </a:solidFill>
                <a:latin typeface="Aptos"/>
                <a:ea typeface="Aptos"/>
                <a:cs typeface="Aptos"/>
              </a:defRPr>
            </a:pPr>
            <a:r>
              <a:rPr sz="1050">
                <a:solidFill>
                  <a:srgbClr val="586671"/>
                </a:solidFill>
                <a:latin typeface="Aptos"/>
                <a:ea typeface="Aptos"/>
                <a:cs typeface="Aptos"/>
              </a:rPr>
              <a:t>resample 30 pairs · seed 42</a:t>
            </a:r>
          </a:p>
        </p:txBody>
      </p:sp>
      <p:sp>
        <p:nvSpPr>
          <p:cNvPr id="30" name="bootstrap-to-ci">
            <a:extLst xmlns:a="http://schemas.openxmlformats.org/drawingml/2006/main">
              <a:ext uri="{FF2B5EF4-FFF2-40B4-BE49-F238E27FC236}">
                <a16:creationId xmlns:a16="http://schemas.microsoft.com/office/drawing/2014/main" id="{C4D81069-C3A5-4E32-A9A5-BF982F16E7C8}"/>
              </a:ext>
            </a:extLst>
          </p:cNvPr>
          <p:cNvSpPr>
            <a:spLocks xmlns:a="http://schemas.openxmlformats.org/drawingml/2006/main" noGrp="1"/>
          </p:cNvSpPr>
          <p:nvPr/>
        </p:nvSpPr>
        <p:spPr>
          <a:xfrm xmlns:a="http://schemas.openxmlformats.org/drawingml/2006/main">
            <a:off x="9315450" y="4629150"/>
            <a:ext cx="171450" cy="381000"/>
          </a:xfrm>
          <a:prstGeom xmlns:a="http://schemas.openxmlformats.org/drawingml/2006/main" prst="downArrow">
            <a:avLst/>
          </a:prstGeom>
          <a:solidFill xmlns:a="http://schemas.openxmlformats.org/drawingml/2006/main">
            <a:srgbClr val="3D6F58"/>
          </a:solidFill>
          <a:ln xmlns:a="http://schemas.openxmlformats.org/drawingml/2006/main" w="0">
            <a:solidFill>
              <a:srgbClr val="3D6F58"/>
            </a:solidFill>
            <a:prstDash val="solid"/>
          </a:ln>
        </p:spPr>
      </p:sp>
      <p:sp>
        <p:nvSpPr>
          <p:cNvPr id="31" name="ci-box">
            <a:extLst xmlns:a="http://schemas.openxmlformats.org/drawingml/2006/main">
              <a:ext uri="{FF2B5EF4-FFF2-40B4-BE49-F238E27FC236}">
                <a16:creationId xmlns:a16="http://schemas.microsoft.com/office/drawing/2014/main" id="{2515253F-EC15-494B-AC9A-51C27CAEA08C}"/>
              </a:ext>
            </a:extLst>
          </p:cNvPr>
          <p:cNvSpPr>
            <a:spLocks xmlns:a="http://schemas.openxmlformats.org/drawingml/2006/main" noGrp="1"/>
          </p:cNvSpPr>
          <p:nvPr/>
        </p:nvSpPr>
        <p:spPr>
          <a:xfrm xmlns:a="http://schemas.openxmlformats.org/drawingml/2006/main">
            <a:off x="7943850" y="5219700"/>
            <a:ext cx="2914650" cy="400050"/>
          </a:xfrm>
          <a:prstGeom xmlns:a="http://schemas.openxmlformats.org/drawingml/2006/main" prst="roundRect">
            <a:avLst>
              <a:gd name="adj" fmla="val 19048"/>
            </a:avLst>
          </a:prstGeom>
          <a:solidFill xmlns:a="http://schemas.openxmlformats.org/drawingml/2006/main">
            <a:srgbClr val="FFFDF8"/>
          </a:solidFill>
          <a:ln xmlns:a="http://schemas.openxmlformats.org/drawingml/2006/main" w="9525">
            <a:solidFill>
              <a:srgbClr val="C9D1D1"/>
            </a:solidFill>
            <a:prstDash val="solid"/>
          </a:ln>
        </p:spPr>
      </p:sp>
      <p:sp>
        <p:nvSpPr>
          <p:cNvPr id="32" name="ci-copy">
            <a:extLst xmlns:a="http://schemas.openxmlformats.org/drawingml/2006/main">
              <a:ext uri="{FF2B5EF4-FFF2-40B4-BE49-F238E27FC236}">
                <a16:creationId xmlns:a16="http://schemas.microsoft.com/office/drawing/2014/main" id="{9C6ACF8E-F384-4DE4-97C3-F2C0776D854A}"/>
              </a:ext>
            </a:extLst>
          </p:cNvPr>
          <p:cNvSpPr>
            <a:spLocks xmlns:a="http://schemas.openxmlformats.org/drawingml/2006/main" noGrp="1"/>
          </p:cNvSpPr>
          <p:nvPr/>
        </p:nvSpPr>
        <p:spPr>
          <a:xfrm xmlns:a="http://schemas.openxmlformats.org/drawingml/2006/main">
            <a:off x="8115300" y="53340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3D6F58"/>
                </a:solidFill>
                <a:latin typeface="Aptos"/>
                <a:ea typeface="Aptos"/>
                <a:cs typeface="Aptos"/>
              </a:defRPr>
            </a:pPr>
            <a:r>
              <a:rPr sz="975" b="1">
                <a:solidFill>
                  <a:srgbClr val="3D6F58"/>
                </a:solidFill>
                <a:latin typeface="Aptos"/>
                <a:ea typeface="Aptos"/>
                <a:cs typeface="Aptos"/>
              </a:rPr>
              <a:t>PAIRED 95% CONFIDENCE INTERVAL</a:t>
            </a:r>
          </a:p>
        </p:txBody>
      </p:sp>
      <p:sp>
        <p:nvSpPr>
          <p:cNvPr id="33" name="design-takeaway">
            <a:extLst xmlns:a="http://schemas.openxmlformats.org/drawingml/2006/main">
              <a:ext uri="{FF2B5EF4-FFF2-40B4-BE49-F238E27FC236}">
                <a16:creationId xmlns:a16="http://schemas.microsoft.com/office/drawing/2014/main" id="{6AE2E2C6-9EA6-4604-A0A4-68F0BBB1D656}"/>
              </a:ext>
            </a:extLst>
          </p:cNvPr>
          <p:cNvSpPr>
            <a:spLocks xmlns:a="http://schemas.openxmlformats.org/drawingml/2006/main" noGrp="1"/>
          </p:cNvSpPr>
          <p:nvPr/>
        </p:nvSpPr>
        <p:spPr>
          <a:xfrm xmlns:a="http://schemas.openxmlformats.org/drawingml/2006/main">
            <a:off x="685800" y="5810250"/>
            <a:ext cx="10172700" cy="457200"/>
          </a:xfrm>
          <a:prstGeom xmlns:a="http://schemas.openxmlformats.org/drawingml/2006/main" prst="roundRect">
            <a:avLst>
              <a:gd name="adj" fmla="val 16667"/>
            </a:avLst>
          </a:prstGeom>
          <a:solidFill xmlns:a="http://schemas.openxmlformats.org/drawingml/2006/main">
            <a:srgbClr val="FFFDF8"/>
          </a:solidFill>
          <a:ln xmlns:a="http://schemas.openxmlformats.org/drawingml/2006/main" w="9525">
            <a:solidFill>
              <a:srgbClr val="2D6F78"/>
            </a:solidFill>
            <a:prstDash val="solid"/>
          </a:ln>
        </p:spPr>
      </p:sp>
      <p:sp>
        <p:nvSpPr>
          <p:cNvPr id="34" name="design-takeaway-label">
            <a:extLst xmlns:a="http://schemas.openxmlformats.org/drawingml/2006/main">
              <a:ext uri="{FF2B5EF4-FFF2-40B4-BE49-F238E27FC236}">
                <a16:creationId xmlns:a16="http://schemas.microsoft.com/office/drawing/2014/main" id="{7E3945FF-CAC2-4A88-A5B4-3A5C3D793A46}"/>
              </a:ext>
            </a:extLst>
          </p:cNvPr>
          <p:cNvSpPr>
            <a:spLocks xmlns:a="http://schemas.openxmlformats.org/drawingml/2006/main" noGrp="1"/>
          </p:cNvSpPr>
          <p:nvPr/>
        </p:nvSpPr>
        <p:spPr>
          <a:xfrm xmlns:a="http://schemas.openxmlformats.org/drawingml/2006/main">
            <a:off x="952500" y="59436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35" name="design-takeaway-copy">
            <a:extLst xmlns:a="http://schemas.openxmlformats.org/drawingml/2006/main">
              <a:ext uri="{FF2B5EF4-FFF2-40B4-BE49-F238E27FC236}">
                <a16:creationId xmlns:a16="http://schemas.microsoft.com/office/drawing/2014/main" id="{E52F77D3-E4F8-48C4-AB76-9E1F8CECEC27}"/>
              </a:ext>
            </a:extLst>
          </p:cNvPr>
          <p:cNvSpPr>
            <a:spLocks xmlns:a="http://schemas.openxmlformats.org/drawingml/2006/main" noGrp="1"/>
          </p:cNvSpPr>
          <p:nvPr/>
        </p:nvSpPr>
        <p:spPr>
          <a:xfrm xmlns:a="http://schemas.openxmlformats.org/drawingml/2006/main">
            <a:off x="952500" y="5915025"/>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1D2A34"/>
                </a:solidFill>
                <a:latin typeface="Aptos"/>
                <a:ea typeface="Aptos"/>
                <a:cs typeface="Aptos"/>
              </a:defRPr>
            </a:pPr>
            <a:r>
              <a:rPr sz="1125" b="1">
                <a:solidFill>
                  <a:srgbClr val="1D2A34"/>
                </a:solidFill>
                <a:latin typeface="Aptos"/>
                <a:ea typeface="Aptos"/>
                <a:cs typeface="Aptos"/>
              </a:rPr>
              <a:t>180 raw records are retained, but the statistical unit is 30 independent question pairs—not 180 answers.</a:t>
            </a:r>
          </a:p>
        </p:txBody>
      </p:sp>
      <p:sp>
        <p:nvSpPr>
          <p:cNvPr id="36" name="footer-label">
            <a:extLst xmlns:a="http://schemas.openxmlformats.org/drawingml/2006/main">
              <a:ext uri="{FF2B5EF4-FFF2-40B4-BE49-F238E27FC236}">
                <a16:creationId xmlns:a16="http://schemas.microsoft.com/office/drawing/2014/main" id="{6FF0F68A-BF9B-4559-80EC-EF013066A5C8}"/>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09 / 15</a:t>
            </a:r>
          </a:p>
        </p:txBody>
      </p:sp>
      <p:sp>
        <p:nvSpPr>
          <p:cNvPr id="37" name="footer-number">
            <a:extLst xmlns:a="http://schemas.openxmlformats.org/drawingml/2006/main">
              <a:ext uri="{FF2B5EF4-FFF2-40B4-BE49-F238E27FC236}">
                <a16:creationId xmlns:a16="http://schemas.microsoft.com/office/drawing/2014/main" id="{B22441DE-C232-488E-B7BB-BC8E07D30F05}"/>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676268937"/>
      </p:ext>
    </p:extLst>
  </p:cSld>
</p:sld>
</file>

<file path=ppt/slides/slide17.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9B161CEC-C2F4-47CC-A8A2-678B8D5A55E5}"/>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EXPERIMENTAL DESIGN  ·  DETAIL  ·  08 / 13</a:t>
            </a:r>
          </a:p>
        </p:txBody>
      </p:sp>
      <p:sp>
        <p:nvSpPr>
          <p:cNvPr id="2" name="kicker-rule">
            <a:extLst xmlns:a="http://schemas.openxmlformats.org/drawingml/2006/main">
              <a:ext uri="{FF2B5EF4-FFF2-40B4-BE49-F238E27FC236}">
                <a16:creationId xmlns:a16="http://schemas.microsoft.com/office/drawing/2014/main" id="{76DFBCD7-E2F2-4E9E-9A18-C0DFDB7AABC5}"/>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1CD04665-1CD1-42A1-AD1A-6509ED5B0857}"/>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The workload is tied to one immutable package artifact.</a:t>
            </a:r>
          </a:p>
        </p:txBody>
      </p:sp>
      <p:sp>
        <p:nvSpPr>
          <p:cNvPr id="4" name="depth-box-7">
            <a:extLst xmlns:a="http://schemas.openxmlformats.org/drawingml/2006/main">
              <a:ext uri="{FF2B5EF4-FFF2-40B4-BE49-F238E27FC236}">
                <a16:creationId xmlns:a16="http://schemas.microsoft.com/office/drawing/2014/main" id="{CAFE8032-98D6-45A1-A1AC-68A8AFA090BE}"/>
              </a:ext>
            </a:extLst>
          </p:cNvPr>
          <p:cNvSpPr>
            <a:spLocks xmlns:a="http://schemas.openxmlformats.org/drawingml/2006/main" noGrp="1"/>
          </p:cNvSpPr>
          <p:nvPr/>
        </p:nvSpPr>
        <p:spPr>
          <a:xfrm xmlns:a="http://schemas.openxmlformats.org/drawingml/2006/main">
            <a:off x="685800" y="1981200"/>
            <a:ext cx="108204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9525">
            <a:solidFill>
              <a:srgbClr val="C9D1D1"/>
            </a:solidFill>
            <a:prstDash val="solid"/>
          </a:ln>
        </p:spPr>
      </p:sp>
      <p:sp>
        <p:nvSpPr>
          <p:cNvPr id="5" name="depth-label-7">
            <a:extLst xmlns:a="http://schemas.openxmlformats.org/drawingml/2006/main">
              <a:ext uri="{FF2B5EF4-FFF2-40B4-BE49-F238E27FC236}">
                <a16:creationId xmlns:a16="http://schemas.microsoft.com/office/drawing/2014/main" id="{F5EE953A-091F-4E7F-88B3-0B683A1B5C47}"/>
              </a:ext>
            </a:extLst>
          </p:cNvPr>
          <p:cNvSpPr>
            <a:spLocks xmlns:a="http://schemas.openxmlformats.org/drawingml/2006/main" noGrp="1"/>
          </p:cNvSpPr>
          <p:nvPr/>
        </p:nvSpPr>
        <p:spPr>
          <a:xfrm xmlns:a="http://schemas.openxmlformats.org/drawingml/2006/main">
            <a:off x="990600" y="2286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EVIDENCE DETAIL</a:t>
            </a:r>
          </a:p>
        </p:txBody>
      </p:sp>
      <p:sp>
        <p:nvSpPr>
          <p:cNvPr id="6" name="depth-copy-7">
            <a:extLst xmlns:a="http://schemas.openxmlformats.org/drawingml/2006/main">
              <a:ext uri="{FF2B5EF4-FFF2-40B4-BE49-F238E27FC236}">
                <a16:creationId xmlns:a16="http://schemas.microsoft.com/office/drawing/2014/main" id="{77B37B43-3182-493C-89D4-A01D095E88CC}"/>
              </a:ext>
            </a:extLst>
          </p:cNvPr>
          <p:cNvSpPr>
            <a:spLocks xmlns:a="http://schemas.openxmlformats.org/drawingml/2006/main" noGrp="1"/>
          </p:cNvSpPr>
          <p:nvPr/>
        </p:nvSpPr>
        <p:spPr>
          <a:xfrm xmlns:a="http://schemas.openxmlformats.org/drawingml/2006/main">
            <a:off x="990600" y="2724150"/>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D2A34"/>
                </a:solidFill>
                <a:latin typeface="Aptos"/>
                <a:ea typeface="Aptos"/>
                <a:cs typeface="Aptos"/>
              </a:defRPr>
            </a:pPr>
            <a:r>
              <a:rPr sz="2100" b="1">
                <a:solidFill>
                  <a:srgbClr val="1D2A34"/>
                </a:solidFill>
                <a:latin typeface="Aptos"/>
                <a:ea typeface="Aptos"/>
                <a:cs typeface="Aptos"/>
              </a:rPr>
              <a:t>The LlamaIndex wheel and extracted source digest define the benchmark input.</a:t>
            </a:r>
          </a:p>
        </p:txBody>
      </p:sp>
      <p:sp>
        <p:nvSpPr>
          <p:cNvPr id="7" name="depth-rule-7">
            <a:extLst xmlns:a="http://schemas.openxmlformats.org/drawingml/2006/main">
              <a:ext uri="{FF2B5EF4-FFF2-40B4-BE49-F238E27FC236}">
                <a16:creationId xmlns:a16="http://schemas.microsoft.com/office/drawing/2014/main" id="{AE3218A0-B9DD-4E30-AEF4-0EE90A1974D7}"/>
              </a:ext>
            </a:extLst>
          </p:cNvPr>
          <p:cNvSpPr>
            <a:spLocks xmlns:a="http://schemas.openxmlformats.org/drawingml/2006/main" noGrp="1"/>
          </p:cNvSpPr>
          <p:nvPr/>
        </p:nvSpPr>
        <p:spPr>
          <a:xfrm xmlns:a="http://schemas.openxmlformats.org/drawingml/2006/main">
            <a:off x="990600" y="3886200"/>
            <a:ext cx="923925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8" name="depth-source-7">
            <a:extLst xmlns:a="http://schemas.openxmlformats.org/drawingml/2006/main">
              <a:ext uri="{FF2B5EF4-FFF2-40B4-BE49-F238E27FC236}">
                <a16:creationId xmlns:a16="http://schemas.microsoft.com/office/drawing/2014/main" id="{5525FC9A-C3B4-405D-B38D-BF81219F6341}"/>
              </a:ext>
            </a:extLst>
          </p:cNvPr>
          <p:cNvSpPr>
            <a:spLocks xmlns:a="http://schemas.openxmlformats.org/drawingml/2006/main" noGrp="1"/>
          </p:cNvSpPr>
          <p:nvPr/>
        </p:nvSpPr>
        <p:spPr>
          <a:xfrm xmlns:a="http://schemas.openxmlformats.org/drawingml/2006/main">
            <a:off x="990600" y="407670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Evidence boundary: eval/gold/llama_index_core_answer_quality_v1.json; results/answer_quality_benchmark_schema3.json</a:t>
            </a:r>
          </a:p>
        </p:txBody>
      </p:sp>
      <p:sp>
        <p:nvSpPr>
          <p:cNvPr id="9" name="depth-callout-7">
            <a:extLst xmlns:a="http://schemas.openxmlformats.org/drawingml/2006/main">
              <a:ext uri="{FF2B5EF4-FFF2-40B4-BE49-F238E27FC236}">
                <a16:creationId xmlns:a16="http://schemas.microsoft.com/office/drawing/2014/main" id="{2EDE50D3-ED75-4336-96C2-07B0F9B9170B}"/>
              </a:ext>
            </a:extLst>
          </p:cNvPr>
          <p:cNvSpPr>
            <a:spLocks xmlns:a="http://schemas.openxmlformats.org/drawingml/2006/main" noGrp="1"/>
          </p:cNvSpPr>
          <p:nvPr/>
        </p:nvSpPr>
        <p:spPr>
          <a:xfrm xmlns:a="http://schemas.openxmlformats.org/drawingml/2006/main">
            <a:off x="685800" y="4857750"/>
            <a:ext cx="108204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0" name="depth-callout-7-label">
            <a:extLst xmlns:a="http://schemas.openxmlformats.org/drawingml/2006/main">
              <a:ext uri="{FF2B5EF4-FFF2-40B4-BE49-F238E27FC236}">
                <a16:creationId xmlns:a16="http://schemas.microsoft.com/office/drawing/2014/main" id="{9E0BD00A-9621-4336-BF29-28C009D4DF83}"/>
              </a:ext>
            </a:extLst>
          </p:cNvPr>
          <p:cNvSpPr>
            <a:spLocks xmlns:a="http://schemas.openxmlformats.org/drawingml/2006/main" noGrp="1"/>
          </p:cNvSpPr>
          <p:nvPr/>
        </p:nvSpPr>
        <p:spPr>
          <a:xfrm xmlns:a="http://schemas.openxmlformats.org/drawingml/2006/main">
            <a:off x="952500" y="49911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1" name="depth-callout-7-copy">
            <a:extLst xmlns:a="http://schemas.openxmlformats.org/drawingml/2006/main">
              <a:ext uri="{FF2B5EF4-FFF2-40B4-BE49-F238E27FC236}">
                <a16:creationId xmlns:a16="http://schemas.microsoft.com/office/drawing/2014/main" id="{FF06559A-6917-4851-AADD-A9F332DF6C0F}"/>
              </a:ext>
            </a:extLst>
          </p:cNvPr>
          <p:cNvSpPr>
            <a:spLocks xmlns:a="http://schemas.openxmlformats.org/drawingml/2006/main" noGrp="1"/>
          </p:cNvSpPr>
          <p:nvPr/>
        </p:nvSpPr>
        <p:spPr>
          <a:xfrm xmlns:a="http://schemas.openxmlformats.org/drawingml/2006/main">
            <a:off x="952500" y="4962525"/>
            <a:ext cx="10267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A benchmark is only comparable when source identity and both index stores match.</a:t>
            </a:r>
          </a:p>
        </p:txBody>
      </p:sp>
      <p:sp>
        <p:nvSpPr>
          <p:cNvPr id="12" name="footer-label">
            <a:extLst xmlns:a="http://schemas.openxmlformats.org/drawingml/2006/main">
              <a:ext uri="{FF2B5EF4-FFF2-40B4-BE49-F238E27FC236}">
                <a16:creationId xmlns:a16="http://schemas.microsoft.com/office/drawing/2014/main" id="{256E4E44-AF41-45FE-85B9-88C1A1863504}"/>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09 / 15 · DETAIL 1 / 3</a:t>
            </a:r>
          </a:p>
        </p:txBody>
      </p:sp>
      <p:sp>
        <p:nvSpPr>
          <p:cNvPr id="13" name="footer-number">
            <a:extLst xmlns:a="http://schemas.openxmlformats.org/drawingml/2006/main">
              <a:ext uri="{FF2B5EF4-FFF2-40B4-BE49-F238E27FC236}">
                <a16:creationId xmlns:a16="http://schemas.microsoft.com/office/drawing/2014/main" id="{4EC97121-FD4F-45FF-B604-BCA3C92A1367}"/>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SUPPORTING DETAIL</a:t>
            </a:r>
          </a:p>
        </p:txBody>
      </p:sp>
    </p:spTree>
    <p:extLst>
      <p:ext uri="{BB962C8B-B14F-4D97-AF65-F5344CB8AC3E}">
        <p14:creationId xmlns:p14="http://schemas.microsoft.com/office/powerpoint/2010/main" val="1356101737"/>
      </p:ext>
    </p:extLst>
  </p:cSld>
</p:sld>
</file>

<file path=ppt/slides/slide18.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E1E0A073-74C1-4E09-8BBE-48E09620284D}"/>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RELIABILITY &amp; PROVENANCE  ·  DETAIL  ·  11 / 13</a:t>
            </a:r>
          </a:p>
        </p:txBody>
      </p:sp>
      <p:sp>
        <p:nvSpPr>
          <p:cNvPr id="2" name="kicker-rule">
            <a:extLst xmlns:a="http://schemas.openxmlformats.org/drawingml/2006/main">
              <a:ext uri="{FF2B5EF4-FFF2-40B4-BE49-F238E27FC236}">
                <a16:creationId xmlns:a16="http://schemas.microsoft.com/office/drawing/2014/main" id="{6031A689-53B8-4316-AFCA-BF0DB515372B}"/>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304FEFCF-F147-47F6-A49A-A0992507349B}"/>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Each critical failure mode has an observable contract.</a:t>
            </a:r>
          </a:p>
        </p:txBody>
      </p:sp>
      <p:sp>
        <p:nvSpPr>
          <p:cNvPr id="4" name="depth-box-10">
            <a:extLst xmlns:a="http://schemas.openxmlformats.org/drawingml/2006/main">
              <a:ext uri="{FF2B5EF4-FFF2-40B4-BE49-F238E27FC236}">
                <a16:creationId xmlns:a16="http://schemas.microsoft.com/office/drawing/2014/main" id="{47CECFC3-C45B-4EF1-B698-17747B8C188C}"/>
              </a:ext>
            </a:extLst>
          </p:cNvPr>
          <p:cNvSpPr>
            <a:spLocks xmlns:a="http://schemas.openxmlformats.org/drawingml/2006/main" noGrp="1"/>
          </p:cNvSpPr>
          <p:nvPr/>
        </p:nvSpPr>
        <p:spPr>
          <a:xfrm xmlns:a="http://schemas.openxmlformats.org/drawingml/2006/main">
            <a:off x="685800" y="1981200"/>
            <a:ext cx="108204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9525">
            <a:solidFill>
              <a:srgbClr val="C9D1D1"/>
            </a:solidFill>
            <a:prstDash val="solid"/>
          </a:ln>
        </p:spPr>
      </p:sp>
      <p:sp>
        <p:nvSpPr>
          <p:cNvPr id="5" name="depth-label-10">
            <a:extLst xmlns:a="http://schemas.openxmlformats.org/drawingml/2006/main">
              <a:ext uri="{FF2B5EF4-FFF2-40B4-BE49-F238E27FC236}">
                <a16:creationId xmlns:a16="http://schemas.microsoft.com/office/drawing/2014/main" id="{517BA702-B5FA-49CF-A120-591B4B1A695C}"/>
              </a:ext>
            </a:extLst>
          </p:cNvPr>
          <p:cNvSpPr>
            <a:spLocks xmlns:a="http://schemas.openxmlformats.org/drawingml/2006/main" noGrp="1"/>
          </p:cNvSpPr>
          <p:nvPr/>
        </p:nvSpPr>
        <p:spPr>
          <a:xfrm xmlns:a="http://schemas.openxmlformats.org/drawingml/2006/main">
            <a:off x="990600" y="2286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EVIDENCE DETAIL</a:t>
            </a:r>
          </a:p>
        </p:txBody>
      </p:sp>
      <p:sp>
        <p:nvSpPr>
          <p:cNvPr id="6" name="depth-copy-10">
            <a:extLst xmlns:a="http://schemas.openxmlformats.org/drawingml/2006/main">
              <a:ext uri="{FF2B5EF4-FFF2-40B4-BE49-F238E27FC236}">
                <a16:creationId xmlns:a16="http://schemas.microsoft.com/office/drawing/2014/main" id="{2F4FC7DA-4BF5-475B-8695-C19016EB1701}"/>
              </a:ext>
            </a:extLst>
          </p:cNvPr>
          <p:cNvSpPr>
            <a:spLocks xmlns:a="http://schemas.openxmlformats.org/drawingml/2006/main" noGrp="1"/>
          </p:cNvSpPr>
          <p:nvPr/>
        </p:nvSpPr>
        <p:spPr>
          <a:xfrm xmlns:a="http://schemas.openxmlformats.org/drawingml/2006/main">
            <a:off x="990600" y="2724150"/>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D2A34"/>
                </a:solidFill>
                <a:latin typeface="Aptos"/>
                <a:ea typeface="Aptos"/>
                <a:cs typeface="Aptos"/>
              </a:defRPr>
            </a:pPr>
            <a:r>
              <a:rPr sz="2100" b="1">
                <a:solidFill>
                  <a:srgbClr val="1D2A34"/>
                </a:solidFill>
                <a:latin typeface="Aptos"/>
                <a:ea typeface="Aptos"/>
                <a:cs typeface="Aptos"/>
              </a:rPr>
              <a:t>Filtering, provenance aborts, replacement-before-cleanup, cache generations and Java rejection are testable behaviors.</a:t>
            </a:r>
          </a:p>
        </p:txBody>
      </p:sp>
      <p:sp>
        <p:nvSpPr>
          <p:cNvPr id="7" name="depth-rule-10">
            <a:extLst xmlns:a="http://schemas.openxmlformats.org/drawingml/2006/main">
              <a:ext uri="{FF2B5EF4-FFF2-40B4-BE49-F238E27FC236}">
                <a16:creationId xmlns:a16="http://schemas.microsoft.com/office/drawing/2014/main" id="{D5374728-74FD-4B83-850C-D43C4DCDD3C9}"/>
              </a:ext>
            </a:extLst>
          </p:cNvPr>
          <p:cNvSpPr>
            <a:spLocks xmlns:a="http://schemas.openxmlformats.org/drawingml/2006/main" noGrp="1"/>
          </p:cNvSpPr>
          <p:nvPr/>
        </p:nvSpPr>
        <p:spPr>
          <a:xfrm xmlns:a="http://schemas.openxmlformats.org/drawingml/2006/main">
            <a:off x="990600" y="3886200"/>
            <a:ext cx="923925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8" name="depth-source-10">
            <a:extLst xmlns:a="http://schemas.openxmlformats.org/drawingml/2006/main">
              <a:ext uri="{FF2B5EF4-FFF2-40B4-BE49-F238E27FC236}">
                <a16:creationId xmlns:a16="http://schemas.microsoft.com/office/drawing/2014/main" id="{B55CA44B-1227-4D15-A726-2C5E916404E7}"/>
              </a:ext>
            </a:extLst>
          </p:cNvPr>
          <p:cNvSpPr>
            <a:spLocks xmlns:a="http://schemas.openxmlformats.org/drawingml/2006/main" noGrp="1"/>
          </p:cNvSpPr>
          <p:nvPr/>
        </p:nvSpPr>
        <p:spPr>
          <a:xfrm xmlns:a="http://schemas.openxmlformats.org/drawingml/2006/main">
            <a:off x="990600" y="407670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Evidence boundary: tests; src/hybrid_rag</a:t>
            </a:r>
          </a:p>
        </p:txBody>
      </p:sp>
      <p:sp>
        <p:nvSpPr>
          <p:cNvPr id="9" name="depth-callout-10">
            <a:extLst xmlns:a="http://schemas.openxmlformats.org/drawingml/2006/main">
              <a:ext uri="{FF2B5EF4-FFF2-40B4-BE49-F238E27FC236}">
                <a16:creationId xmlns:a16="http://schemas.microsoft.com/office/drawing/2014/main" id="{42D92F96-498C-4A9B-998E-2F18ABE7AC5F}"/>
              </a:ext>
            </a:extLst>
          </p:cNvPr>
          <p:cNvSpPr>
            <a:spLocks xmlns:a="http://schemas.openxmlformats.org/drawingml/2006/main" noGrp="1"/>
          </p:cNvSpPr>
          <p:nvPr/>
        </p:nvSpPr>
        <p:spPr>
          <a:xfrm xmlns:a="http://schemas.openxmlformats.org/drawingml/2006/main">
            <a:off x="685800" y="4857750"/>
            <a:ext cx="108204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0" name="depth-callout-10-label">
            <a:extLst xmlns:a="http://schemas.openxmlformats.org/drawingml/2006/main">
              <a:ext uri="{FF2B5EF4-FFF2-40B4-BE49-F238E27FC236}">
                <a16:creationId xmlns:a16="http://schemas.microsoft.com/office/drawing/2014/main" id="{05D9E83A-1781-48C9-B16D-368275F56D91}"/>
              </a:ext>
            </a:extLst>
          </p:cNvPr>
          <p:cNvSpPr>
            <a:spLocks xmlns:a="http://schemas.openxmlformats.org/drawingml/2006/main" noGrp="1"/>
          </p:cNvSpPr>
          <p:nvPr/>
        </p:nvSpPr>
        <p:spPr>
          <a:xfrm xmlns:a="http://schemas.openxmlformats.org/drawingml/2006/main">
            <a:off x="952500" y="49911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1" name="depth-callout-10-copy">
            <a:extLst xmlns:a="http://schemas.openxmlformats.org/drawingml/2006/main">
              <a:ext uri="{FF2B5EF4-FFF2-40B4-BE49-F238E27FC236}">
                <a16:creationId xmlns:a16="http://schemas.microsoft.com/office/drawing/2014/main" id="{9BBAFC20-D0BB-4B60-AA2C-09A609AB8862}"/>
              </a:ext>
            </a:extLst>
          </p:cNvPr>
          <p:cNvSpPr>
            <a:spLocks xmlns:a="http://schemas.openxmlformats.org/drawingml/2006/main" noGrp="1"/>
          </p:cNvSpPr>
          <p:nvPr/>
        </p:nvSpPr>
        <p:spPr>
          <a:xfrm xmlns:a="http://schemas.openxmlformats.org/drawingml/2006/main">
            <a:off x="952500" y="4962525"/>
            <a:ext cx="10267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Each critical failure mode has an observable contract at its boundary.</a:t>
            </a:r>
          </a:p>
        </p:txBody>
      </p:sp>
      <p:sp>
        <p:nvSpPr>
          <p:cNvPr id="12" name="footer-label">
            <a:extLst xmlns:a="http://schemas.openxmlformats.org/drawingml/2006/main">
              <a:ext uri="{FF2B5EF4-FFF2-40B4-BE49-F238E27FC236}">
                <a16:creationId xmlns:a16="http://schemas.microsoft.com/office/drawing/2014/main" id="{6A28BA45-918D-4C36-A801-DB6E5B458155}"/>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08 / 15 · DETAIL 2 / 2</a:t>
            </a:r>
          </a:p>
        </p:txBody>
      </p:sp>
      <p:sp>
        <p:nvSpPr>
          <p:cNvPr id="13" name="footer-number">
            <a:extLst xmlns:a="http://schemas.openxmlformats.org/drawingml/2006/main">
              <a:ext uri="{FF2B5EF4-FFF2-40B4-BE49-F238E27FC236}">
                <a16:creationId xmlns:a16="http://schemas.microsoft.com/office/drawing/2014/main" id="{4854E3D8-0CB4-4757-99CC-6792843705D2}"/>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SUPPORTING DETAIL</a:t>
            </a:r>
          </a:p>
        </p:txBody>
      </p:sp>
    </p:spTree>
    <p:extLst>
      <p:ext uri="{BB962C8B-B14F-4D97-AF65-F5344CB8AC3E}">
        <p14:creationId xmlns:p14="http://schemas.microsoft.com/office/powerpoint/2010/main" val="1765431637"/>
      </p:ext>
    </p:extLst>
  </p:cSld>
</p:sld>
</file>

<file path=ppt/slides/slide1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28" name="kicker">
            <a:extLst xmlns:a="http://schemas.openxmlformats.org/drawingml/2006/main">
              <a:ext uri="{FF2B5EF4-FFF2-40B4-BE49-F238E27FC236}">
                <a16:creationId xmlns:a16="http://schemas.microsoft.com/office/drawing/2014/main" id="{E01B8B95-16DD-4E3A-9EA4-542669121A76}"/>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ANSWER QUALITY RESULTS  ·  10 / 15</a:t>
            </a:r>
          </a:p>
        </p:txBody>
      </p:sp>
      <p:sp>
        <p:nvSpPr>
          <p:cNvPr id="2" name="kicker-rule">
            <a:extLst xmlns:a="http://schemas.openxmlformats.org/drawingml/2006/main">
              <a:ext uri="{FF2B5EF4-FFF2-40B4-BE49-F238E27FC236}">
                <a16:creationId xmlns:a16="http://schemas.microsoft.com/office/drawing/2014/main" id="{4620973C-A782-4D1C-9B00-88F2F6CC256E}"/>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1CD0FEFF-7EAC-45ED-9A5E-5AFDDDCA1411}"/>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Hybrid point estimates rise, but intervals set the claim.</a:t>
            </a:r>
          </a:p>
        </p:txBody>
      </p:sp>
      <p:sp>
        <p:nvSpPr>
          <p:cNvPr id="4" name="quality-head-1">
            <a:extLst xmlns:a="http://schemas.openxmlformats.org/drawingml/2006/main">
              <a:ext uri="{FF2B5EF4-FFF2-40B4-BE49-F238E27FC236}">
                <a16:creationId xmlns:a16="http://schemas.microsoft.com/office/drawing/2014/main" id="{EBBD6B84-B395-46E8-BB4B-5BA16336DD32}"/>
              </a:ext>
            </a:extLst>
          </p:cNvPr>
          <p:cNvSpPr>
            <a:spLocks xmlns:a="http://schemas.openxmlformats.org/drawingml/2006/main" noGrp="1"/>
          </p:cNvSpPr>
          <p:nvPr/>
        </p:nvSpPr>
        <p:spPr>
          <a:xfrm xmlns:a="http://schemas.openxmlformats.org/drawingml/2006/main">
            <a:off x="781050" y="18669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Metric</a:t>
            </a:r>
          </a:p>
        </p:txBody>
      </p:sp>
      <p:sp>
        <p:nvSpPr>
          <p:cNvPr id="5" name="quality-head-2">
            <a:extLst xmlns:a="http://schemas.openxmlformats.org/drawingml/2006/main">
              <a:ext uri="{FF2B5EF4-FFF2-40B4-BE49-F238E27FC236}">
                <a16:creationId xmlns:a16="http://schemas.microsoft.com/office/drawing/2014/main" id="{71F60EA4-783B-46B2-B203-F3F21FC9D077}"/>
              </a:ext>
            </a:extLst>
          </p:cNvPr>
          <p:cNvSpPr>
            <a:spLocks xmlns:a="http://schemas.openxmlformats.org/drawingml/2006/main" noGrp="1"/>
          </p:cNvSpPr>
          <p:nvPr/>
        </p:nvSpPr>
        <p:spPr>
          <a:xfrm xmlns:a="http://schemas.openxmlformats.org/drawingml/2006/main">
            <a:off x="4095750" y="1866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2D6F78"/>
                </a:solidFill>
                <a:latin typeface="Aptos"/>
                <a:ea typeface="Aptos"/>
                <a:cs typeface="Aptos"/>
              </a:defRPr>
            </a:pPr>
            <a:r>
              <a:rPr sz="1050" b="1">
                <a:solidFill>
                  <a:srgbClr val="2D6F78"/>
                </a:solidFill>
                <a:latin typeface="Aptos"/>
                <a:ea typeface="Aptos"/>
                <a:cs typeface="Aptos"/>
              </a:rPr>
              <a:t>VECTOR MEAN</a:t>
            </a:r>
          </a:p>
        </p:txBody>
      </p:sp>
      <p:sp>
        <p:nvSpPr>
          <p:cNvPr id="6" name="quality-head-3">
            <a:extLst xmlns:a="http://schemas.openxmlformats.org/drawingml/2006/main">
              <a:ext uri="{FF2B5EF4-FFF2-40B4-BE49-F238E27FC236}">
                <a16:creationId xmlns:a16="http://schemas.microsoft.com/office/drawing/2014/main" id="{79CBF916-63B5-466B-8784-EE27A0F0E7B7}"/>
              </a:ext>
            </a:extLst>
          </p:cNvPr>
          <p:cNvSpPr>
            <a:spLocks xmlns:a="http://schemas.openxmlformats.org/drawingml/2006/main" noGrp="1"/>
          </p:cNvSpPr>
          <p:nvPr/>
        </p:nvSpPr>
        <p:spPr>
          <a:xfrm xmlns:a="http://schemas.openxmlformats.org/drawingml/2006/main">
            <a:off x="6191250" y="1866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2D6F78"/>
                </a:solidFill>
                <a:latin typeface="Aptos"/>
                <a:ea typeface="Aptos"/>
                <a:cs typeface="Aptos"/>
              </a:defRPr>
            </a:pPr>
            <a:r>
              <a:rPr sz="1050" b="1">
                <a:solidFill>
                  <a:srgbClr val="2D6F78"/>
                </a:solidFill>
                <a:latin typeface="Aptos"/>
                <a:ea typeface="Aptos"/>
                <a:cs typeface="Aptos"/>
              </a:rPr>
              <a:t>HYBRID MEAN</a:t>
            </a:r>
          </a:p>
        </p:txBody>
      </p:sp>
      <p:sp>
        <p:nvSpPr>
          <p:cNvPr id="7" name="quality-head-4">
            <a:extLst xmlns:a="http://schemas.openxmlformats.org/drawingml/2006/main">
              <a:ext uri="{FF2B5EF4-FFF2-40B4-BE49-F238E27FC236}">
                <a16:creationId xmlns:a16="http://schemas.microsoft.com/office/drawing/2014/main" id="{4379E280-4670-4706-94BE-148015A9BB94}"/>
              </a:ext>
            </a:extLst>
          </p:cNvPr>
          <p:cNvSpPr>
            <a:spLocks xmlns:a="http://schemas.openxmlformats.org/drawingml/2006/main" noGrp="1"/>
          </p:cNvSpPr>
          <p:nvPr/>
        </p:nvSpPr>
        <p:spPr>
          <a:xfrm xmlns:a="http://schemas.openxmlformats.org/drawingml/2006/main">
            <a:off x="8477250" y="18669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2D6F78"/>
                </a:solidFill>
                <a:latin typeface="Aptos"/>
                <a:ea typeface="Aptos"/>
                <a:cs typeface="Aptos"/>
              </a:defRPr>
            </a:pPr>
            <a:r>
              <a:rPr sz="1050" b="1">
                <a:solidFill>
                  <a:srgbClr val="2D6F78"/>
                </a:solidFill>
                <a:latin typeface="Aptos"/>
                <a:ea typeface="Aptos"/>
                <a:cs typeface="Aptos"/>
              </a:rPr>
              <a:t>HYBRID − VECTOR · 95% CI</a:t>
            </a:r>
          </a:p>
        </p:txBody>
      </p:sp>
      <p:sp>
        <p:nvSpPr>
          <p:cNvPr id="8" name="metric-rule-244">
            <a:extLst xmlns:a="http://schemas.openxmlformats.org/drawingml/2006/main">
              <a:ext uri="{FF2B5EF4-FFF2-40B4-BE49-F238E27FC236}">
                <a16:creationId xmlns:a16="http://schemas.microsoft.com/office/drawing/2014/main" id="{0504CA86-7038-4F8A-9408-7DFEDDF2E7F8}"/>
              </a:ext>
            </a:extLst>
          </p:cNvPr>
          <p:cNvSpPr>
            <a:spLocks xmlns:a="http://schemas.openxmlformats.org/drawingml/2006/main" noGrp="1"/>
          </p:cNvSpPr>
          <p:nvPr/>
        </p:nvSpPr>
        <p:spPr>
          <a:xfrm xmlns:a="http://schemas.openxmlformats.org/drawingml/2006/main">
            <a:off x="685800" y="2247900"/>
            <a:ext cx="1082040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9" name="metric-label-244">
            <a:extLst xmlns:a="http://schemas.openxmlformats.org/drawingml/2006/main">
              <a:ext uri="{FF2B5EF4-FFF2-40B4-BE49-F238E27FC236}">
                <a16:creationId xmlns:a16="http://schemas.microsoft.com/office/drawing/2014/main" id="{314A748D-3EE1-4E3F-AC62-70DF531B74CB}"/>
              </a:ext>
            </a:extLst>
          </p:cNvPr>
          <p:cNvSpPr>
            <a:spLocks xmlns:a="http://schemas.openxmlformats.org/drawingml/2006/main" noGrp="1"/>
          </p:cNvSpPr>
          <p:nvPr/>
        </p:nvSpPr>
        <p:spPr>
          <a:xfrm xmlns:a="http://schemas.openxmlformats.org/drawingml/2006/main">
            <a:off x="781050" y="23241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Faithfulness</a:t>
            </a:r>
          </a:p>
        </p:txBody>
      </p:sp>
      <p:sp>
        <p:nvSpPr>
          <p:cNvPr id="10" name="metric-vector-244">
            <a:extLst xmlns:a="http://schemas.openxmlformats.org/drawingml/2006/main">
              <a:ext uri="{FF2B5EF4-FFF2-40B4-BE49-F238E27FC236}">
                <a16:creationId xmlns:a16="http://schemas.microsoft.com/office/drawing/2014/main" id="{7A4331D9-08C1-4DA8-AB3A-928B460B3650}"/>
              </a:ext>
            </a:extLst>
          </p:cNvPr>
          <p:cNvSpPr>
            <a:spLocks xmlns:a="http://schemas.openxmlformats.org/drawingml/2006/main" noGrp="1"/>
          </p:cNvSpPr>
          <p:nvPr/>
        </p:nvSpPr>
        <p:spPr>
          <a:xfrm xmlns:a="http://schemas.openxmlformats.org/drawingml/2006/main">
            <a:off x="4095750" y="23241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a:solidFill>
                  <a:srgbClr val="586671"/>
                </a:solidFill>
                <a:latin typeface="Aptos"/>
                <a:ea typeface="Aptos"/>
                <a:cs typeface="Aptos"/>
              </a:defRPr>
            </a:pPr>
            <a:r>
              <a:rPr sz="1350">
                <a:solidFill>
                  <a:srgbClr val="586671"/>
                </a:solidFill>
                <a:latin typeface="Aptos"/>
                <a:ea typeface="Aptos"/>
                <a:cs typeface="Aptos"/>
              </a:rPr>
              <a:t>0.896</a:t>
            </a:r>
          </a:p>
        </p:txBody>
      </p:sp>
      <p:sp>
        <p:nvSpPr>
          <p:cNvPr id="11" name="metric-hybrid-244">
            <a:extLst xmlns:a="http://schemas.openxmlformats.org/drawingml/2006/main">
              <a:ext uri="{FF2B5EF4-FFF2-40B4-BE49-F238E27FC236}">
                <a16:creationId xmlns:a16="http://schemas.microsoft.com/office/drawing/2014/main" id="{B2C0D4F5-63CE-447E-A2A3-D19DA5B9599D}"/>
              </a:ext>
            </a:extLst>
          </p:cNvPr>
          <p:cNvSpPr>
            <a:spLocks xmlns:a="http://schemas.openxmlformats.org/drawingml/2006/main" noGrp="1"/>
          </p:cNvSpPr>
          <p:nvPr/>
        </p:nvSpPr>
        <p:spPr>
          <a:xfrm xmlns:a="http://schemas.openxmlformats.org/drawingml/2006/main">
            <a:off x="6191250" y="23241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1D2A34"/>
                </a:solidFill>
                <a:latin typeface="Aptos"/>
                <a:ea typeface="Aptos"/>
                <a:cs typeface="Aptos"/>
              </a:defRPr>
            </a:pPr>
            <a:r>
              <a:rPr sz="1350" b="1">
                <a:solidFill>
                  <a:srgbClr val="1D2A34"/>
                </a:solidFill>
                <a:latin typeface="Aptos"/>
                <a:ea typeface="Aptos"/>
                <a:cs typeface="Aptos"/>
              </a:rPr>
              <a:t>0.924</a:t>
            </a:r>
          </a:p>
        </p:txBody>
      </p:sp>
      <p:sp>
        <p:nvSpPr>
          <p:cNvPr id="12" name="metric-delta-244">
            <a:extLst xmlns:a="http://schemas.openxmlformats.org/drawingml/2006/main">
              <a:ext uri="{FF2B5EF4-FFF2-40B4-BE49-F238E27FC236}">
                <a16:creationId xmlns:a16="http://schemas.microsoft.com/office/drawing/2014/main" id="{1640F45B-7266-49C2-9647-3B82B8F2894F}"/>
              </a:ext>
            </a:extLst>
          </p:cNvPr>
          <p:cNvSpPr>
            <a:spLocks xmlns:a="http://schemas.openxmlformats.org/drawingml/2006/main" noGrp="1"/>
          </p:cNvSpPr>
          <p:nvPr/>
        </p:nvSpPr>
        <p:spPr>
          <a:xfrm xmlns:a="http://schemas.openxmlformats.org/drawingml/2006/main">
            <a:off x="8477250" y="23241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586671"/>
                </a:solidFill>
                <a:latin typeface="Aptos"/>
                <a:ea typeface="Aptos"/>
                <a:cs typeface="Aptos"/>
              </a:defRPr>
            </a:pPr>
            <a:r>
              <a:rPr sz="1350" b="1">
                <a:solidFill>
                  <a:srgbClr val="586671"/>
                </a:solidFill>
                <a:latin typeface="Aptos"/>
                <a:ea typeface="Aptos"/>
                <a:cs typeface="Aptos"/>
              </a:rPr>
              <a:t>+0.029  ·  [-0.069, 0.115]</a:t>
            </a:r>
          </a:p>
        </p:txBody>
      </p:sp>
      <p:sp>
        <p:nvSpPr>
          <p:cNvPr id="13" name="metric-rule-314">
            <a:extLst xmlns:a="http://schemas.openxmlformats.org/drawingml/2006/main">
              <a:ext uri="{FF2B5EF4-FFF2-40B4-BE49-F238E27FC236}">
                <a16:creationId xmlns:a16="http://schemas.microsoft.com/office/drawing/2014/main" id="{54FE0AA6-0F73-4152-900A-7C7B9EEE1E15}"/>
              </a:ext>
            </a:extLst>
          </p:cNvPr>
          <p:cNvSpPr>
            <a:spLocks xmlns:a="http://schemas.openxmlformats.org/drawingml/2006/main" noGrp="1"/>
          </p:cNvSpPr>
          <p:nvPr/>
        </p:nvSpPr>
        <p:spPr>
          <a:xfrm xmlns:a="http://schemas.openxmlformats.org/drawingml/2006/main">
            <a:off x="685800" y="2914650"/>
            <a:ext cx="1082040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14" name="metric-label-314">
            <a:extLst xmlns:a="http://schemas.openxmlformats.org/drawingml/2006/main">
              <a:ext uri="{FF2B5EF4-FFF2-40B4-BE49-F238E27FC236}">
                <a16:creationId xmlns:a16="http://schemas.microsoft.com/office/drawing/2014/main" id="{246B9231-BFB6-4300-B67C-8BAEF9C16BD7}"/>
              </a:ext>
            </a:extLst>
          </p:cNvPr>
          <p:cNvSpPr>
            <a:spLocks xmlns:a="http://schemas.openxmlformats.org/drawingml/2006/main" noGrp="1"/>
          </p:cNvSpPr>
          <p:nvPr/>
        </p:nvSpPr>
        <p:spPr>
          <a:xfrm xmlns:a="http://schemas.openxmlformats.org/drawingml/2006/main">
            <a:off x="781050" y="2990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Answer Relevancy</a:t>
            </a:r>
          </a:p>
        </p:txBody>
      </p:sp>
      <p:sp>
        <p:nvSpPr>
          <p:cNvPr id="15" name="metric-vector-314">
            <a:extLst xmlns:a="http://schemas.openxmlformats.org/drawingml/2006/main">
              <a:ext uri="{FF2B5EF4-FFF2-40B4-BE49-F238E27FC236}">
                <a16:creationId xmlns:a16="http://schemas.microsoft.com/office/drawing/2014/main" id="{79A705EA-3CB1-4757-921C-CF8AB8CAA1A1}"/>
              </a:ext>
            </a:extLst>
          </p:cNvPr>
          <p:cNvSpPr>
            <a:spLocks xmlns:a="http://schemas.openxmlformats.org/drawingml/2006/main" noGrp="1"/>
          </p:cNvSpPr>
          <p:nvPr/>
        </p:nvSpPr>
        <p:spPr>
          <a:xfrm xmlns:a="http://schemas.openxmlformats.org/drawingml/2006/main">
            <a:off x="4095750" y="29908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a:solidFill>
                  <a:srgbClr val="586671"/>
                </a:solidFill>
                <a:latin typeface="Aptos"/>
                <a:ea typeface="Aptos"/>
                <a:cs typeface="Aptos"/>
              </a:defRPr>
            </a:pPr>
            <a:r>
              <a:rPr sz="1350">
                <a:solidFill>
                  <a:srgbClr val="586671"/>
                </a:solidFill>
                <a:latin typeface="Aptos"/>
                <a:ea typeface="Aptos"/>
                <a:cs typeface="Aptos"/>
              </a:rPr>
              <a:t>0.729</a:t>
            </a:r>
          </a:p>
        </p:txBody>
      </p:sp>
      <p:sp>
        <p:nvSpPr>
          <p:cNvPr id="16" name="metric-hybrid-314">
            <a:extLst xmlns:a="http://schemas.openxmlformats.org/drawingml/2006/main">
              <a:ext uri="{FF2B5EF4-FFF2-40B4-BE49-F238E27FC236}">
                <a16:creationId xmlns:a16="http://schemas.microsoft.com/office/drawing/2014/main" id="{CBE8AD03-2536-448C-9037-B25D6796C635}"/>
              </a:ext>
            </a:extLst>
          </p:cNvPr>
          <p:cNvSpPr>
            <a:spLocks xmlns:a="http://schemas.openxmlformats.org/drawingml/2006/main" noGrp="1"/>
          </p:cNvSpPr>
          <p:nvPr/>
        </p:nvSpPr>
        <p:spPr>
          <a:xfrm xmlns:a="http://schemas.openxmlformats.org/drawingml/2006/main">
            <a:off x="6191250" y="29908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1D2A34"/>
                </a:solidFill>
                <a:latin typeface="Aptos"/>
                <a:ea typeface="Aptos"/>
                <a:cs typeface="Aptos"/>
              </a:defRPr>
            </a:pPr>
            <a:r>
              <a:rPr sz="1350" b="1">
                <a:solidFill>
                  <a:srgbClr val="1D2A34"/>
                </a:solidFill>
                <a:latin typeface="Aptos"/>
                <a:ea typeface="Aptos"/>
                <a:cs typeface="Aptos"/>
              </a:rPr>
              <a:t>0.808</a:t>
            </a:r>
          </a:p>
        </p:txBody>
      </p:sp>
      <p:sp>
        <p:nvSpPr>
          <p:cNvPr id="17" name="metric-delta-314">
            <a:extLst xmlns:a="http://schemas.openxmlformats.org/drawingml/2006/main">
              <a:ext uri="{FF2B5EF4-FFF2-40B4-BE49-F238E27FC236}">
                <a16:creationId xmlns:a16="http://schemas.microsoft.com/office/drawing/2014/main" id="{79CEC871-40F9-47A6-B138-1785A82C01B0}"/>
              </a:ext>
            </a:extLst>
          </p:cNvPr>
          <p:cNvSpPr>
            <a:spLocks xmlns:a="http://schemas.openxmlformats.org/drawingml/2006/main" noGrp="1"/>
          </p:cNvSpPr>
          <p:nvPr/>
        </p:nvSpPr>
        <p:spPr>
          <a:xfrm xmlns:a="http://schemas.openxmlformats.org/drawingml/2006/main">
            <a:off x="8477250" y="2990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B65C3C"/>
                </a:solidFill>
                <a:latin typeface="Aptos"/>
                <a:ea typeface="Aptos"/>
                <a:cs typeface="Aptos"/>
              </a:defRPr>
            </a:pPr>
            <a:r>
              <a:rPr sz="1350" b="1">
                <a:solidFill>
                  <a:srgbClr val="B65C3C"/>
                </a:solidFill>
                <a:latin typeface="Aptos"/>
                <a:ea typeface="Aptos"/>
                <a:cs typeface="Aptos"/>
              </a:rPr>
              <a:t>+0.079  ·  [-0.0001, 0.175]</a:t>
            </a:r>
          </a:p>
        </p:txBody>
      </p:sp>
      <p:sp>
        <p:nvSpPr>
          <p:cNvPr id="18" name="metric-rule-384">
            <a:extLst xmlns:a="http://schemas.openxmlformats.org/drawingml/2006/main">
              <a:ext uri="{FF2B5EF4-FFF2-40B4-BE49-F238E27FC236}">
                <a16:creationId xmlns:a16="http://schemas.microsoft.com/office/drawing/2014/main" id="{1DE4EBEE-D3CE-4BD1-9551-6345EEB5FA8E}"/>
              </a:ext>
            </a:extLst>
          </p:cNvPr>
          <p:cNvSpPr>
            <a:spLocks xmlns:a="http://schemas.openxmlformats.org/drawingml/2006/main" noGrp="1"/>
          </p:cNvSpPr>
          <p:nvPr/>
        </p:nvSpPr>
        <p:spPr>
          <a:xfrm xmlns:a="http://schemas.openxmlformats.org/drawingml/2006/main">
            <a:off x="685800" y="3581400"/>
            <a:ext cx="1082040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19" name="metric-label-384">
            <a:extLst xmlns:a="http://schemas.openxmlformats.org/drawingml/2006/main">
              <a:ext uri="{FF2B5EF4-FFF2-40B4-BE49-F238E27FC236}">
                <a16:creationId xmlns:a16="http://schemas.microsoft.com/office/drawing/2014/main" id="{3FA3E911-BE11-4651-ABF4-0F9006C82055}"/>
              </a:ext>
            </a:extLst>
          </p:cNvPr>
          <p:cNvSpPr>
            <a:spLocks xmlns:a="http://schemas.openxmlformats.org/drawingml/2006/main" noGrp="1"/>
          </p:cNvSpPr>
          <p:nvPr/>
        </p:nvSpPr>
        <p:spPr>
          <a:xfrm xmlns:a="http://schemas.openxmlformats.org/drawingml/2006/main">
            <a:off x="781050" y="36576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Answer Correctness</a:t>
            </a:r>
          </a:p>
        </p:txBody>
      </p:sp>
      <p:sp>
        <p:nvSpPr>
          <p:cNvPr id="20" name="metric-vector-384">
            <a:extLst xmlns:a="http://schemas.openxmlformats.org/drawingml/2006/main">
              <a:ext uri="{FF2B5EF4-FFF2-40B4-BE49-F238E27FC236}">
                <a16:creationId xmlns:a16="http://schemas.microsoft.com/office/drawing/2014/main" id="{513DC7CE-FA7B-4FD2-8F88-A92DED9556E1}"/>
              </a:ext>
            </a:extLst>
          </p:cNvPr>
          <p:cNvSpPr>
            <a:spLocks xmlns:a="http://schemas.openxmlformats.org/drawingml/2006/main" noGrp="1"/>
          </p:cNvSpPr>
          <p:nvPr/>
        </p:nvSpPr>
        <p:spPr>
          <a:xfrm xmlns:a="http://schemas.openxmlformats.org/drawingml/2006/main">
            <a:off x="4095750" y="36576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a:solidFill>
                  <a:srgbClr val="586671"/>
                </a:solidFill>
                <a:latin typeface="Aptos"/>
                <a:ea typeface="Aptos"/>
                <a:cs typeface="Aptos"/>
              </a:defRPr>
            </a:pPr>
            <a:r>
              <a:rPr sz="1350">
                <a:solidFill>
                  <a:srgbClr val="586671"/>
                </a:solidFill>
                <a:latin typeface="Aptos"/>
                <a:ea typeface="Aptos"/>
                <a:cs typeface="Aptos"/>
              </a:rPr>
              <a:t>0.652</a:t>
            </a:r>
          </a:p>
        </p:txBody>
      </p:sp>
      <p:sp>
        <p:nvSpPr>
          <p:cNvPr id="21" name="metric-hybrid-384">
            <a:extLst xmlns:a="http://schemas.openxmlformats.org/drawingml/2006/main">
              <a:ext uri="{FF2B5EF4-FFF2-40B4-BE49-F238E27FC236}">
                <a16:creationId xmlns:a16="http://schemas.microsoft.com/office/drawing/2014/main" id="{10FA04DF-188D-4CAE-9BFD-F6F7C055CFEE}"/>
              </a:ext>
            </a:extLst>
          </p:cNvPr>
          <p:cNvSpPr>
            <a:spLocks xmlns:a="http://schemas.openxmlformats.org/drawingml/2006/main" noGrp="1"/>
          </p:cNvSpPr>
          <p:nvPr/>
        </p:nvSpPr>
        <p:spPr>
          <a:xfrm xmlns:a="http://schemas.openxmlformats.org/drawingml/2006/main">
            <a:off x="6191250" y="36576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1D2A34"/>
                </a:solidFill>
                <a:latin typeface="Aptos"/>
                <a:ea typeface="Aptos"/>
                <a:cs typeface="Aptos"/>
              </a:defRPr>
            </a:pPr>
            <a:r>
              <a:rPr sz="1350" b="1">
                <a:solidFill>
                  <a:srgbClr val="1D2A34"/>
                </a:solidFill>
                <a:latin typeface="Aptos"/>
                <a:ea typeface="Aptos"/>
                <a:cs typeface="Aptos"/>
              </a:rPr>
              <a:t>0.698</a:t>
            </a:r>
          </a:p>
        </p:txBody>
      </p:sp>
      <p:sp>
        <p:nvSpPr>
          <p:cNvPr id="22" name="metric-delta-384">
            <a:extLst xmlns:a="http://schemas.openxmlformats.org/drawingml/2006/main">
              <a:ext uri="{FF2B5EF4-FFF2-40B4-BE49-F238E27FC236}">
                <a16:creationId xmlns:a16="http://schemas.microsoft.com/office/drawing/2014/main" id="{EA6D0CC2-F248-4857-82F1-B8B1DD15F182}"/>
              </a:ext>
            </a:extLst>
          </p:cNvPr>
          <p:cNvSpPr>
            <a:spLocks xmlns:a="http://schemas.openxmlformats.org/drawingml/2006/main" noGrp="1"/>
          </p:cNvSpPr>
          <p:nvPr/>
        </p:nvSpPr>
        <p:spPr>
          <a:xfrm xmlns:a="http://schemas.openxmlformats.org/drawingml/2006/main">
            <a:off x="8477250" y="36576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3D6F58"/>
                </a:solidFill>
                <a:latin typeface="Aptos"/>
                <a:ea typeface="Aptos"/>
                <a:cs typeface="Aptos"/>
              </a:defRPr>
            </a:pPr>
            <a:r>
              <a:rPr sz="1350" b="1">
                <a:solidFill>
                  <a:srgbClr val="3D6F58"/>
                </a:solidFill>
                <a:latin typeface="Aptos"/>
                <a:ea typeface="Aptos"/>
                <a:cs typeface="Aptos"/>
              </a:rPr>
              <a:t>+0.046  ·  [0.002, 0.094]</a:t>
            </a:r>
          </a:p>
        </p:txBody>
      </p:sp>
      <p:sp>
        <p:nvSpPr>
          <p:cNvPr id="23" name="quality-callout">
            <a:extLst xmlns:a="http://schemas.openxmlformats.org/drawingml/2006/main">
              <a:ext uri="{FF2B5EF4-FFF2-40B4-BE49-F238E27FC236}">
                <a16:creationId xmlns:a16="http://schemas.microsoft.com/office/drawing/2014/main" id="{3C759862-8785-4BFA-B8A9-99649F9F4627}"/>
              </a:ext>
            </a:extLst>
          </p:cNvPr>
          <p:cNvSpPr>
            <a:spLocks xmlns:a="http://schemas.openxmlformats.org/drawingml/2006/main" noGrp="1"/>
          </p:cNvSpPr>
          <p:nvPr/>
        </p:nvSpPr>
        <p:spPr>
          <a:xfrm xmlns:a="http://schemas.openxmlformats.org/drawingml/2006/main">
            <a:off x="685800" y="4667250"/>
            <a:ext cx="10172700" cy="704850"/>
          </a:xfrm>
          <a:prstGeom xmlns:a="http://schemas.openxmlformats.org/drawingml/2006/main" prst="roundRect">
            <a:avLst>
              <a:gd name="adj" fmla="val 10811"/>
            </a:avLst>
          </a:prstGeom>
          <a:solidFill xmlns:a="http://schemas.openxmlformats.org/drawingml/2006/main">
            <a:srgbClr val="FFFDF8"/>
          </a:solidFill>
          <a:ln xmlns:a="http://schemas.openxmlformats.org/drawingml/2006/main" w="9525">
            <a:solidFill>
              <a:srgbClr val="2D6F78"/>
            </a:solidFill>
            <a:prstDash val="solid"/>
          </a:ln>
        </p:spPr>
      </p:sp>
      <p:sp>
        <p:nvSpPr>
          <p:cNvPr id="24" name="quality-callout-label">
            <a:extLst xmlns:a="http://schemas.openxmlformats.org/drawingml/2006/main">
              <a:ext uri="{FF2B5EF4-FFF2-40B4-BE49-F238E27FC236}">
                <a16:creationId xmlns:a16="http://schemas.microsoft.com/office/drawing/2014/main" id="{3D6E151A-2149-44AE-A6A7-94027A85F494}"/>
              </a:ext>
            </a:extLst>
          </p:cNvPr>
          <p:cNvSpPr>
            <a:spLocks xmlns:a="http://schemas.openxmlformats.org/drawingml/2006/main" noGrp="1"/>
          </p:cNvSpPr>
          <p:nvPr/>
        </p:nvSpPr>
        <p:spPr>
          <a:xfrm xmlns:a="http://schemas.openxmlformats.org/drawingml/2006/main">
            <a:off x="952500" y="48006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25" name="quality-callout-copy">
            <a:extLst xmlns:a="http://schemas.openxmlformats.org/drawingml/2006/main">
              <a:ext uri="{FF2B5EF4-FFF2-40B4-BE49-F238E27FC236}">
                <a16:creationId xmlns:a16="http://schemas.microsoft.com/office/drawing/2014/main" id="{2DDE75E5-4CD8-479A-A759-5CC2BBAD670F}"/>
              </a:ext>
            </a:extLst>
          </p:cNvPr>
          <p:cNvSpPr>
            <a:spLocks xmlns:a="http://schemas.openxmlformats.org/drawingml/2006/main" noGrp="1"/>
          </p:cNvSpPr>
          <p:nvPr/>
        </p:nvSpPr>
        <p:spPr>
          <a:xfrm xmlns:a="http://schemas.openxmlformats.org/drawingml/2006/main">
            <a:off x="952500" y="4772025"/>
            <a:ext cx="962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D2A34"/>
                </a:solidFill>
                <a:latin typeface="Aptos"/>
                <a:ea typeface="Aptos"/>
                <a:cs typeface="Aptos"/>
              </a:defRPr>
            </a:pPr>
            <a:r>
              <a:rPr sz="1350" b="1">
                <a:solidFill>
                  <a:srgbClr val="1D2A34"/>
                </a:solidFill>
                <a:latin typeface="Aptos"/>
                <a:ea typeface="Aptos"/>
                <a:cs typeface="Aptos"/>
              </a:rPr>
              <a:t>Only Answer Correctness has a paired 95% interval entirely above zero.</a:t>
            </a:r>
          </a:p>
        </p:txBody>
      </p:sp>
      <p:sp>
        <p:nvSpPr>
          <p:cNvPr id="26" name="footer-label">
            <a:extLst xmlns:a="http://schemas.openxmlformats.org/drawingml/2006/main">
              <a:ext uri="{FF2B5EF4-FFF2-40B4-BE49-F238E27FC236}">
                <a16:creationId xmlns:a16="http://schemas.microsoft.com/office/drawing/2014/main" id="{952BB101-26F1-4054-A0B4-A33962ADC042}"/>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10 / 15</a:t>
            </a:r>
          </a:p>
        </p:txBody>
      </p:sp>
      <p:sp>
        <p:nvSpPr>
          <p:cNvPr id="27" name="footer-number">
            <a:extLst xmlns:a="http://schemas.openxmlformats.org/drawingml/2006/main">
              <a:ext uri="{FF2B5EF4-FFF2-40B4-BE49-F238E27FC236}">
                <a16:creationId xmlns:a16="http://schemas.microsoft.com/office/drawing/2014/main" id="{CF64CBCC-64AB-4BCC-9E3D-1D4CEB3E7E78}"/>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2117994477"/>
      </p:ext>
    </p:extLst>
  </p:cSld>
</p:sld>
</file>

<file path=ppt/slides/slide20.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E71BDAD7-04EA-426B-B1AD-244374AE5F25}"/>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EVALUATION EVIDENCE  ·  DETAIL  ·  09 / 13</a:t>
            </a:r>
          </a:p>
        </p:txBody>
      </p:sp>
      <p:sp>
        <p:nvSpPr>
          <p:cNvPr id="2" name="kicker-rule">
            <a:extLst xmlns:a="http://schemas.openxmlformats.org/drawingml/2006/main">
              <a:ext uri="{FF2B5EF4-FFF2-40B4-BE49-F238E27FC236}">
                <a16:creationId xmlns:a16="http://schemas.microsoft.com/office/drawing/2014/main" id="{1D1C09C7-8839-40C4-8EEA-E322D36E373B}"/>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A94839EB-CC16-478C-8F42-4F167D352673}"/>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1D2A34"/>
                </a:solidFill>
                <a:latin typeface="Aptos Display"/>
                <a:ea typeface="Aptos Display"/>
                <a:cs typeface="Aptos Display"/>
              </a:defRPr>
            </a:pPr>
            <a:r>
              <a:rPr sz="2250" b="1">
                <a:solidFill>
                  <a:srgbClr val="1D2A34"/>
                </a:solidFill>
                <a:latin typeface="Aptos Display"/>
                <a:ea typeface="Aptos Display"/>
                <a:cs typeface="Aptos Display"/>
              </a:rPr>
              <a:t>The reference answers are source-anchored—but not human-adjudicated.</a:t>
            </a:r>
          </a:p>
        </p:txBody>
      </p:sp>
      <p:sp>
        <p:nvSpPr>
          <p:cNvPr id="4" name="depth-box-8">
            <a:extLst xmlns:a="http://schemas.openxmlformats.org/drawingml/2006/main">
              <a:ext uri="{FF2B5EF4-FFF2-40B4-BE49-F238E27FC236}">
                <a16:creationId xmlns:a16="http://schemas.microsoft.com/office/drawing/2014/main" id="{19498176-9BBB-4439-8D55-551E9AE21511}"/>
              </a:ext>
            </a:extLst>
          </p:cNvPr>
          <p:cNvSpPr>
            <a:spLocks xmlns:a="http://schemas.openxmlformats.org/drawingml/2006/main" noGrp="1"/>
          </p:cNvSpPr>
          <p:nvPr/>
        </p:nvSpPr>
        <p:spPr>
          <a:xfrm xmlns:a="http://schemas.openxmlformats.org/drawingml/2006/main">
            <a:off x="685800" y="1981200"/>
            <a:ext cx="108204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9525">
            <a:solidFill>
              <a:srgbClr val="C9D1D1"/>
            </a:solidFill>
            <a:prstDash val="solid"/>
          </a:ln>
        </p:spPr>
      </p:sp>
      <p:sp>
        <p:nvSpPr>
          <p:cNvPr id="5" name="depth-label-8">
            <a:extLst xmlns:a="http://schemas.openxmlformats.org/drawingml/2006/main">
              <a:ext uri="{FF2B5EF4-FFF2-40B4-BE49-F238E27FC236}">
                <a16:creationId xmlns:a16="http://schemas.microsoft.com/office/drawing/2014/main" id="{89B06BDC-B83A-4C12-BDB7-8E6894F78326}"/>
              </a:ext>
            </a:extLst>
          </p:cNvPr>
          <p:cNvSpPr>
            <a:spLocks xmlns:a="http://schemas.openxmlformats.org/drawingml/2006/main" noGrp="1"/>
          </p:cNvSpPr>
          <p:nvPr/>
        </p:nvSpPr>
        <p:spPr>
          <a:xfrm xmlns:a="http://schemas.openxmlformats.org/drawingml/2006/main">
            <a:off x="990600" y="2286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EVIDENCE DETAIL</a:t>
            </a:r>
          </a:p>
        </p:txBody>
      </p:sp>
      <p:sp>
        <p:nvSpPr>
          <p:cNvPr id="6" name="depth-copy-8">
            <a:extLst xmlns:a="http://schemas.openxmlformats.org/drawingml/2006/main">
              <a:ext uri="{FF2B5EF4-FFF2-40B4-BE49-F238E27FC236}">
                <a16:creationId xmlns:a16="http://schemas.microsoft.com/office/drawing/2014/main" id="{8B5B1FB1-C96D-4BAF-80DA-4AD5D97CD83E}"/>
              </a:ext>
            </a:extLst>
          </p:cNvPr>
          <p:cNvSpPr>
            <a:spLocks xmlns:a="http://schemas.openxmlformats.org/drawingml/2006/main" noGrp="1"/>
          </p:cNvSpPr>
          <p:nvPr/>
        </p:nvSpPr>
        <p:spPr>
          <a:xfrm xmlns:a="http://schemas.openxmlformats.org/drawingml/2006/main">
            <a:off x="990600" y="2724150"/>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D2A34"/>
                </a:solidFill>
                <a:latin typeface="Aptos"/>
                <a:ea typeface="Aptos"/>
                <a:cs typeface="Aptos"/>
              </a:defRPr>
            </a:pPr>
            <a:r>
              <a:rPr sz="2100" b="1">
                <a:solidFill>
                  <a:srgbClr val="1D2A34"/>
                </a:solidFill>
                <a:latin typeface="Aptos"/>
                <a:ea typeface="Aptos"/>
                <a:cs typeface="Aptos"/>
              </a:rPr>
              <a:t>The result is auditable automated evidence, not a human-measured production accuracy rate.</a:t>
            </a:r>
          </a:p>
        </p:txBody>
      </p:sp>
      <p:sp>
        <p:nvSpPr>
          <p:cNvPr id="7" name="depth-rule-8">
            <a:extLst xmlns:a="http://schemas.openxmlformats.org/drawingml/2006/main">
              <a:ext uri="{FF2B5EF4-FFF2-40B4-BE49-F238E27FC236}">
                <a16:creationId xmlns:a16="http://schemas.microsoft.com/office/drawing/2014/main" id="{213A32D4-2581-4295-93D8-58FD4EB490BC}"/>
              </a:ext>
            </a:extLst>
          </p:cNvPr>
          <p:cNvSpPr>
            <a:spLocks xmlns:a="http://schemas.openxmlformats.org/drawingml/2006/main" noGrp="1"/>
          </p:cNvSpPr>
          <p:nvPr/>
        </p:nvSpPr>
        <p:spPr>
          <a:xfrm xmlns:a="http://schemas.openxmlformats.org/drawingml/2006/main">
            <a:off x="990600" y="3886200"/>
            <a:ext cx="923925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8" name="depth-source-8">
            <a:extLst xmlns:a="http://schemas.openxmlformats.org/drawingml/2006/main">
              <a:ext uri="{FF2B5EF4-FFF2-40B4-BE49-F238E27FC236}">
                <a16:creationId xmlns:a16="http://schemas.microsoft.com/office/drawing/2014/main" id="{6FF19A57-2E3E-4387-B6E0-3E084AEAC0C0}"/>
              </a:ext>
            </a:extLst>
          </p:cNvPr>
          <p:cNvSpPr>
            <a:spLocks xmlns:a="http://schemas.openxmlformats.org/drawingml/2006/main" noGrp="1"/>
          </p:cNvSpPr>
          <p:nvPr/>
        </p:nvSpPr>
        <p:spPr>
          <a:xfrm xmlns:a="http://schemas.openxmlformats.org/drawingml/2006/main">
            <a:off x="990600" y="407670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Evidence boundary: eval/gold/llama_index_core_answer_quality_v1.json; results/answer_quality_benchmark_schema3.json</a:t>
            </a:r>
          </a:p>
        </p:txBody>
      </p:sp>
      <p:sp>
        <p:nvSpPr>
          <p:cNvPr id="9" name="depth-callout-8">
            <a:extLst xmlns:a="http://schemas.openxmlformats.org/drawingml/2006/main">
              <a:ext uri="{FF2B5EF4-FFF2-40B4-BE49-F238E27FC236}">
                <a16:creationId xmlns:a16="http://schemas.microsoft.com/office/drawing/2014/main" id="{D26A601E-A171-4923-A36A-06F5BD3C3E10}"/>
              </a:ext>
            </a:extLst>
          </p:cNvPr>
          <p:cNvSpPr>
            <a:spLocks xmlns:a="http://schemas.openxmlformats.org/drawingml/2006/main" noGrp="1"/>
          </p:cNvSpPr>
          <p:nvPr/>
        </p:nvSpPr>
        <p:spPr>
          <a:xfrm xmlns:a="http://schemas.openxmlformats.org/drawingml/2006/main">
            <a:off x="685800" y="4857750"/>
            <a:ext cx="108204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0" name="depth-callout-8-label">
            <a:extLst xmlns:a="http://schemas.openxmlformats.org/drawingml/2006/main">
              <a:ext uri="{FF2B5EF4-FFF2-40B4-BE49-F238E27FC236}">
                <a16:creationId xmlns:a16="http://schemas.microsoft.com/office/drawing/2014/main" id="{6DB36169-F7D5-427D-89CE-5E0481FABE93}"/>
              </a:ext>
            </a:extLst>
          </p:cNvPr>
          <p:cNvSpPr>
            <a:spLocks xmlns:a="http://schemas.openxmlformats.org/drawingml/2006/main" noGrp="1"/>
          </p:cNvSpPr>
          <p:nvPr/>
        </p:nvSpPr>
        <p:spPr>
          <a:xfrm xmlns:a="http://schemas.openxmlformats.org/drawingml/2006/main">
            <a:off x="952500" y="49911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1" name="depth-callout-8-copy">
            <a:extLst xmlns:a="http://schemas.openxmlformats.org/drawingml/2006/main">
              <a:ext uri="{FF2B5EF4-FFF2-40B4-BE49-F238E27FC236}">
                <a16:creationId xmlns:a16="http://schemas.microsoft.com/office/drawing/2014/main" id="{6EF8D4A3-2E2E-49D1-8016-B477DE31CB1D}"/>
              </a:ext>
            </a:extLst>
          </p:cNvPr>
          <p:cNvSpPr>
            <a:spLocks xmlns:a="http://schemas.openxmlformats.org/drawingml/2006/main" noGrp="1"/>
          </p:cNvSpPr>
          <p:nvPr/>
        </p:nvSpPr>
        <p:spPr>
          <a:xfrm xmlns:a="http://schemas.openxmlformats.org/drawingml/2006/main">
            <a:off x="952500" y="4962525"/>
            <a:ext cx="10267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Call the result controlled local evidence—not independent human accuracy.</a:t>
            </a:r>
          </a:p>
        </p:txBody>
      </p:sp>
      <p:sp>
        <p:nvSpPr>
          <p:cNvPr id="12" name="footer-label">
            <a:extLst xmlns:a="http://schemas.openxmlformats.org/drawingml/2006/main">
              <a:ext uri="{FF2B5EF4-FFF2-40B4-BE49-F238E27FC236}">
                <a16:creationId xmlns:a16="http://schemas.microsoft.com/office/drawing/2014/main" id="{D501FC7D-3952-4A89-9AD7-6455543A4928}"/>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09 / 15 · DETAIL 2 / 3</a:t>
            </a:r>
          </a:p>
        </p:txBody>
      </p:sp>
      <p:sp>
        <p:nvSpPr>
          <p:cNvPr id="13" name="footer-number">
            <a:extLst xmlns:a="http://schemas.openxmlformats.org/drawingml/2006/main">
              <a:ext uri="{FF2B5EF4-FFF2-40B4-BE49-F238E27FC236}">
                <a16:creationId xmlns:a16="http://schemas.microsoft.com/office/drawing/2014/main" id="{E4ED4FF0-21B0-4BF3-82A3-6F157FB6270B}"/>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SUPPORTING DETAIL</a:t>
            </a:r>
          </a:p>
        </p:txBody>
      </p:sp>
    </p:spTree>
    <p:extLst>
      <p:ext uri="{BB962C8B-B14F-4D97-AF65-F5344CB8AC3E}">
        <p14:creationId xmlns:p14="http://schemas.microsoft.com/office/powerpoint/2010/main" val="1445885122"/>
      </p:ext>
    </p:extLst>
  </p:cSld>
</p:sld>
</file>

<file path=ppt/slides/slide21.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62828DFC-5CB1-4329-9469-AC55463D127C}"/>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PAIRED BOOTSTRAP  ·  DETAIL  ·  10 / 13</a:t>
            </a:r>
          </a:p>
        </p:txBody>
      </p:sp>
      <p:sp>
        <p:nvSpPr>
          <p:cNvPr id="2" name="kicker-rule">
            <a:extLst xmlns:a="http://schemas.openxmlformats.org/drawingml/2006/main">
              <a:ext uri="{FF2B5EF4-FFF2-40B4-BE49-F238E27FC236}">
                <a16:creationId xmlns:a16="http://schemas.microsoft.com/office/drawing/2014/main" id="{26B150C6-EDA9-4835-8F8A-4C5E8386482B}"/>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399253E2-05E0-4A4B-BC09-DE0096BE74A3}"/>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The analysis resamples questions, not repeated generations.</a:t>
            </a:r>
          </a:p>
        </p:txBody>
      </p:sp>
      <p:sp>
        <p:nvSpPr>
          <p:cNvPr id="4" name="depth-box-9">
            <a:extLst xmlns:a="http://schemas.openxmlformats.org/drawingml/2006/main">
              <a:ext uri="{FF2B5EF4-FFF2-40B4-BE49-F238E27FC236}">
                <a16:creationId xmlns:a16="http://schemas.microsoft.com/office/drawing/2014/main" id="{A154F142-6816-4C06-87D3-EC265830CBEC}"/>
              </a:ext>
            </a:extLst>
          </p:cNvPr>
          <p:cNvSpPr>
            <a:spLocks xmlns:a="http://schemas.openxmlformats.org/drawingml/2006/main" noGrp="1"/>
          </p:cNvSpPr>
          <p:nvPr/>
        </p:nvSpPr>
        <p:spPr>
          <a:xfrm xmlns:a="http://schemas.openxmlformats.org/drawingml/2006/main">
            <a:off x="685800" y="1981200"/>
            <a:ext cx="108204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9525">
            <a:solidFill>
              <a:srgbClr val="C9D1D1"/>
            </a:solidFill>
            <a:prstDash val="solid"/>
          </a:ln>
        </p:spPr>
      </p:sp>
      <p:sp>
        <p:nvSpPr>
          <p:cNvPr id="5" name="depth-label-9">
            <a:extLst xmlns:a="http://schemas.openxmlformats.org/drawingml/2006/main">
              <a:ext uri="{FF2B5EF4-FFF2-40B4-BE49-F238E27FC236}">
                <a16:creationId xmlns:a16="http://schemas.microsoft.com/office/drawing/2014/main" id="{2388B0BE-34A4-4A51-B82E-6AEB8123630D}"/>
              </a:ext>
            </a:extLst>
          </p:cNvPr>
          <p:cNvSpPr>
            <a:spLocks xmlns:a="http://schemas.openxmlformats.org/drawingml/2006/main" noGrp="1"/>
          </p:cNvSpPr>
          <p:nvPr/>
        </p:nvSpPr>
        <p:spPr>
          <a:xfrm xmlns:a="http://schemas.openxmlformats.org/drawingml/2006/main">
            <a:off x="990600" y="2286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EVIDENCE DETAIL</a:t>
            </a:r>
          </a:p>
        </p:txBody>
      </p:sp>
      <p:sp>
        <p:nvSpPr>
          <p:cNvPr id="6" name="depth-copy-9">
            <a:extLst xmlns:a="http://schemas.openxmlformats.org/drawingml/2006/main">
              <a:ext uri="{FF2B5EF4-FFF2-40B4-BE49-F238E27FC236}">
                <a16:creationId xmlns:a16="http://schemas.microsoft.com/office/drawing/2014/main" id="{DF34A3FB-E606-484B-A8C0-78E85EA584D6}"/>
              </a:ext>
            </a:extLst>
          </p:cNvPr>
          <p:cNvSpPr>
            <a:spLocks xmlns:a="http://schemas.openxmlformats.org/drawingml/2006/main" noGrp="1"/>
          </p:cNvSpPr>
          <p:nvPr/>
        </p:nvSpPr>
        <p:spPr>
          <a:xfrm xmlns:a="http://schemas.openxmlformats.org/drawingml/2006/main">
            <a:off x="990600" y="2724150"/>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D2A34"/>
                </a:solidFill>
                <a:latin typeface="Aptos"/>
                <a:ea typeface="Aptos"/>
                <a:cs typeface="Aptos"/>
              </a:defRPr>
            </a:pPr>
            <a:r>
              <a:rPr sz="2100" b="1">
                <a:solidFill>
                  <a:srgbClr val="1D2A34"/>
                </a:solidFill>
                <a:latin typeface="Aptos"/>
                <a:ea typeface="Aptos"/>
                <a:cs typeface="Aptos"/>
              </a:rPr>
              <a:t>Three repeats are averaged within case; 30 paired cases are resampled 10,000 times.</a:t>
            </a:r>
          </a:p>
        </p:txBody>
      </p:sp>
      <p:sp>
        <p:nvSpPr>
          <p:cNvPr id="7" name="depth-rule-9">
            <a:extLst xmlns:a="http://schemas.openxmlformats.org/drawingml/2006/main">
              <a:ext uri="{FF2B5EF4-FFF2-40B4-BE49-F238E27FC236}">
                <a16:creationId xmlns:a16="http://schemas.microsoft.com/office/drawing/2014/main" id="{21760E60-DF97-4E97-A946-0B8869409C8F}"/>
              </a:ext>
            </a:extLst>
          </p:cNvPr>
          <p:cNvSpPr>
            <a:spLocks xmlns:a="http://schemas.openxmlformats.org/drawingml/2006/main" noGrp="1"/>
          </p:cNvSpPr>
          <p:nvPr/>
        </p:nvSpPr>
        <p:spPr>
          <a:xfrm xmlns:a="http://schemas.openxmlformats.org/drawingml/2006/main">
            <a:off x="990600" y="3886200"/>
            <a:ext cx="923925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8" name="depth-source-9">
            <a:extLst xmlns:a="http://schemas.openxmlformats.org/drawingml/2006/main">
              <a:ext uri="{FF2B5EF4-FFF2-40B4-BE49-F238E27FC236}">
                <a16:creationId xmlns:a16="http://schemas.microsoft.com/office/drawing/2014/main" id="{152CB78E-1FD8-431B-BB24-1FBA6760FD24}"/>
              </a:ext>
            </a:extLst>
          </p:cNvPr>
          <p:cNvSpPr>
            <a:spLocks xmlns:a="http://schemas.openxmlformats.org/drawingml/2006/main" noGrp="1"/>
          </p:cNvSpPr>
          <p:nvPr/>
        </p:nvSpPr>
        <p:spPr>
          <a:xfrm xmlns:a="http://schemas.openxmlformats.org/drawingml/2006/main">
            <a:off x="990600" y="407670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Evidence boundary: scripts/analyze_answer_quality_statistics.py</a:t>
            </a:r>
          </a:p>
        </p:txBody>
      </p:sp>
      <p:sp>
        <p:nvSpPr>
          <p:cNvPr id="9" name="depth-callout-9">
            <a:extLst xmlns:a="http://schemas.openxmlformats.org/drawingml/2006/main">
              <a:ext uri="{FF2B5EF4-FFF2-40B4-BE49-F238E27FC236}">
                <a16:creationId xmlns:a16="http://schemas.microsoft.com/office/drawing/2014/main" id="{02902029-6417-4177-969D-7ACA8AEB838A}"/>
              </a:ext>
            </a:extLst>
          </p:cNvPr>
          <p:cNvSpPr>
            <a:spLocks xmlns:a="http://schemas.openxmlformats.org/drawingml/2006/main" noGrp="1"/>
          </p:cNvSpPr>
          <p:nvPr/>
        </p:nvSpPr>
        <p:spPr>
          <a:xfrm xmlns:a="http://schemas.openxmlformats.org/drawingml/2006/main">
            <a:off x="685800" y="4857750"/>
            <a:ext cx="108204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0" name="depth-callout-9-label">
            <a:extLst xmlns:a="http://schemas.openxmlformats.org/drawingml/2006/main">
              <a:ext uri="{FF2B5EF4-FFF2-40B4-BE49-F238E27FC236}">
                <a16:creationId xmlns:a16="http://schemas.microsoft.com/office/drawing/2014/main" id="{3D72E26C-3F08-49B2-A187-384ED7F4AC0C}"/>
              </a:ext>
            </a:extLst>
          </p:cNvPr>
          <p:cNvSpPr>
            <a:spLocks xmlns:a="http://schemas.openxmlformats.org/drawingml/2006/main" noGrp="1"/>
          </p:cNvSpPr>
          <p:nvPr/>
        </p:nvSpPr>
        <p:spPr>
          <a:xfrm xmlns:a="http://schemas.openxmlformats.org/drawingml/2006/main">
            <a:off x="952500" y="49911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1" name="depth-callout-9-copy">
            <a:extLst xmlns:a="http://schemas.openxmlformats.org/drawingml/2006/main">
              <a:ext uri="{FF2B5EF4-FFF2-40B4-BE49-F238E27FC236}">
                <a16:creationId xmlns:a16="http://schemas.microsoft.com/office/drawing/2014/main" id="{C5784CA3-7E02-4CDA-81C4-BA58FE50C45B}"/>
              </a:ext>
            </a:extLst>
          </p:cNvPr>
          <p:cNvSpPr>
            <a:spLocks xmlns:a="http://schemas.openxmlformats.org/drawingml/2006/main" noGrp="1"/>
          </p:cNvSpPr>
          <p:nvPr/>
        </p:nvSpPr>
        <p:spPr>
          <a:xfrm xmlns:a="http://schemas.openxmlformats.org/drawingml/2006/main">
            <a:off x="952500" y="4962525"/>
            <a:ext cx="10267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The checked-in analysis is deterministic with seed 42 and reproduced byte-for-byte during this audit.</a:t>
            </a:r>
          </a:p>
        </p:txBody>
      </p:sp>
      <p:sp>
        <p:nvSpPr>
          <p:cNvPr id="12" name="footer-label">
            <a:extLst xmlns:a="http://schemas.openxmlformats.org/drawingml/2006/main">
              <a:ext uri="{FF2B5EF4-FFF2-40B4-BE49-F238E27FC236}">
                <a16:creationId xmlns:a16="http://schemas.microsoft.com/office/drawing/2014/main" id="{D917AFF9-62ED-4612-A25A-CED764E02059}"/>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09 / 15 · DETAIL 3 / 3</a:t>
            </a:r>
          </a:p>
        </p:txBody>
      </p:sp>
      <p:sp>
        <p:nvSpPr>
          <p:cNvPr id="13" name="footer-number">
            <a:extLst xmlns:a="http://schemas.openxmlformats.org/drawingml/2006/main">
              <a:ext uri="{FF2B5EF4-FFF2-40B4-BE49-F238E27FC236}">
                <a16:creationId xmlns:a16="http://schemas.microsoft.com/office/drawing/2014/main" id="{40896B32-7C5C-410B-AB95-F06440B2756C}"/>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SUPPORTING DETAIL</a:t>
            </a:r>
          </a:p>
        </p:txBody>
      </p:sp>
    </p:spTree>
    <p:extLst>
      <p:ext uri="{BB962C8B-B14F-4D97-AF65-F5344CB8AC3E}">
        <p14:creationId xmlns:p14="http://schemas.microsoft.com/office/powerpoint/2010/main" val="338290213"/>
      </p:ext>
    </p:extLst>
  </p:cSld>
</p:sld>
</file>

<file path=ppt/slides/slide2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52722DE4-9A52-4E04-9E0B-F5810AC1D3DE}"/>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SYSTEM BREADTH  ·  DETAIL  ·  12 / 13</a:t>
            </a:r>
          </a:p>
        </p:txBody>
      </p:sp>
      <p:sp>
        <p:nvSpPr>
          <p:cNvPr id="2" name="kicker-rule">
            <a:extLst xmlns:a="http://schemas.openxmlformats.org/drawingml/2006/main">
              <a:ext uri="{FF2B5EF4-FFF2-40B4-BE49-F238E27FC236}">
                <a16:creationId xmlns:a16="http://schemas.microsoft.com/office/drawing/2014/main" id="{09B452A8-BA13-4DC0-858F-F9C8DBAB9C32}"/>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0B7EEE34-93EF-46CF-8D2B-7976FE0CEC70}"/>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The prototype extends beyond a two-retriever wrapper.</a:t>
            </a:r>
          </a:p>
        </p:txBody>
      </p:sp>
      <p:sp>
        <p:nvSpPr>
          <p:cNvPr id="4" name="depth-box-11">
            <a:extLst xmlns:a="http://schemas.openxmlformats.org/drawingml/2006/main">
              <a:ext uri="{FF2B5EF4-FFF2-40B4-BE49-F238E27FC236}">
                <a16:creationId xmlns:a16="http://schemas.microsoft.com/office/drawing/2014/main" id="{DEBDE8ED-8B7E-464B-8F7A-893DC122A014}"/>
              </a:ext>
            </a:extLst>
          </p:cNvPr>
          <p:cNvSpPr>
            <a:spLocks xmlns:a="http://schemas.openxmlformats.org/drawingml/2006/main" noGrp="1"/>
          </p:cNvSpPr>
          <p:nvPr/>
        </p:nvSpPr>
        <p:spPr>
          <a:xfrm xmlns:a="http://schemas.openxmlformats.org/drawingml/2006/main">
            <a:off x="685800" y="1981200"/>
            <a:ext cx="108204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9525">
            <a:solidFill>
              <a:srgbClr val="C9D1D1"/>
            </a:solidFill>
            <a:prstDash val="solid"/>
          </a:ln>
        </p:spPr>
      </p:sp>
      <p:sp>
        <p:nvSpPr>
          <p:cNvPr id="5" name="depth-label-11">
            <a:extLst xmlns:a="http://schemas.openxmlformats.org/drawingml/2006/main">
              <a:ext uri="{FF2B5EF4-FFF2-40B4-BE49-F238E27FC236}">
                <a16:creationId xmlns:a16="http://schemas.microsoft.com/office/drawing/2014/main" id="{D96204B3-37F8-41D8-978D-4666358458F3}"/>
              </a:ext>
            </a:extLst>
          </p:cNvPr>
          <p:cNvSpPr>
            <a:spLocks xmlns:a="http://schemas.openxmlformats.org/drawingml/2006/main" noGrp="1"/>
          </p:cNvSpPr>
          <p:nvPr/>
        </p:nvSpPr>
        <p:spPr>
          <a:xfrm xmlns:a="http://schemas.openxmlformats.org/drawingml/2006/main">
            <a:off x="990600" y="2286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EVIDENCE DETAIL</a:t>
            </a:r>
          </a:p>
        </p:txBody>
      </p:sp>
      <p:sp>
        <p:nvSpPr>
          <p:cNvPr id="6" name="depth-copy-11">
            <a:extLst xmlns:a="http://schemas.openxmlformats.org/drawingml/2006/main">
              <a:ext uri="{FF2B5EF4-FFF2-40B4-BE49-F238E27FC236}">
                <a16:creationId xmlns:a16="http://schemas.microsoft.com/office/drawing/2014/main" id="{40116137-571A-4EB0-832D-F59683C8913C}"/>
              </a:ext>
            </a:extLst>
          </p:cNvPr>
          <p:cNvSpPr>
            <a:spLocks xmlns:a="http://schemas.openxmlformats.org/drawingml/2006/main" noGrp="1"/>
          </p:cNvSpPr>
          <p:nvPr/>
        </p:nvSpPr>
        <p:spPr>
          <a:xfrm xmlns:a="http://schemas.openxmlformats.org/drawingml/2006/main">
            <a:off x="990600" y="2724150"/>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D2A34"/>
                </a:solidFill>
                <a:latin typeface="Aptos"/>
                <a:ea typeface="Aptos"/>
                <a:cs typeface="Aptos"/>
              </a:defRPr>
            </a:pPr>
            <a:r>
              <a:rPr sz="2100" b="1">
                <a:solidFill>
                  <a:srgbClr val="1D2A34"/>
                </a:solidFill>
                <a:latin typeface="Aptos"/>
                <a:ea typeface="Aptos"/>
                <a:cs typeface="Aptos"/>
              </a:rPr>
              <a:t>Incremental indexing, communities, exploration and optional non-code ingestion are system capabilities with separate evidence boundaries.</a:t>
            </a:r>
          </a:p>
        </p:txBody>
      </p:sp>
      <p:sp>
        <p:nvSpPr>
          <p:cNvPr id="7" name="depth-rule-11">
            <a:extLst xmlns:a="http://schemas.openxmlformats.org/drawingml/2006/main">
              <a:ext uri="{FF2B5EF4-FFF2-40B4-BE49-F238E27FC236}">
                <a16:creationId xmlns:a16="http://schemas.microsoft.com/office/drawing/2014/main" id="{58D9971D-A21D-43CF-809E-AA15EDE01A65}"/>
              </a:ext>
            </a:extLst>
          </p:cNvPr>
          <p:cNvSpPr>
            <a:spLocks xmlns:a="http://schemas.openxmlformats.org/drawingml/2006/main" noGrp="1"/>
          </p:cNvSpPr>
          <p:nvPr/>
        </p:nvSpPr>
        <p:spPr>
          <a:xfrm xmlns:a="http://schemas.openxmlformats.org/drawingml/2006/main">
            <a:off x="990600" y="3886200"/>
            <a:ext cx="923925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8" name="depth-source-11">
            <a:extLst xmlns:a="http://schemas.openxmlformats.org/drawingml/2006/main">
              <a:ext uri="{FF2B5EF4-FFF2-40B4-BE49-F238E27FC236}">
                <a16:creationId xmlns:a16="http://schemas.microsoft.com/office/drawing/2014/main" id="{B1B5EAC3-F265-4A42-9CB0-B6B671FD598D}"/>
              </a:ext>
            </a:extLst>
          </p:cNvPr>
          <p:cNvSpPr>
            <a:spLocks xmlns:a="http://schemas.openxmlformats.org/drawingml/2006/main" noGrp="1"/>
          </p:cNvSpPr>
          <p:nvPr/>
        </p:nvSpPr>
        <p:spPr>
          <a:xfrm xmlns:a="http://schemas.openxmlformats.org/drawingml/2006/main">
            <a:off x="990600" y="407670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Evidence boundary: src/hybrid_rag/ingestion; src/hybrid_rag/graph/community_builder.py</a:t>
            </a:r>
          </a:p>
        </p:txBody>
      </p:sp>
      <p:sp>
        <p:nvSpPr>
          <p:cNvPr id="9" name="depth-callout-11">
            <a:extLst xmlns:a="http://schemas.openxmlformats.org/drawingml/2006/main">
              <a:ext uri="{FF2B5EF4-FFF2-40B4-BE49-F238E27FC236}">
                <a16:creationId xmlns:a16="http://schemas.microsoft.com/office/drawing/2014/main" id="{D5BF5955-A503-4434-81F3-F33D2BCDAA58}"/>
              </a:ext>
            </a:extLst>
          </p:cNvPr>
          <p:cNvSpPr>
            <a:spLocks xmlns:a="http://schemas.openxmlformats.org/drawingml/2006/main" noGrp="1"/>
          </p:cNvSpPr>
          <p:nvPr/>
        </p:nvSpPr>
        <p:spPr>
          <a:xfrm xmlns:a="http://schemas.openxmlformats.org/drawingml/2006/main">
            <a:off x="685800" y="4857750"/>
            <a:ext cx="108204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0" name="depth-callout-11-label">
            <a:extLst xmlns:a="http://schemas.openxmlformats.org/drawingml/2006/main">
              <a:ext uri="{FF2B5EF4-FFF2-40B4-BE49-F238E27FC236}">
                <a16:creationId xmlns:a16="http://schemas.microsoft.com/office/drawing/2014/main" id="{FB56F5AA-554A-412C-9A32-16CD5A420D65}"/>
              </a:ext>
            </a:extLst>
          </p:cNvPr>
          <p:cNvSpPr>
            <a:spLocks xmlns:a="http://schemas.openxmlformats.org/drawingml/2006/main" noGrp="1"/>
          </p:cNvSpPr>
          <p:nvPr/>
        </p:nvSpPr>
        <p:spPr>
          <a:xfrm xmlns:a="http://schemas.openxmlformats.org/drawingml/2006/main">
            <a:off x="952500" y="49911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1" name="depth-callout-11-copy">
            <a:extLst xmlns:a="http://schemas.openxmlformats.org/drawingml/2006/main">
              <a:ext uri="{FF2B5EF4-FFF2-40B4-BE49-F238E27FC236}">
                <a16:creationId xmlns:a16="http://schemas.microsoft.com/office/drawing/2014/main" id="{46D2AEE9-32CE-4FBE-9429-E8DA1CF912FC}"/>
              </a:ext>
            </a:extLst>
          </p:cNvPr>
          <p:cNvSpPr>
            <a:spLocks xmlns:a="http://schemas.openxmlformats.org/drawingml/2006/main" noGrp="1"/>
          </p:cNvSpPr>
          <p:nvPr/>
        </p:nvSpPr>
        <p:spPr>
          <a:xfrm xmlns:a="http://schemas.openxmlformats.org/drawingml/2006/main">
            <a:off x="952500" y="4962525"/>
            <a:ext cx="10267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System breadth is implemented capability—not additional experimental evidence.</a:t>
            </a:r>
          </a:p>
        </p:txBody>
      </p:sp>
      <p:sp>
        <p:nvSpPr>
          <p:cNvPr id="12" name="footer-label">
            <a:extLst xmlns:a="http://schemas.openxmlformats.org/drawingml/2006/main">
              <a:ext uri="{FF2B5EF4-FFF2-40B4-BE49-F238E27FC236}">
                <a16:creationId xmlns:a16="http://schemas.microsoft.com/office/drawing/2014/main" id="{06AB3FEF-8B41-4B69-A732-916145337CEC}"/>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14 / 15 · DETAIL 1 / 1</a:t>
            </a:r>
          </a:p>
        </p:txBody>
      </p:sp>
      <p:sp>
        <p:nvSpPr>
          <p:cNvPr id="13" name="footer-number">
            <a:extLst xmlns:a="http://schemas.openxmlformats.org/drawingml/2006/main">
              <a:ext uri="{FF2B5EF4-FFF2-40B4-BE49-F238E27FC236}">
                <a16:creationId xmlns:a16="http://schemas.microsoft.com/office/drawing/2014/main" id="{5D393589-4AD3-429E-9E7A-3C3AE3BCD6A5}"/>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SUPPORTING DETAIL</a:t>
            </a:r>
          </a:p>
        </p:txBody>
      </p:sp>
    </p:spTree>
    <p:extLst>
      <p:ext uri="{BB962C8B-B14F-4D97-AF65-F5344CB8AC3E}">
        <p14:creationId xmlns:p14="http://schemas.microsoft.com/office/powerpoint/2010/main" val="990818699"/>
      </p:ext>
    </p:extLst>
  </p:cSld>
</p:sld>
</file>

<file path=ppt/slides/slide2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21" name="kicker">
            <a:extLst xmlns:a="http://schemas.openxmlformats.org/drawingml/2006/main">
              <a:ext uri="{FF2B5EF4-FFF2-40B4-BE49-F238E27FC236}">
                <a16:creationId xmlns:a16="http://schemas.microsoft.com/office/drawing/2014/main" id="{6261F41F-2130-4314-A468-98004523FAC7}"/>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STATISTICAL INTERPRETATION  ·  11 / 15</a:t>
            </a:r>
          </a:p>
        </p:txBody>
      </p:sp>
      <p:sp>
        <p:nvSpPr>
          <p:cNvPr id="2" name="kicker-rule">
            <a:extLst xmlns:a="http://schemas.openxmlformats.org/drawingml/2006/main">
              <a:ext uri="{FF2B5EF4-FFF2-40B4-BE49-F238E27FC236}">
                <a16:creationId xmlns:a16="http://schemas.microsoft.com/office/drawing/2014/main" id="{663F01C5-C67B-462D-B957-0B1A0B843965}"/>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53F71453-ADAA-41D7-B9FB-8EC0CE621680}"/>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1D2A34"/>
                </a:solidFill>
                <a:latin typeface="Aptos Display"/>
                <a:ea typeface="Aptos Display"/>
                <a:cs typeface="Aptos Display"/>
              </a:defRPr>
            </a:pPr>
            <a:r>
              <a:rPr sz="3000" b="1">
                <a:solidFill>
                  <a:srgbClr val="1D2A34"/>
                </a:solidFill>
                <a:latin typeface="Aptos Display"/>
                <a:ea typeface="Aptos Display"/>
                <a:cs typeface="Aptos Display"/>
              </a:rPr>
              <a:t>Positive average and reliable improvement are different claims.</a:t>
            </a:r>
          </a:p>
        </p:txBody>
      </p:sp>
      <p:sp>
        <p:nvSpPr>
          <p:cNvPr id="4" name="interpret-0">
            <a:extLst xmlns:a="http://schemas.openxmlformats.org/drawingml/2006/main">
              <a:ext uri="{FF2B5EF4-FFF2-40B4-BE49-F238E27FC236}">
                <a16:creationId xmlns:a16="http://schemas.microsoft.com/office/drawing/2014/main" id="{073E0799-D334-4774-8875-F4AE50E411C0}"/>
              </a:ext>
            </a:extLst>
          </p:cNvPr>
          <p:cNvSpPr>
            <a:spLocks xmlns:a="http://schemas.openxmlformats.org/drawingml/2006/main" noGrp="1"/>
          </p:cNvSpPr>
          <p:nvPr/>
        </p:nvSpPr>
        <p:spPr>
          <a:xfrm xmlns:a="http://schemas.openxmlformats.org/drawingml/2006/main">
            <a:off x="685800" y="2095500"/>
            <a:ext cx="2952750" cy="2095500"/>
          </a:xfrm>
          <a:prstGeom xmlns:a="http://schemas.openxmlformats.org/drawingml/2006/main" prst="roundRect">
            <a:avLst>
              <a:gd name="adj" fmla="val 5455"/>
            </a:avLst>
          </a:prstGeom>
          <a:solidFill xmlns:a="http://schemas.openxmlformats.org/drawingml/2006/main">
            <a:srgbClr val="F4E2DA"/>
          </a:solidFill>
          <a:ln xmlns:a="http://schemas.openxmlformats.org/drawingml/2006/main" w="9525">
            <a:solidFill>
              <a:srgbClr val="B65C3C"/>
            </a:solidFill>
            <a:prstDash val="solid"/>
          </a:ln>
        </p:spPr>
      </p:sp>
      <p:sp>
        <p:nvSpPr>
          <p:cNvPr id="5" name="interpret-state-0">
            <a:extLst xmlns:a="http://schemas.openxmlformats.org/drawingml/2006/main">
              <a:ext uri="{FF2B5EF4-FFF2-40B4-BE49-F238E27FC236}">
                <a16:creationId xmlns:a16="http://schemas.microsoft.com/office/drawing/2014/main" id="{9DFB26EE-F833-4C90-9F87-A5619C2F0BAE}"/>
              </a:ext>
            </a:extLst>
          </p:cNvPr>
          <p:cNvSpPr>
            <a:spLocks xmlns:a="http://schemas.openxmlformats.org/drawingml/2006/main" noGrp="1"/>
          </p:cNvSpPr>
          <p:nvPr/>
        </p:nvSpPr>
        <p:spPr>
          <a:xfrm xmlns:a="http://schemas.openxmlformats.org/drawingml/2006/main">
            <a:off x="914400" y="23431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B65C3C"/>
                </a:solidFill>
                <a:latin typeface="Aptos"/>
                <a:ea typeface="Aptos"/>
                <a:cs typeface="Aptos"/>
              </a:defRPr>
            </a:pPr>
            <a:r>
              <a:rPr sz="975" b="1">
                <a:solidFill>
                  <a:srgbClr val="B65C3C"/>
                </a:solidFill>
                <a:latin typeface="Aptos"/>
                <a:ea typeface="Aptos"/>
                <a:cs typeface="Aptos"/>
              </a:rPr>
              <a:t>INCONCLUSIVE</a:t>
            </a:r>
          </a:p>
        </p:txBody>
      </p:sp>
      <p:sp>
        <p:nvSpPr>
          <p:cNvPr id="6" name="interpret-metric-0">
            <a:extLst xmlns:a="http://schemas.openxmlformats.org/drawingml/2006/main">
              <a:ext uri="{FF2B5EF4-FFF2-40B4-BE49-F238E27FC236}">
                <a16:creationId xmlns:a16="http://schemas.microsoft.com/office/drawing/2014/main" id="{A16D0097-103E-4CF7-8AB8-FCA98B756193}"/>
              </a:ext>
            </a:extLst>
          </p:cNvPr>
          <p:cNvSpPr>
            <a:spLocks xmlns:a="http://schemas.openxmlformats.org/drawingml/2006/main" noGrp="1"/>
          </p:cNvSpPr>
          <p:nvPr/>
        </p:nvSpPr>
        <p:spPr>
          <a:xfrm xmlns:a="http://schemas.openxmlformats.org/drawingml/2006/main">
            <a:off x="914400" y="28003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D2A34"/>
                </a:solidFill>
                <a:latin typeface="Aptos"/>
                <a:ea typeface="Aptos"/>
                <a:cs typeface="Aptos"/>
              </a:defRPr>
            </a:pPr>
            <a:r>
              <a:rPr sz="2025" b="1">
                <a:solidFill>
                  <a:srgbClr val="1D2A34"/>
                </a:solidFill>
                <a:latin typeface="Aptos"/>
                <a:ea typeface="Aptos"/>
                <a:cs typeface="Aptos"/>
              </a:rPr>
              <a:t>Faithfulness</a:t>
            </a:r>
          </a:p>
        </p:txBody>
      </p:sp>
      <p:sp>
        <p:nvSpPr>
          <p:cNvPr id="7" name="interpret-copy-0">
            <a:extLst xmlns:a="http://schemas.openxmlformats.org/drawingml/2006/main">
              <a:ext uri="{FF2B5EF4-FFF2-40B4-BE49-F238E27FC236}">
                <a16:creationId xmlns:a16="http://schemas.microsoft.com/office/drawing/2014/main" id="{7DA345A2-D9FB-4651-862A-CAE8EB8ECBBE}"/>
              </a:ext>
            </a:extLst>
          </p:cNvPr>
          <p:cNvSpPr>
            <a:spLocks xmlns:a="http://schemas.openxmlformats.org/drawingml/2006/main" noGrp="1"/>
          </p:cNvSpPr>
          <p:nvPr/>
        </p:nvSpPr>
        <p:spPr>
          <a:xfrm xmlns:a="http://schemas.openxmlformats.org/drawingml/2006/main">
            <a:off x="914400" y="3371850"/>
            <a:ext cx="2428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The interval allows a small decrease or a larger increase.</a:t>
            </a:r>
          </a:p>
        </p:txBody>
      </p:sp>
      <p:sp>
        <p:nvSpPr>
          <p:cNvPr id="8" name="interpret-1">
            <a:extLst xmlns:a="http://schemas.openxmlformats.org/drawingml/2006/main">
              <a:ext uri="{FF2B5EF4-FFF2-40B4-BE49-F238E27FC236}">
                <a16:creationId xmlns:a16="http://schemas.microsoft.com/office/drawing/2014/main" id="{0C984C13-920C-485F-9D18-D0396DFD452A}"/>
              </a:ext>
            </a:extLst>
          </p:cNvPr>
          <p:cNvSpPr>
            <a:spLocks xmlns:a="http://schemas.openxmlformats.org/drawingml/2006/main" noGrp="1"/>
          </p:cNvSpPr>
          <p:nvPr/>
        </p:nvSpPr>
        <p:spPr>
          <a:xfrm xmlns:a="http://schemas.openxmlformats.org/drawingml/2006/main">
            <a:off x="4095750" y="2095500"/>
            <a:ext cx="2952750" cy="2095500"/>
          </a:xfrm>
          <a:prstGeom xmlns:a="http://schemas.openxmlformats.org/drawingml/2006/main" prst="roundRect">
            <a:avLst>
              <a:gd name="adj" fmla="val 5455"/>
            </a:avLst>
          </a:prstGeom>
          <a:solidFill xmlns:a="http://schemas.openxmlformats.org/drawingml/2006/main">
            <a:srgbClr val="E6EEF5"/>
          </a:solidFill>
          <a:ln xmlns:a="http://schemas.openxmlformats.org/drawingml/2006/main" w="9525">
            <a:solidFill>
              <a:srgbClr val="B65C3C"/>
            </a:solidFill>
            <a:prstDash val="solid"/>
          </a:ln>
        </p:spPr>
      </p:sp>
      <p:sp>
        <p:nvSpPr>
          <p:cNvPr id="9" name="interpret-state-1">
            <a:extLst xmlns:a="http://schemas.openxmlformats.org/drawingml/2006/main">
              <a:ext uri="{FF2B5EF4-FFF2-40B4-BE49-F238E27FC236}">
                <a16:creationId xmlns:a16="http://schemas.microsoft.com/office/drawing/2014/main" id="{3479997D-295F-4328-B7C8-2725FC642218}"/>
              </a:ext>
            </a:extLst>
          </p:cNvPr>
          <p:cNvSpPr>
            <a:spLocks xmlns:a="http://schemas.openxmlformats.org/drawingml/2006/main" noGrp="1"/>
          </p:cNvSpPr>
          <p:nvPr/>
        </p:nvSpPr>
        <p:spPr>
          <a:xfrm xmlns:a="http://schemas.openxmlformats.org/drawingml/2006/main">
            <a:off x="4324350" y="23431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B65C3C"/>
                </a:solidFill>
                <a:latin typeface="Aptos"/>
                <a:ea typeface="Aptos"/>
                <a:cs typeface="Aptos"/>
              </a:defRPr>
            </a:pPr>
            <a:r>
              <a:rPr sz="975" b="1">
                <a:solidFill>
                  <a:srgbClr val="B65C3C"/>
                </a:solidFill>
                <a:latin typeface="Aptos"/>
                <a:ea typeface="Aptos"/>
                <a:cs typeface="Aptos"/>
              </a:rPr>
              <a:t>BORDERLINE</a:t>
            </a:r>
          </a:p>
        </p:txBody>
      </p:sp>
      <p:sp>
        <p:nvSpPr>
          <p:cNvPr id="10" name="interpret-metric-1">
            <a:extLst xmlns:a="http://schemas.openxmlformats.org/drawingml/2006/main">
              <a:ext uri="{FF2B5EF4-FFF2-40B4-BE49-F238E27FC236}">
                <a16:creationId xmlns:a16="http://schemas.microsoft.com/office/drawing/2014/main" id="{08612881-4E9F-4E7C-9581-574E1123819D}"/>
              </a:ext>
            </a:extLst>
          </p:cNvPr>
          <p:cNvSpPr>
            <a:spLocks xmlns:a="http://schemas.openxmlformats.org/drawingml/2006/main" noGrp="1"/>
          </p:cNvSpPr>
          <p:nvPr/>
        </p:nvSpPr>
        <p:spPr>
          <a:xfrm xmlns:a="http://schemas.openxmlformats.org/drawingml/2006/main">
            <a:off x="4324350" y="28003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D2A34"/>
                </a:solidFill>
                <a:latin typeface="Aptos"/>
                <a:ea typeface="Aptos"/>
                <a:cs typeface="Aptos"/>
              </a:defRPr>
            </a:pPr>
            <a:r>
              <a:rPr sz="2025" b="1">
                <a:solidFill>
                  <a:srgbClr val="1D2A34"/>
                </a:solidFill>
                <a:latin typeface="Aptos"/>
                <a:ea typeface="Aptos"/>
                <a:cs typeface="Aptos"/>
              </a:rPr>
              <a:t>Relevancy</a:t>
            </a:r>
          </a:p>
        </p:txBody>
      </p:sp>
      <p:sp>
        <p:nvSpPr>
          <p:cNvPr id="11" name="interpret-copy-1">
            <a:extLst xmlns:a="http://schemas.openxmlformats.org/drawingml/2006/main">
              <a:ext uri="{FF2B5EF4-FFF2-40B4-BE49-F238E27FC236}">
                <a16:creationId xmlns:a16="http://schemas.microsoft.com/office/drawing/2014/main" id="{BADA96B8-F867-4566-93B8-6A43D4D94747}"/>
              </a:ext>
            </a:extLst>
          </p:cNvPr>
          <p:cNvSpPr>
            <a:spLocks xmlns:a="http://schemas.openxmlformats.org/drawingml/2006/main" noGrp="1"/>
          </p:cNvSpPr>
          <p:nvPr/>
        </p:nvSpPr>
        <p:spPr>
          <a:xfrm xmlns:a="http://schemas.openxmlformats.org/drawingml/2006/main">
            <a:off x="4324350" y="3371850"/>
            <a:ext cx="2428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The lower bound is slightly below zero.</a:t>
            </a:r>
          </a:p>
        </p:txBody>
      </p:sp>
      <p:sp>
        <p:nvSpPr>
          <p:cNvPr id="12" name="interpret-2">
            <a:extLst xmlns:a="http://schemas.openxmlformats.org/drawingml/2006/main">
              <a:ext uri="{FF2B5EF4-FFF2-40B4-BE49-F238E27FC236}">
                <a16:creationId xmlns:a16="http://schemas.microsoft.com/office/drawing/2014/main" id="{6096AF28-A4E5-4C8C-8BB8-9DBEF39DBCE5}"/>
              </a:ext>
            </a:extLst>
          </p:cNvPr>
          <p:cNvSpPr>
            <a:spLocks xmlns:a="http://schemas.openxmlformats.org/drawingml/2006/main" noGrp="1"/>
          </p:cNvSpPr>
          <p:nvPr/>
        </p:nvSpPr>
        <p:spPr>
          <a:xfrm xmlns:a="http://schemas.openxmlformats.org/drawingml/2006/main">
            <a:off x="7505700" y="2095500"/>
            <a:ext cx="2952750" cy="2095500"/>
          </a:xfrm>
          <a:prstGeom xmlns:a="http://schemas.openxmlformats.org/drawingml/2006/main" prst="roundRect">
            <a:avLst>
              <a:gd name="adj" fmla="val 5455"/>
            </a:avLst>
          </a:prstGeom>
          <a:solidFill xmlns:a="http://schemas.openxmlformats.org/drawingml/2006/main">
            <a:srgbClr val="E3F0E6"/>
          </a:solidFill>
          <a:ln xmlns:a="http://schemas.openxmlformats.org/drawingml/2006/main" w="9525">
            <a:solidFill>
              <a:srgbClr val="3D6F58"/>
            </a:solidFill>
            <a:prstDash val="solid"/>
          </a:ln>
        </p:spPr>
      </p:sp>
      <p:sp>
        <p:nvSpPr>
          <p:cNvPr id="13" name="interpret-state-2">
            <a:extLst xmlns:a="http://schemas.openxmlformats.org/drawingml/2006/main">
              <a:ext uri="{FF2B5EF4-FFF2-40B4-BE49-F238E27FC236}">
                <a16:creationId xmlns:a16="http://schemas.microsoft.com/office/drawing/2014/main" id="{FDB9EF48-D004-41F5-803D-AE01C04BB149}"/>
              </a:ext>
            </a:extLst>
          </p:cNvPr>
          <p:cNvSpPr>
            <a:spLocks xmlns:a="http://schemas.openxmlformats.org/drawingml/2006/main" noGrp="1"/>
          </p:cNvSpPr>
          <p:nvPr/>
        </p:nvSpPr>
        <p:spPr>
          <a:xfrm xmlns:a="http://schemas.openxmlformats.org/drawingml/2006/main">
            <a:off x="7734300" y="23431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3D6F58"/>
                </a:solidFill>
                <a:latin typeface="Aptos"/>
                <a:ea typeface="Aptos"/>
                <a:cs typeface="Aptos"/>
              </a:defRPr>
            </a:pPr>
            <a:r>
              <a:rPr sz="975" b="1">
                <a:solidFill>
                  <a:srgbClr val="3D6F58"/>
                </a:solidFill>
                <a:latin typeface="Aptos"/>
                <a:ea typeface="Aptos"/>
                <a:cs typeface="Aptos"/>
              </a:rPr>
              <a:t>SUPPORTED HERE</a:t>
            </a:r>
          </a:p>
        </p:txBody>
      </p:sp>
      <p:sp>
        <p:nvSpPr>
          <p:cNvPr id="14" name="interpret-metric-2">
            <a:extLst xmlns:a="http://schemas.openxmlformats.org/drawingml/2006/main">
              <a:ext uri="{FF2B5EF4-FFF2-40B4-BE49-F238E27FC236}">
                <a16:creationId xmlns:a16="http://schemas.microsoft.com/office/drawing/2014/main" id="{CD3237CA-6AF2-4228-9BFD-9A1AA213938B}"/>
              </a:ext>
            </a:extLst>
          </p:cNvPr>
          <p:cNvSpPr>
            <a:spLocks xmlns:a="http://schemas.openxmlformats.org/drawingml/2006/main" noGrp="1"/>
          </p:cNvSpPr>
          <p:nvPr/>
        </p:nvSpPr>
        <p:spPr>
          <a:xfrm xmlns:a="http://schemas.openxmlformats.org/drawingml/2006/main">
            <a:off x="7734300" y="28003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D2A34"/>
                </a:solidFill>
                <a:latin typeface="Aptos"/>
                <a:ea typeface="Aptos"/>
                <a:cs typeface="Aptos"/>
              </a:defRPr>
            </a:pPr>
            <a:r>
              <a:rPr sz="2025" b="1">
                <a:solidFill>
                  <a:srgbClr val="1D2A34"/>
                </a:solidFill>
                <a:latin typeface="Aptos"/>
                <a:ea typeface="Aptos"/>
                <a:cs typeface="Aptos"/>
              </a:rPr>
              <a:t>Correctness</a:t>
            </a:r>
          </a:p>
        </p:txBody>
      </p:sp>
      <p:sp>
        <p:nvSpPr>
          <p:cNvPr id="15" name="interpret-copy-2">
            <a:extLst xmlns:a="http://schemas.openxmlformats.org/drawingml/2006/main">
              <a:ext uri="{FF2B5EF4-FFF2-40B4-BE49-F238E27FC236}">
                <a16:creationId xmlns:a16="http://schemas.microsoft.com/office/drawing/2014/main" id="{7D5C6A96-F587-41A0-A873-3808B475C73C}"/>
              </a:ext>
            </a:extLst>
          </p:cNvPr>
          <p:cNvSpPr>
            <a:spLocks xmlns:a="http://schemas.openxmlformats.org/drawingml/2006/main" noGrp="1"/>
          </p:cNvSpPr>
          <p:nvPr/>
        </p:nvSpPr>
        <p:spPr>
          <a:xfrm xmlns:a="http://schemas.openxmlformats.org/drawingml/2006/main">
            <a:off x="7734300" y="3371850"/>
            <a:ext cx="2428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The full interval remains positive for this workload.</a:t>
            </a:r>
          </a:p>
        </p:txBody>
      </p:sp>
      <p:sp>
        <p:nvSpPr>
          <p:cNvPr id="16" name="interpret-bottom">
            <a:extLst xmlns:a="http://schemas.openxmlformats.org/drawingml/2006/main">
              <a:ext uri="{FF2B5EF4-FFF2-40B4-BE49-F238E27FC236}">
                <a16:creationId xmlns:a16="http://schemas.microsoft.com/office/drawing/2014/main" id="{264E9D91-1797-434F-9960-7B473B206243}"/>
              </a:ext>
            </a:extLst>
          </p:cNvPr>
          <p:cNvSpPr>
            <a:spLocks xmlns:a="http://schemas.openxmlformats.org/drawingml/2006/main" noGrp="1"/>
          </p:cNvSpPr>
          <p:nvPr/>
        </p:nvSpPr>
        <p:spPr>
          <a:xfrm xmlns:a="http://schemas.openxmlformats.org/drawingml/2006/main">
            <a:off x="685800" y="4762500"/>
            <a:ext cx="10172700" cy="628650"/>
          </a:xfrm>
          <a:prstGeom xmlns:a="http://schemas.openxmlformats.org/drawingml/2006/main" prst="roundRect">
            <a:avLst>
              <a:gd name="adj" fmla="val 12121"/>
            </a:avLst>
          </a:prstGeom>
          <a:solidFill xmlns:a="http://schemas.openxmlformats.org/drawingml/2006/main">
            <a:srgbClr val="FFFDF8"/>
          </a:solidFill>
          <a:ln xmlns:a="http://schemas.openxmlformats.org/drawingml/2006/main" w="9525">
            <a:solidFill>
              <a:srgbClr val="2D6F78"/>
            </a:solidFill>
            <a:prstDash val="solid"/>
          </a:ln>
        </p:spPr>
      </p:sp>
      <p:sp>
        <p:nvSpPr>
          <p:cNvPr id="17" name="interpret-bottom-label">
            <a:extLst xmlns:a="http://schemas.openxmlformats.org/drawingml/2006/main">
              <a:ext uri="{FF2B5EF4-FFF2-40B4-BE49-F238E27FC236}">
                <a16:creationId xmlns:a16="http://schemas.microsoft.com/office/drawing/2014/main" id="{2A580A8A-77B8-4C10-8CBC-3CCF2F946871}"/>
              </a:ext>
            </a:extLst>
          </p:cNvPr>
          <p:cNvSpPr>
            <a:spLocks xmlns:a="http://schemas.openxmlformats.org/drawingml/2006/main" noGrp="1"/>
          </p:cNvSpPr>
          <p:nvPr/>
        </p:nvSpPr>
        <p:spPr>
          <a:xfrm xmlns:a="http://schemas.openxmlformats.org/drawingml/2006/main">
            <a:off x="952500" y="48958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8" name="interpret-bottom-copy">
            <a:extLst xmlns:a="http://schemas.openxmlformats.org/drawingml/2006/main">
              <a:ext uri="{FF2B5EF4-FFF2-40B4-BE49-F238E27FC236}">
                <a16:creationId xmlns:a16="http://schemas.microsoft.com/office/drawing/2014/main" id="{70AF013F-16BA-4D9F-B794-416CF1D2656E}"/>
              </a:ext>
            </a:extLst>
          </p:cNvPr>
          <p:cNvSpPr>
            <a:spLocks xmlns:a="http://schemas.openxmlformats.org/drawingml/2006/main" noGrp="1"/>
          </p:cNvSpPr>
          <p:nvPr/>
        </p:nvSpPr>
        <p:spPr>
          <a:xfrm xmlns:a="http://schemas.openxmlformats.org/drawingml/2006/main">
            <a:off x="952500" y="4867275"/>
            <a:ext cx="962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D2A34"/>
                </a:solidFill>
                <a:latin typeface="Aptos"/>
                <a:ea typeface="Aptos"/>
                <a:cs typeface="Aptos"/>
              </a:defRPr>
            </a:pPr>
            <a:r>
              <a:rPr sz="1350" b="1">
                <a:solidFill>
                  <a:srgbClr val="1D2A34"/>
                </a:solidFill>
                <a:latin typeface="Aptos"/>
                <a:ea typeface="Aptos"/>
                <a:cs typeface="Aptos"/>
              </a:rPr>
              <a:t>This uncertainty is a property of the available evidence—not a software defect.</a:t>
            </a:r>
          </a:p>
        </p:txBody>
      </p:sp>
      <p:sp>
        <p:nvSpPr>
          <p:cNvPr id="19" name="footer-label">
            <a:extLst xmlns:a="http://schemas.openxmlformats.org/drawingml/2006/main">
              <a:ext uri="{FF2B5EF4-FFF2-40B4-BE49-F238E27FC236}">
                <a16:creationId xmlns:a16="http://schemas.microsoft.com/office/drawing/2014/main" id="{20639113-D3DB-4C45-952D-2917C0A9E4A4}"/>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11 / 15</a:t>
            </a:r>
          </a:p>
        </p:txBody>
      </p:sp>
      <p:sp>
        <p:nvSpPr>
          <p:cNvPr id="20" name="footer-number">
            <a:extLst xmlns:a="http://schemas.openxmlformats.org/drawingml/2006/main">
              <a:ext uri="{FF2B5EF4-FFF2-40B4-BE49-F238E27FC236}">
                <a16:creationId xmlns:a16="http://schemas.microsoft.com/office/drawing/2014/main" id="{27207BE0-4703-4B4B-A101-8E4FCBD69651}"/>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1400629257"/>
      </p:ext>
    </p:extLst>
  </p:cSld>
</p:sld>
</file>

<file path=ppt/slides/slide2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90B210A8-EC82-4375-9409-C6640D319FC0}"/>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EFFICIENCY TRADE-OFF  ·  12 / 15</a:t>
            </a:r>
          </a:p>
        </p:txBody>
      </p:sp>
      <p:sp>
        <p:nvSpPr>
          <p:cNvPr id="2" name="kicker-rule">
            <a:extLst xmlns:a="http://schemas.openxmlformats.org/drawingml/2006/main">
              <a:ext uri="{FF2B5EF4-FFF2-40B4-BE49-F238E27FC236}">
                <a16:creationId xmlns:a16="http://schemas.microsoft.com/office/drawing/2014/main" id="{E2D23F0B-65BF-4208-A23B-0E5C331E2BAF}"/>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E76C356C-05E4-49C7-B057-87ACD744E76C}"/>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Hybrid adds retrieval time; local generation still dominates.</a:t>
            </a:r>
          </a:p>
        </p:txBody>
      </p:sp>
      <p:sp>
        <p:nvSpPr>
          <p:cNvPr id="4" name="eff-head-1">
            <a:extLst xmlns:a="http://schemas.openxmlformats.org/drawingml/2006/main">
              <a:ext uri="{FF2B5EF4-FFF2-40B4-BE49-F238E27FC236}">
                <a16:creationId xmlns:a16="http://schemas.microsoft.com/office/drawing/2014/main" id="{D7E910A5-F99F-477C-A34F-FA3A98505733}"/>
              </a:ext>
            </a:extLst>
          </p:cNvPr>
          <p:cNvSpPr>
            <a:spLocks xmlns:a="http://schemas.openxmlformats.org/drawingml/2006/main" noGrp="1"/>
          </p:cNvSpPr>
          <p:nvPr/>
        </p:nvSpPr>
        <p:spPr>
          <a:xfrm xmlns:a="http://schemas.openxmlformats.org/drawingml/2006/main">
            <a:off x="781050" y="1809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Measure</a:t>
            </a:r>
          </a:p>
        </p:txBody>
      </p:sp>
      <p:sp>
        <p:nvSpPr>
          <p:cNvPr id="5" name="eff-head-2">
            <a:extLst xmlns:a="http://schemas.openxmlformats.org/drawingml/2006/main">
              <a:ext uri="{FF2B5EF4-FFF2-40B4-BE49-F238E27FC236}">
                <a16:creationId xmlns:a16="http://schemas.microsoft.com/office/drawing/2014/main" id="{1B74F29A-2B3B-4367-8280-E77ED14809A8}"/>
              </a:ext>
            </a:extLst>
          </p:cNvPr>
          <p:cNvSpPr>
            <a:spLocks xmlns:a="http://schemas.openxmlformats.org/drawingml/2006/main" noGrp="1"/>
          </p:cNvSpPr>
          <p:nvPr/>
        </p:nvSpPr>
        <p:spPr>
          <a:xfrm xmlns:a="http://schemas.openxmlformats.org/drawingml/2006/main">
            <a:off x="4095750" y="1809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2D6F78"/>
                </a:solidFill>
                <a:latin typeface="Aptos"/>
                <a:ea typeface="Aptos"/>
                <a:cs typeface="Aptos"/>
              </a:defRPr>
            </a:pPr>
            <a:r>
              <a:rPr sz="1050" b="1">
                <a:solidFill>
                  <a:srgbClr val="2D6F78"/>
                </a:solidFill>
                <a:latin typeface="Aptos"/>
                <a:ea typeface="Aptos"/>
                <a:cs typeface="Aptos"/>
              </a:rPr>
              <a:t>VECTOR</a:t>
            </a:r>
          </a:p>
        </p:txBody>
      </p:sp>
      <p:sp>
        <p:nvSpPr>
          <p:cNvPr id="6" name="eff-head-3">
            <a:extLst xmlns:a="http://schemas.openxmlformats.org/drawingml/2006/main">
              <a:ext uri="{FF2B5EF4-FFF2-40B4-BE49-F238E27FC236}">
                <a16:creationId xmlns:a16="http://schemas.microsoft.com/office/drawing/2014/main" id="{3D940328-8823-4A56-8058-45FC411B9799}"/>
              </a:ext>
            </a:extLst>
          </p:cNvPr>
          <p:cNvSpPr>
            <a:spLocks xmlns:a="http://schemas.openxmlformats.org/drawingml/2006/main" noGrp="1"/>
          </p:cNvSpPr>
          <p:nvPr/>
        </p:nvSpPr>
        <p:spPr>
          <a:xfrm xmlns:a="http://schemas.openxmlformats.org/drawingml/2006/main">
            <a:off x="6191250" y="1809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2D6F78"/>
                </a:solidFill>
                <a:latin typeface="Aptos"/>
                <a:ea typeface="Aptos"/>
                <a:cs typeface="Aptos"/>
              </a:defRPr>
            </a:pPr>
            <a:r>
              <a:rPr sz="1050" b="1">
                <a:solidFill>
                  <a:srgbClr val="2D6F78"/>
                </a:solidFill>
                <a:latin typeface="Aptos"/>
                <a:ea typeface="Aptos"/>
                <a:cs typeface="Aptos"/>
              </a:rPr>
              <a:t>HYBRID</a:t>
            </a:r>
          </a:p>
        </p:txBody>
      </p:sp>
      <p:sp>
        <p:nvSpPr>
          <p:cNvPr id="7" name="eff-head-4">
            <a:extLst xmlns:a="http://schemas.openxmlformats.org/drawingml/2006/main">
              <a:ext uri="{FF2B5EF4-FFF2-40B4-BE49-F238E27FC236}">
                <a16:creationId xmlns:a16="http://schemas.microsoft.com/office/drawing/2014/main" id="{A1F6F412-28F9-4C2D-8A86-873F062F4E6F}"/>
              </a:ext>
            </a:extLst>
          </p:cNvPr>
          <p:cNvSpPr>
            <a:spLocks xmlns:a="http://schemas.openxmlformats.org/drawingml/2006/main" noGrp="1"/>
          </p:cNvSpPr>
          <p:nvPr/>
        </p:nvSpPr>
        <p:spPr>
          <a:xfrm xmlns:a="http://schemas.openxmlformats.org/drawingml/2006/main">
            <a:off x="8477250" y="1809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2D6F78"/>
                </a:solidFill>
                <a:latin typeface="Aptos"/>
                <a:ea typeface="Aptos"/>
                <a:cs typeface="Aptos"/>
              </a:defRPr>
            </a:pPr>
            <a:r>
              <a:rPr sz="1050" b="1">
                <a:solidFill>
                  <a:srgbClr val="2D6F78"/>
                </a:solidFill>
                <a:latin typeface="Aptos"/>
                <a:ea typeface="Aptos"/>
                <a:cs typeface="Aptos"/>
              </a:rPr>
              <a:t>DELTA · 95% CI</a:t>
            </a:r>
          </a:p>
        </p:txBody>
      </p:sp>
      <p:sp>
        <p:nvSpPr>
          <p:cNvPr id="8" name="metric-rule-238">
            <a:extLst xmlns:a="http://schemas.openxmlformats.org/drawingml/2006/main">
              <a:ext uri="{FF2B5EF4-FFF2-40B4-BE49-F238E27FC236}">
                <a16:creationId xmlns:a16="http://schemas.microsoft.com/office/drawing/2014/main" id="{02BC5B87-EE98-42DB-B277-8E3304BBC22B}"/>
              </a:ext>
            </a:extLst>
          </p:cNvPr>
          <p:cNvSpPr>
            <a:spLocks xmlns:a="http://schemas.openxmlformats.org/drawingml/2006/main" noGrp="1"/>
          </p:cNvSpPr>
          <p:nvPr/>
        </p:nvSpPr>
        <p:spPr>
          <a:xfrm xmlns:a="http://schemas.openxmlformats.org/drawingml/2006/main">
            <a:off x="685800" y="2190750"/>
            <a:ext cx="1082040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9" name="metric-label-238">
            <a:extLst xmlns:a="http://schemas.openxmlformats.org/drawingml/2006/main">
              <a:ext uri="{FF2B5EF4-FFF2-40B4-BE49-F238E27FC236}">
                <a16:creationId xmlns:a16="http://schemas.microsoft.com/office/drawing/2014/main" id="{9E4925EA-858B-4DEE-942D-E13FE4B7C635}"/>
              </a:ext>
            </a:extLst>
          </p:cNvPr>
          <p:cNvSpPr>
            <a:spLocks xmlns:a="http://schemas.openxmlformats.org/drawingml/2006/main" noGrp="1"/>
          </p:cNvSpPr>
          <p:nvPr/>
        </p:nvSpPr>
        <p:spPr>
          <a:xfrm xmlns:a="http://schemas.openxmlformats.org/drawingml/2006/main">
            <a:off x="781050" y="2266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Retrieval latency</a:t>
            </a:r>
          </a:p>
        </p:txBody>
      </p:sp>
      <p:sp>
        <p:nvSpPr>
          <p:cNvPr id="10" name="metric-vector-238">
            <a:extLst xmlns:a="http://schemas.openxmlformats.org/drawingml/2006/main">
              <a:ext uri="{FF2B5EF4-FFF2-40B4-BE49-F238E27FC236}">
                <a16:creationId xmlns:a16="http://schemas.microsoft.com/office/drawing/2014/main" id="{07AC5C5A-5956-4492-A04D-582FEB8C91A4}"/>
              </a:ext>
            </a:extLst>
          </p:cNvPr>
          <p:cNvSpPr>
            <a:spLocks xmlns:a="http://schemas.openxmlformats.org/drawingml/2006/main" noGrp="1"/>
          </p:cNvSpPr>
          <p:nvPr/>
        </p:nvSpPr>
        <p:spPr>
          <a:xfrm xmlns:a="http://schemas.openxmlformats.org/drawingml/2006/main">
            <a:off x="4095750" y="22669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a:solidFill>
                  <a:srgbClr val="586671"/>
                </a:solidFill>
                <a:latin typeface="Aptos"/>
                <a:ea typeface="Aptos"/>
                <a:cs typeface="Aptos"/>
              </a:defRPr>
            </a:pPr>
            <a:r>
              <a:rPr sz="1350">
                <a:solidFill>
                  <a:srgbClr val="586671"/>
                </a:solidFill>
                <a:latin typeface="Aptos"/>
                <a:ea typeface="Aptos"/>
                <a:cs typeface="Aptos"/>
              </a:rPr>
              <a:t>134 ms</a:t>
            </a:r>
          </a:p>
        </p:txBody>
      </p:sp>
      <p:sp>
        <p:nvSpPr>
          <p:cNvPr id="11" name="metric-hybrid-238">
            <a:extLst xmlns:a="http://schemas.openxmlformats.org/drawingml/2006/main">
              <a:ext uri="{FF2B5EF4-FFF2-40B4-BE49-F238E27FC236}">
                <a16:creationId xmlns:a16="http://schemas.microsoft.com/office/drawing/2014/main" id="{36221BC2-E771-49E5-9608-1F1552065EF1}"/>
              </a:ext>
            </a:extLst>
          </p:cNvPr>
          <p:cNvSpPr>
            <a:spLocks xmlns:a="http://schemas.openxmlformats.org/drawingml/2006/main" noGrp="1"/>
          </p:cNvSpPr>
          <p:nvPr/>
        </p:nvSpPr>
        <p:spPr>
          <a:xfrm xmlns:a="http://schemas.openxmlformats.org/drawingml/2006/main">
            <a:off x="6191250" y="22669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1D2A34"/>
                </a:solidFill>
                <a:latin typeface="Aptos"/>
                <a:ea typeface="Aptos"/>
                <a:cs typeface="Aptos"/>
              </a:defRPr>
            </a:pPr>
            <a:r>
              <a:rPr sz="1350" b="1">
                <a:solidFill>
                  <a:srgbClr val="1D2A34"/>
                </a:solidFill>
                <a:latin typeface="Aptos"/>
                <a:ea typeface="Aptos"/>
                <a:cs typeface="Aptos"/>
              </a:rPr>
              <a:t>371 ms</a:t>
            </a:r>
          </a:p>
        </p:txBody>
      </p:sp>
      <p:sp>
        <p:nvSpPr>
          <p:cNvPr id="12" name="metric-delta-238">
            <a:extLst xmlns:a="http://schemas.openxmlformats.org/drawingml/2006/main">
              <a:ext uri="{FF2B5EF4-FFF2-40B4-BE49-F238E27FC236}">
                <a16:creationId xmlns:a16="http://schemas.microsoft.com/office/drawing/2014/main" id="{64526E83-B889-4E61-8AC2-517FFA6A5C37}"/>
              </a:ext>
            </a:extLst>
          </p:cNvPr>
          <p:cNvSpPr>
            <a:spLocks xmlns:a="http://schemas.openxmlformats.org/drawingml/2006/main" noGrp="1"/>
          </p:cNvSpPr>
          <p:nvPr/>
        </p:nvSpPr>
        <p:spPr>
          <a:xfrm xmlns:a="http://schemas.openxmlformats.org/drawingml/2006/main">
            <a:off x="8477250" y="2266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B65C3C"/>
                </a:solidFill>
                <a:latin typeface="Aptos"/>
                <a:ea typeface="Aptos"/>
                <a:cs typeface="Aptos"/>
              </a:defRPr>
            </a:pPr>
            <a:r>
              <a:rPr sz="1350" b="1">
                <a:solidFill>
                  <a:srgbClr val="B65C3C"/>
                </a:solidFill>
                <a:latin typeface="Aptos"/>
                <a:ea typeface="Aptos"/>
                <a:cs typeface="Aptos"/>
              </a:rPr>
              <a:t>+237 ms  ·  [208, 266]</a:t>
            </a:r>
          </a:p>
        </p:txBody>
      </p:sp>
      <p:sp>
        <p:nvSpPr>
          <p:cNvPr id="13" name="metric-rule-302">
            <a:extLst xmlns:a="http://schemas.openxmlformats.org/drawingml/2006/main">
              <a:ext uri="{FF2B5EF4-FFF2-40B4-BE49-F238E27FC236}">
                <a16:creationId xmlns:a16="http://schemas.microsoft.com/office/drawing/2014/main" id="{0968F184-0A2A-4B93-9CA3-2135C41E950C}"/>
              </a:ext>
            </a:extLst>
          </p:cNvPr>
          <p:cNvSpPr>
            <a:spLocks xmlns:a="http://schemas.openxmlformats.org/drawingml/2006/main" noGrp="1"/>
          </p:cNvSpPr>
          <p:nvPr/>
        </p:nvSpPr>
        <p:spPr>
          <a:xfrm xmlns:a="http://schemas.openxmlformats.org/drawingml/2006/main">
            <a:off x="685800" y="2800350"/>
            <a:ext cx="1082040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14" name="metric-label-302">
            <a:extLst xmlns:a="http://schemas.openxmlformats.org/drawingml/2006/main">
              <a:ext uri="{FF2B5EF4-FFF2-40B4-BE49-F238E27FC236}">
                <a16:creationId xmlns:a16="http://schemas.microsoft.com/office/drawing/2014/main" id="{19B08426-4117-458D-BA50-F9AB224AB0B6}"/>
              </a:ext>
            </a:extLst>
          </p:cNvPr>
          <p:cNvSpPr>
            <a:spLocks xmlns:a="http://schemas.openxmlformats.org/drawingml/2006/main" noGrp="1"/>
          </p:cNvSpPr>
          <p:nvPr/>
        </p:nvSpPr>
        <p:spPr>
          <a:xfrm xmlns:a="http://schemas.openxmlformats.org/drawingml/2006/main">
            <a:off x="781050" y="28765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Generation latency</a:t>
            </a:r>
          </a:p>
        </p:txBody>
      </p:sp>
      <p:sp>
        <p:nvSpPr>
          <p:cNvPr id="15" name="metric-vector-302">
            <a:extLst xmlns:a="http://schemas.openxmlformats.org/drawingml/2006/main">
              <a:ext uri="{FF2B5EF4-FFF2-40B4-BE49-F238E27FC236}">
                <a16:creationId xmlns:a16="http://schemas.microsoft.com/office/drawing/2014/main" id="{FBCFDDC2-9299-4B68-8560-E1858ACD8393}"/>
              </a:ext>
            </a:extLst>
          </p:cNvPr>
          <p:cNvSpPr>
            <a:spLocks xmlns:a="http://schemas.openxmlformats.org/drawingml/2006/main" noGrp="1"/>
          </p:cNvSpPr>
          <p:nvPr/>
        </p:nvSpPr>
        <p:spPr>
          <a:xfrm xmlns:a="http://schemas.openxmlformats.org/drawingml/2006/main">
            <a:off x="4095750" y="28765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a:solidFill>
                  <a:srgbClr val="586671"/>
                </a:solidFill>
                <a:latin typeface="Aptos"/>
                <a:ea typeface="Aptos"/>
                <a:cs typeface="Aptos"/>
              </a:defRPr>
            </a:pPr>
            <a:r>
              <a:rPr sz="1350">
                <a:solidFill>
                  <a:srgbClr val="586671"/>
                </a:solidFill>
                <a:latin typeface="Aptos"/>
                <a:ea typeface="Aptos"/>
                <a:cs typeface="Aptos"/>
              </a:rPr>
              <a:t>96.8 s</a:t>
            </a:r>
          </a:p>
        </p:txBody>
      </p:sp>
      <p:sp>
        <p:nvSpPr>
          <p:cNvPr id="16" name="metric-hybrid-302">
            <a:extLst xmlns:a="http://schemas.openxmlformats.org/drawingml/2006/main">
              <a:ext uri="{FF2B5EF4-FFF2-40B4-BE49-F238E27FC236}">
                <a16:creationId xmlns:a16="http://schemas.microsoft.com/office/drawing/2014/main" id="{AE0DF2D2-8CC1-4DFB-9907-3FFEACDEFDF4}"/>
              </a:ext>
            </a:extLst>
          </p:cNvPr>
          <p:cNvSpPr>
            <a:spLocks xmlns:a="http://schemas.openxmlformats.org/drawingml/2006/main" noGrp="1"/>
          </p:cNvSpPr>
          <p:nvPr/>
        </p:nvSpPr>
        <p:spPr>
          <a:xfrm xmlns:a="http://schemas.openxmlformats.org/drawingml/2006/main">
            <a:off x="6191250" y="28765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1D2A34"/>
                </a:solidFill>
                <a:latin typeface="Aptos"/>
                <a:ea typeface="Aptos"/>
                <a:cs typeface="Aptos"/>
              </a:defRPr>
            </a:pPr>
            <a:r>
              <a:rPr sz="1350" b="1">
                <a:solidFill>
                  <a:srgbClr val="1D2A34"/>
                </a:solidFill>
                <a:latin typeface="Aptos"/>
                <a:ea typeface="Aptos"/>
                <a:cs typeface="Aptos"/>
              </a:rPr>
              <a:t>87.3 s</a:t>
            </a:r>
          </a:p>
        </p:txBody>
      </p:sp>
      <p:sp>
        <p:nvSpPr>
          <p:cNvPr id="17" name="metric-delta-302">
            <a:extLst xmlns:a="http://schemas.openxmlformats.org/drawingml/2006/main">
              <a:ext uri="{FF2B5EF4-FFF2-40B4-BE49-F238E27FC236}">
                <a16:creationId xmlns:a16="http://schemas.microsoft.com/office/drawing/2014/main" id="{68BF71F8-965E-47D0-9905-8E9A9907E825}"/>
              </a:ext>
            </a:extLst>
          </p:cNvPr>
          <p:cNvSpPr>
            <a:spLocks xmlns:a="http://schemas.openxmlformats.org/drawingml/2006/main" noGrp="1"/>
          </p:cNvSpPr>
          <p:nvPr/>
        </p:nvSpPr>
        <p:spPr>
          <a:xfrm xmlns:a="http://schemas.openxmlformats.org/drawingml/2006/main">
            <a:off x="8477250" y="28765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586671"/>
                </a:solidFill>
                <a:latin typeface="Aptos"/>
                <a:ea typeface="Aptos"/>
                <a:cs typeface="Aptos"/>
              </a:defRPr>
            </a:pPr>
            <a:r>
              <a:rPr sz="1350" b="1">
                <a:solidFill>
                  <a:srgbClr val="586671"/>
                </a:solidFill>
                <a:latin typeface="Aptos"/>
                <a:ea typeface="Aptos"/>
                <a:cs typeface="Aptos"/>
              </a:rPr>
              <a:t>−9.5 s  ·  [-23.0, 1.4]</a:t>
            </a:r>
          </a:p>
        </p:txBody>
      </p:sp>
      <p:sp>
        <p:nvSpPr>
          <p:cNvPr id="18" name="metric-rule-366">
            <a:extLst xmlns:a="http://schemas.openxmlformats.org/drawingml/2006/main">
              <a:ext uri="{FF2B5EF4-FFF2-40B4-BE49-F238E27FC236}">
                <a16:creationId xmlns:a16="http://schemas.microsoft.com/office/drawing/2014/main" id="{55614EB7-5440-4F98-93A6-3923652D1B6F}"/>
              </a:ext>
            </a:extLst>
          </p:cNvPr>
          <p:cNvSpPr>
            <a:spLocks xmlns:a="http://schemas.openxmlformats.org/drawingml/2006/main" noGrp="1"/>
          </p:cNvSpPr>
          <p:nvPr/>
        </p:nvSpPr>
        <p:spPr>
          <a:xfrm xmlns:a="http://schemas.openxmlformats.org/drawingml/2006/main">
            <a:off x="685800" y="3409950"/>
            <a:ext cx="1082040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19" name="metric-label-366">
            <a:extLst xmlns:a="http://schemas.openxmlformats.org/drawingml/2006/main">
              <a:ext uri="{FF2B5EF4-FFF2-40B4-BE49-F238E27FC236}">
                <a16:creationId xmlns:a16="http://schemas.microsoft.com/office/drawing/2014/main" id="{C61DC3A4-66AA-4100-BF73-05A405135A3B}"/>
              </a:ext>
            </a:extLst>
          </p:cNvPr>
          <p:cNvSpPr>
            <a:spLocks xmlns:a="http://schemas.openxmlformats.org/drawingml/2006/main" noGrp="1"/>
          </p:cNvSpPr>
          <p:nvPr/>
        </p:nvSpPr>
        <p:spPr>
          <a:xfrm xmlns:a="http://schemas.openxmlformats.org/drawingml/2006/main">
            <a:off x="781050" y="34861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Prompt tokens</a:t>
            </a:r>
          </a:p>
        </p:txBody>
      </p:sp>
      <p:sp>
        <p:nvSpPr>
          <p:cNvPr id="20" name="metric-vector-366">
            <a:extLst xmlns:a="http://schemas.openxmlformats.org/drawingml/2006/main">
              <a:ext uri="{FF2B5EF4-FFF2-40B4-BE49-F238E27FC236}">
                <a16:creationId xmlns:a16="http://schemas.microsoft.com/office/drawing/2014/main" id="{906CD160-D132-4398-BEC8-CB7A15150127}"/>
              </a:ext>
            </a:extLst>
          </p:cNvPr>
          <p:cNvSpPr>
            <a:spLocks xmlns:a="http://schemas.openxmlformats.org/drawingml/2006/main" noGrp="1"/>
          </p:cNvSpPr>
          <p:nvPr/>
        </p:nvSpPr>
        <p:spPr>
          <a:xfrm xmlns:a="http://schemas.openxmlformats.org/drawingml/2006/main">
            <a:off x="4095750" y="34861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a:solidFill>
                  <a:srgbClr val="586671"/>
                </a:solidFill>
                <a:latin typeface="Aptos"/>
                <a:ea typeface="Aptos"/>
                <a:cs typeface="Aptos"/>
              </a:defRPr>
            </a:pPr>
            <a:r>
              <a:rPr sz="1350">
                <a:solidFill>
                  <a:srgbClr val="586671"/>
                </a:solidFill>
                <a:latin typeface="Aptos"/>
                <a:ea typeface="Aptos"/>
                <a:cs typeface="Aptos"/>
              </a:rPr>
              <a:t>1,841</a:t>
            </a:r>
          </a:p>
        </p:txBody>
      </p:sp>
      <p:sp>
        <p:nvSpPr>
          <p:cNvPr id="21" name="metric-hybrid-366">
            <a:extLst xmlns:a="http://schemas.openxmlformats.org/drawingml/2006/main">
              <a:ext uri="{FF2B5EF4-FFF2-40B4-BE49-F238E27FC236}">
                <a16:creationId xmlns:a16="http://schemas.microsoft.com/office/drawing/2014/main" id="{BFCF32AB-30C7-48B9-B7D6-9ABA3FFB8385}"/>
              </a:ext>
            </a:extLst>
          </p:cNvPr>
          <p:cNvSpPr>
            <a:spLocks xmlns:a="http://schemas.openxmlformats.org/drawingml/2006/main" noGrp="1"/>
          </p:cNvSpPr>
          <p:nvPr/>
        </p:nvSpPr>
        <p:spPr>
          <a:xfrm xmlns:a="http://schemas.openxmlformats.org/drawingml/2006/main">
            <a:off x="6191250" y="34861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1D2A34"/>
                </a:solidFill>
                <a:latin typeface="Aptos"/>
                <a:ea typeface="Aptos"/>
                <a:cs typeface="Aptos"/>
              </a:defRPr>
            </a:pPr>
            <a:r>
              <a:rPr sz="1350" b="1">
                <a:solidFill>
                  <a:srgbClr val="1D2A34"/>
                </a:solidFill>
                <a:latin typeface="Aptos"/>
                <a:ea typeface="Aptos"/>
                <a:cs typeface="Aptos"/>
              </a:rPr>
              <a:t>1,740</a:t>
            </a:r>
          </a:p>
        </p:txBody>
      </p:sp>
      <p:sp>
        <p:nvSpPr>
          <p:cNvPr id="22" name="metric-delta-366">
            <a:extLst xmlns:a="http://schemas.openxmlformats.org/drawingml/2006/main">
              <a:ext uri="{FF2B5EF4-FFF2-40B4-BE49-F238E27FC236}">
                <a16:creationId xmlns:a16="http://schemas.microsoft.com/office/drawing/2014/main" id="{1882841A-F4D2-4D53-83DF-CA24087B96DE}"/>
              </a:ext>
            </a:extLst>
          </p:cNvPr>
          <p:cNvSpPr>
            <a:spLocks xmlns:a="http://schemas.openxmlformats.org/drawingml/2006/main" noGrp="1"/>
          </p:cNvSpPr>
          <p:nvPr/>
        </p:nvSpPr>
        <p:spPr>
          <a:xfrm xmlns:a="http://schemas.openxmlformats.org/drawingml/2006/main">
            <a:off x="8477250" y="34861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586671"/>
                </a:solidFill>
                <a:latin typeface="Aptos"/>
                <a:ea typeface="Aptos"/>
                <a:cs typeface="Aptos"/>
              </a:defRPr>
            </a:pPr>
            <a:r>
              <a:rPr sz="1350" b="1">
                <a:solidFill>
                  <a:srgbClr val="586671"/>
                </a:solidFill>
                <a:latin typeface="Aptos"/>
                <a:ea typeface="Aptos"/>
                <a:cs typeface="Aptos"/>
              </a:rPr>
              <a:t>−101  ·  [-282, 77]</a:t>
            </a:r>
          </a:p>
        </p:txBody>
      </p:sp>
      <p:sp>
        <p:nvSpPr>
          <p:cNvPr id="23" name="metric-rule-430">
            <a:extLst xmlns:a="http://schemas.openxmlformats.org/drawingml/2006/main">
              <a:ext uri="{FF2B5EF4-FFF2-40B4-BE49-F238E27FC236}">
                <a16:creationId xmlns:a16="http://schemas.microsoft.com/office/drawing/2014/main" id="{4070F38F-ABC3-40EB-AA63-7ED5837EFC90}"/>
              </a:ext>
            </a:extLst>
          </p:cNvPr>
          <p:cNvSpPr>
            <a:spLocks xmlns:a="http://schemas.openxmlformats.org/drawingml/2006/main" noGrp="1"/>
          </p:cNvSpPr>
          <p:nvPr/>
        </p:nvSpPr>
        <p:spPr>
          <a:xfrm xmlns:a="http://schemas.openxmlformats.org/drawingml/2006/main">
            <a:off x="685800" y="4019550"/>
            <a:ext cx="1082040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24" name="metric-label-430">
            <a:extLst xmlns:a="http://schemas.openxmlformats.org/drawingml/2006/main">
              <a:ext uri="{FF2B5EF4-FFF2-40B4-BE49-F238E27FC236}">
                <a16:creationId xmlns:a16="http://schemas.microsoft.com/office/drawing/2014/main" id="{040AC8FB-3007-43AE-B516-3638D82EC700}"/>
              </a:ext>
            </a:extLst>
          </p:cNvPr>
          <p:cNvSpPr>
            <a:spLocks xmlns:a="http://schemas.openxmlformats.org/drawingml/2006/main" noGrp="1"/>
          </p:cNvSpPr>
          <p:nvPr/>
        </p:nvSpPr>
        <p:spPr>
          <a:xfrm xmlns:a="http://schemas.openxmlformats.org/drawingml/2006/main">
            <a:off x="781050" y="4095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Completion tokens</a:t>
            </a:r>
          </a:p>
        </p:txBody>
      </p:sp>
      <p:sp>
        <p:nvSpPr>
          <p:cNvPr id="25" name="metric-vector-430">
            <a:extLst xmlns:a="http://schemas.openxmlformats.org/drawingml/2006/main">
              <a:ext uri="{FF2B5EF4-FFF2-40B4-BE49-F238E27FC236}">
                <a16:creationId xmlns:a16="http://schemas.microsoft.com/office/drawing/2014/main" id="{101ECAE6-060A-437B-AA8D-EE2E829C2875}"/>
              </a:ext>
            </a:extLst>
          </p:cNvPr>
          <p:cNvSpPr>
            <a:spLocks xmlns:a="http://schemas.openxmlformats.org/drawingml/2006/main" noGrp="1"/>
          </p:cNvSpPr>
          <p:nvPr/>
        </p:nvSpPr>
        <p:spPr>
          <a:xfrm xmlns:a="http://schemas.openxmlformats.org/drawingml/2006/main">
            <a:off x="4095750" y="40957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a:solidFill>
                  <a:srgbClr val="586671"/>
                </a:solidFill>
                <a:latin typeface="Aptos"/>
                <a:ea typeface="Aptos"/>
                <a:cs typeface="Aptos"/>
              </a:defRPr>
            </a:pPr>
            <a:r>
              <a:rPr sz="1350">
                <a:solidFill>
                  <a:srgbClr val="586671"/>
                </a:solidFill>
                <a:latin typeface="Aptos"/>
                <a:ea typeface="Aptos"/>
                <a:cs typeface="Aptos"/>
              </a:rPr>
              <a:t>934</a:t>
            </a:r>
          </a:p>
        </p:txBody>
      </p:sp>
      <p:sp>
        <p:nvSpPr>
          <p:cNvPr id="26" name="metric-hybrid-430">
            <a:extLst xmlns:a="http://schemas.openxmlformats.org/drawingml/2006/main">
              <a:ext uri="{FF2B5EF4-FFF2-40B4-BE49-F238E27FC236}">
                <a16:creationId xmlns:a16="http://schemas.microsoft.com/office/drawing/2014/main" id="{AB6ECF8F-D1E9-4704-B0CC-49666F6B5269}"/>
              </a:ext>
            </a:extLst>
          </p:cNvPr>
          <p:cNvSpPr>
            <a:spLocks xmlns:a="http://schemas.openxmlformats.org/drawingml/2006/main" noGrp="1"/>
          </p:cNvSpPr>
          <p:nvPr/>
        </p:nvSpPr>
        <p:spPr>
          <a:xfrm xmlns:a="http://schemas.openxmlformats.org/drawingml/2006/main">
            <a:off x="6191250" y="40957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1D2A34"/>
                </a:solidFill>
                <a:latin typeface="Aptos"/>
                <a:ea typeface="Aptos"/>
                <a:cs typeface="Aptos"/>
              </a:defRPr>
            </a:pPr>
            <a:r>
              <a:rPr sz="1350" b="1">
                <a:solidFill>
                  <a:srgbClr val="1D2A34"/>
                </a:solidFill>
                <a:latin typeface="Aptos"/>
                <a:ea typeface="Aptos"/>
                <a:cs typeface="Aptos"/>
              </a:rPr>
              <a:t>834</a:t>
            </a:r>
          </a:p>
        </p:txBody>
      </p:sp>
      <p:sp>
        <p:nvSpPr>
          <p:cNvPr id="27" name="metric-delta-430">
            <a:extLst xmlns:a="http://schemas.openxmlformats.org/drawingml/2006/main">
              <a:ext uri="{FF2B5EF4-FFF2-40B4-BE49-F238E27FC236}">
                <a16:creationId xmlns:a16="http://schemas.microsoft.com/office/drawing/2014/main" id="{F137405E-5890-486D-9DAA-1F7AF2AAE8BD}"/>
              </a:ext>
            </a:extLst>
          </p:cNvPr>
          <p:cNvSpPr>
            <a:spLocks xmlns:a="http://schemas.openxmlformats.org/drawingml/2006/main" noGrp="1"/>
          </p:cNvSpPr>
          <p:nvPr/>
        </p:nvSpPr>
        <p:spPr>
          <a:xfrm xmlns:a="http://schemas.openxmlformats.org/drawingml/2006/main">
            <a:off x="8477250" y="4095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586671"/>
                </a:solidFill>
                <a:latin typeface="Aptos"/>
                <a:ea typeface="Aptos"/>
                <a:cs typeface="Aptos"/>
              </a:defRPr>
            </a:pPr>
            <a:r>
              <a:rPr sz="1350" b="1">
                <a:solidFill>
                  <a:srgbClr val="586671"/>
                </a:solidFill>
                <a:latin typeface="Aptos"/>
                <a:ea typeface="Aptos"/>
                <a:cs typeface="Aptos"/>
              </a:rPr>
              <a:t>−100  ·  [-259, 30]</a:t>
            </a:r>
          </a:p>
        </p:txBody>
      </p:sp>
      <p:sp>
        <p:nvSpPr>
          <p:cNvPr id="28" name="eff-callout">
            <a:extLst xmlns:a="http://schemas.openxmlformats.org/drawingml/2006/main">
              <a:ext uri="{FF2B5EF4-FFF2-40B4-BE49-F238E27FC236}">
                <a16:creationId xmlns:a16="http://schemas.microsoft.com/office/drawing/2014/main" id="{7E373EFD-D0F1-456E-8CD7-441D40A46733}"/>
              </a:ext>
            </a:extLst>
          </p:cNvPr>
          <p:cNvSpPr>
            <a:spLocks xmlns:a="http://schemas.openxmlformats.org/drawingml/2006/main" noGrp="1"/>
          </p:cNvSpPr>
          <p:nvPr/>
        </p:nvSpPr>
        <p:spPr>
          <a:xfrm xmlns:a="http://schemas.openxmlformats.org/drawingml/2006/main">
            <a:off x="685800" y="4953000"/>
            <a:ext cx="101727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29" name="eff-callout-label">
            <a:extLst xmlns:a="http://schemas.openxmlformats.org/drawingml/2006/main">
              <a:ext uri="{FF2B5EF4-FFF2-40B4-BE49-F238E27FC236}">
                <a16:creationId xmlns:a16="http://schemas.microsoft.com/office/drawing/2014/main" id="{A1D4360A-34E5-4D38-93BD-73E859AD1569}"/>
              </a:ext>
            </a:extLst>
          </p:cNvPr>
          <p:cNvSpPr>
            <a:spLocks xmlns:a="http://schemas.openxmlformats.org/drawingml/2006/main" noGrp="1"/>
          </p:cNvSpPr>
          <p:nvPr/>
        </p:nvSpPr>
        <p:spPr>
          <a:xfrm xmlns:a="http://schemas.openxmlformats.org/drawingml/2006/main">
            <a:off x="952500" y="50863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30" name="eff-callout-copy">
            <a:extLst xmlns:a="http://schemas.openxmlformats.org/drawingml/2006/main">
              <a:ext uri="{FF2B5EF4-FFF2-40B4-BE49-F238E27FC236}">
                <a16:creationId xmlns:a16="http://schemas.microsoft.com/office/drawing/2014/main" id="{A4D32966-C4F2-4E9F-9B7A-24E2F565CE02}"/>
              </a:ext>
            </a:extLst>
          </p:cNvPr>
          <p:cNvSpPr>
            <a:spLocks xmlns:a="http://schemas.openxmlformats.org/drawingml/2006/main" noGrp="1"/>
          </p:cNvSpPr>
          <p:nvPr/>
        </p:nvSpPr>
        <p:spPr>
          <a:xfrm xmlns:a="http://schemas.openxmlformats.org/drawingml/2006/main">
            <a:off x="952500" y="5057775"/>
            <a:ext cx="962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Retrieval overhead is supported; token and generation reductions are observations whose intervals include zero.</a:t>
            </a:r>
          </a:p>
        </p:txBody>
      </p:sp>
      <p:sp>
        <p:nvSpPr>
          <p:cNvPr id="31" name="footer-label">
            <a:extLst xmlns:a="http://schemas.openxmlformats.org/drawingml/2006/main">
              <a:ext uri="{FF2B5EF4-FFF2-40B4-BE49-F238E27FC236}">
                <a16:creationId xmlns:a16="http://schemas.microsoft.com/office/drawing/2014/main" id="{9A008286-6865-4220-A004-633376950858}"/>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12 / 15</a:t>
            </a:r>
          </a:p>
        </p:txBody>
      </p:sp>
      <p:sp>
        <p:nvSpPr>
          <p:cNvPr id="32" name="footer-number">
            <a:extLst xmlns:a="http://schemas.openxmlformats.org/drawingml/2006/main">
              <a:ext uri="{FF2B5EF4-FFF2-40B4-BE49-F238E27FC236}">
                <a16:creationId xmlns:a16="http://schemas.microsoft.com/office/drawing/2014/main" id="{A4BCF63C-4216-4C8B-B43E-C54010116F4E}"/>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1481719017"/>
      </p:ext>
    </p:extLst>
  </p:cSld>
</p:sld>
</file>

<file path=ppt/slides/slide2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29" name="kicker">
            <a:extLst xmlns:a="http://schemas.openxmlformats.org/drawingml/2006/main">
              <a:ext uri="{FF2B5EF4-FFF2-40B4-BE49-F238E27FC236}">
                <a16:creationId xmlns:a16="http://schemas.microsoft.com/office/drawing/2014/main" id="{498E2C5B-EA08-4D7D-BCFB-10BC2277792E}"/>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LIVE DEMO  ·  13 / 15</a:t>
            </a:r>
          </a:p>
        </p:txBody>
      </p:sp>
      <p:sp>
        <p:nvSpPr>
          <p:cNvPr id="2" name="kicker-rule">
            <a:extLst xmlns:a="http://schemas.openxmlformats.org/drawingml/2006/main">
              <a:ext uri="{FF2B5EF4-FFF2-40B4-BE49-F238E27FC236}">
                <a16:creationId xmlns:a16="http://schemas.microsoft.com/office/drawing/2014/main" id="{292154CE-2A21-4EDE-9D37-3B04641EC61B}"/>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9A4056B9-9F88-4D78-B785-C0F619678487}"/>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The demo exposes one claim, mechanism and failure boundary.</a:t>
            </a:r>
          </a:p>
        </p:txBody>
      </p:sp>
      <p:sp>
        <p:nvSpPr>
          <p:cNvPr id="4" name="demo-num-0">
            <a:extLst xmlns:a="http://schemas.openxmlformats.org/drawingml/2006/main">
              <a:ext uri="{FF2B5EF4-FFF2-40B4-BE49-F238E27FC236}">
                <a16:creationId xmlns:a16="http://schemas.microsoft.com/office/drawing/2014/main" id="{52042936-1F5A-49B5-8692-664F47AA29F6}"/>
              </a:ext>
            </a:extLst>
          </p:cNvPr>
          <p:cNvSpPr>
            <a:spLocks xmlns:a="http://schemas.openxmlformats.org/drawingml/2006/main" noGrp="1"/>
          </p:cNvSpPr>
          <p:nvPr/>
        </p:nvSpPr>
        <p:spPr>
          <a:xfrm xmlns:a="http://schemas.openxmlformats.org/drawingml/2006/main">
            <a:off x="800100" y="17907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B65C3C"/>
                </a:solidFill>
                <a:latin typeface="Aptos"/>
                <a:ea typeface="Aptos"/>
                <a:cs typeface="Aptos"/>
              </a:defRPr>
            </a:pPr>
            <a:r>
              <a:rPr sz="1500" b="1">
                <a:solidFill>
                  <a:srgbClr val="B65C3C"/>
                </a:solidFill>
                <a:latin typeface="Aptos"/>
                <a:ea typeface="Aptos"/>
                <a:cs typeface="Aptos"/>
              </a:rPr>
              <a:t>01</a:t>
            </a:r>
          </a:p>
        </p:txBody>
      </p:sp>
      <p:sp>
        <p:nvSpPr>
          <p:cNvPr id="5" name="demo-action-0">
            <a:extLst xmlns:a="http://schemas.openxmlformats.org/drawingml/2006/main">
              <a:ext uri="{FF2B5EF4-FFF2-40B4-BE49-F238E27FC236}">
                <a16:creationId xmlns:a16="http://schemas.microsoft.com/office/drawing/2014/main" id="{604B8CA2-971A-45F1-B042-0B5191CFB90D}"/>
              </a:ext>
            </a:extLst>
          </p:cNvPr>
          <p:cNvSpPr>
            <a:spLocks xmlns:a="http://schemas.openxmlformats.org/drawingml/2006/main" noGrp="1"/>
          </p:cNvSpPr>
          <p:nvPr/>
        </p:nvSpPr>
        <p:spPr>
          <a:xfrm xmlns:a="http://schemas.openxmlformats.org/drawingml/2006/main">
            <a:off x="1619250" y="17907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D2A34"/>
                </a:solidFill>
                <a:latin typeface="Aptos"/>
                <a:ea typeface="Aptos"/>
                <a:cs typeface="Aptos"/>
              </a:defRPr>
            </a:pPr>
            <a:r>
              <a:rPr sz="1425" b="1">
                <a:solidFill>
                  <a:srgbClr val="1D2A34"/>
                </a:solidFill>
                <a:latin typeface="Aptos"/>
                <a:ea typeface="Aptos"/>
                <a:cs typeface="Aptos"/>
              </a:rPr>
              <a:t>Check services</a:t>
            </a:r>
          </a:p>
        </p:txBody>
      </p:sp>
      <p:sp>
        <p:nvSpPr>
          <p:cNvPr id="6" name="demo-proof-0">
            <a:extLst xmlns:a="http://schemas.openxmlformats.org/drawingml/2006/main">
              <a:ext uri="{FF2B5EF4-FFF2-40B4-BE49-F238E27FC236}">
                <a16:creationId xmlns:a16="http://schemas.microsoft.com/office/drawing/2014/main" id="{9F383DD0-2F65-4321-8EE0-3821B0A6156B}"/>
              </a:ext>
            </a:extLst>
          </p:cNvPr>
          <p:cNvSpPr>
            <a:spLocks xmlns:a="http://schemas.openxmlformats.org/drawingml/2006/main" noGrp="1"/>
          </p:cNvSpPr>
          <p:nvPr/>
        </p:nvSpPr>
        <p:spPr>
          <a:xfrm xmlns:a="http://schemas.openxmlformats.org/drawingml/2006/main">
            <a:off x="5524500" y="17907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FalkorDB · Qdrant · Ollama</a:t>
            </a:r>
          </a:p>
        </p:txBody>
      </p:sp>
      <p:sp>
        <p:nvSpPr>
          <p:cNvPr id="7" name="demo-rule-0">
            <a:extLst xmlns:a="http://schemas.openxmlformats.org/drawingml/2006/main">
              <a:ext uri="{FF2B5EF4-FFF2-40B4-BE49-F238E27FC236}">
                <a16:creationId xmlns:a16="http://schemas.microsoft.com/office/drawing/2014/main" id="{8F3C6708-2FF9-4C68-B96E-4AEEBEE775C8}"/>
              </a:ext>
            </a:extLst>
          </p:cNvPr>
          <p:cNvSpPr>
            <a:spLocks xmlns:a="http://schemas.openxmlformats.org/drawingml/2006/main" noGrp="1"/>
          </p:cNvSpPr>
          <p:nvPr/>
        </p:nvSpPr>
        <p:spPr>
          <a:xfrm xmlns:a="http://schemas.openxmlformats.org/drawingml/2006/main">
            <a:off x="685800" y="2219325"/>
            <a:ext cx="1017270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8" name="demo-num-1">
            <a:extLst xmlns:a="http://schemas.openxmlformats.org/drawingml/2006/main">
              <a:ext uri="{FF2B5EF4-FFF2-40B4-BE49-F238E27FC236}">
                <a16:creationId xmlns:a16="http://schemas.microsoft.com/office/drawing/2014/main" id="{FFA98108-F99C-4C5A-A94B-4530045C04BC}"/>
              </a:ext>
            </a:extLst>
          </p:cNvPr>
          <p:cNvSpPr>
            <a:spLocks xmlns:a="http://schemas.openxmlformats.org/drawingml/2006/main" noGrp="1"/>
          </p:cNvSpPr>
          <p:nvPr/>
        </p:nvSpPr>
        <p:spPr>
          <a:xfrm xmlns:a="http://schemas.openxmlformats.org/drawingml/2006/main">
            <a:off x="800100" y="24384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B65C3C"/>
                </a:solidFill>
                <a:latin typeface="Aptos"/>
                <a:ea typeface="Aptos"/>
                <a:cs typeface="Aptos"/>
              </a:defRPr>
            </a:pPr>
            <a:r>
              <a:rPr sz="1500" b="1">
                <a:solidFill>
                  <a:srgbClr val="B65C3C"/>
                </a:solidFill>
                <a:latin typeface="Aptos"/>
                <a:ea typeface="Aptos"/>
                <a:cs typeface="Aptos"/>
              </a:rPr>
              <a:t>02</a:t>
            </a:r>
          </a:p>
        </p:txBody>
      </p:sp>
      <p:sp>
        <p:nvSpPr>
          <p:cNvPr id="9" name="demo-action-1">
            <a:extLst xmlns:a="http://schemas.openxmlformats.org/drawingml/2006/main">
              <a:ext uri="{FF2B5EF4-FFF2-40B4-BE49-F238E27FC236}">
                <a16:creationId xmlns:a16="http://schemas.microsoft.com/office/drawing/2014/main" id="{E15AA671-5B43-4704-8C39-88C0211A0E3E}"/>
              </a:ext>
            </a:extLst>
          </p:cNvPr>
          <p:cNvSpPr>
            <a:spLocks xmlns:a="http://schemas.openxmlformats.org/drawingml/2006/main" noGrp="1"/>
          </p:cNvSpPr>
          <p:nvPr/>
        </p:nvSpPr>
        <p:spPr>
          <a:xfrm xmlns:a="http://schemas.openxmlformats.org/drawingml/2006/main">
            <a:off x="1619250" y="24384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D2A34"/>
                </a:solidFill>
                <a:latin typeface="Aptos"/>
                <a:ea typeface="Aptos"/>
                <a:cs typeface="Aptos"/>
              </a:defRPr>
            </a:pPr>
            <a:r>
              <a:rPr sz="1425" b="1">
                <a:solidFill>
                  <a:srgbClr val="1D2A34"/>
                </a:solidFill>
                <a:latin typeface="Aptos"/>
                <a:ea typeface="Aptos"/>
                <a:cs typeface="Aptos"/>
              </a:rPr>
              <a:t>Ask one relation question</a:t>
            </a:r>
          </a:p>
        </p:txBody>
      </p:sp>
      <p:sp>
        <p:nvSpPr>
          <p:cNvPr id="10" name="demo-proof-1">
            <a:extLst xmlns:a="http://schemas.openxmlformats.org/drawingml/2006/main">
              <a:ext uri="{FF2B5EF4-FFF2-40B4-BE49-F238E27FC236}">
                <a16:creationId xmlns:a16="http://schemas.microsoft.com/office/drawing/2014/main" id="{FCBA8A4D-6C3B-44B0-9D56-7E661CA4013B}"/>
              </a:ext>
            </a:extLst>
          </p:cNvPr>
          <p:cNvSpPr>
            <a:spLocks xmlns:a="http://schemas.openxmlformats.org/drawingml/2006/main" noGrp="1"/>
          </p:cNvSpPr>
          <p:nvPr/>
        </p:nvSpPr>
        <p:spPr>
          <a:xfrm xmlns:a="http://schemas.openxmlformats.org/drawingml/2006/main">
            <a:off x="5524500" y="24384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BaseRetriever.retrieve sequence</a:t>
            </a:r>
          </a:p>
        </p:txBody>
      </p:sp>
      <p:sp>
        <p:nvSpPr>
          <p:cNvPr id="11" name="demo-rule-1">
            <a:extLst xmlns:a="http://schemas.openxmlformats.org/drawingml/2006/main">
              <a:ext uri="{FF2B5EF4-FFF2-40B4-BE49-F238E27FC236}">
                <a16:creationId xmlns:a16="http://schemas.microsoft.com/office/drawing/2014/main" id="{272C6F8A-5F49-455C-B245-464C7E1ADF30}"/>
              </a:ext>
            </a:extLst>
          </p:cNvPr>
          <p:cNvSpPr>
            <a:spLocks xmlns:a="http://schemas.openxmlformats.org/drawingml/2006/main" noGrp="1"/>
          </p:cNvSpPr>
          <p:nvPr/>
        </p:nvSpPr>
        <p:spPr>
          <a:xfrm xmlns:a="http://schemas.openxmlformats.org/drawingml/2006/main">
            <a:off x="685800" y="2867025"/>
            <a:ext cx="1017270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12" name="demo-num-2">
            <a:extLst xmlns:a="http://schemas.openxmlformats.org/drawingml/2006/main">
              <a:ext uri="{FF2B5EF4-FFF2-40B4-BE49-F238E27FC236}">
                <a16:creationId xmlns:a16="http://schemas.microsoft.com/office/drawing/2014/main" id="{0A0EAC86-E0B3-4E7D-8B32-00C9A9B271A2}"/>
              </a:ext>
            </a:extLst>
          </p:cNvPr>
          <p:cNvSpPr>
            <a:spLocks xmlns:a="http://schemas.openxmlformats.org/drawingml/2006/main" noGrp="1"/>
          </p:cNvSpPr>
          <p:nvPr/>
        </p:nvSpPr>
        <p:spPr>
          <a:xfrm xmlns:a="http://schemas.openxmlformats.org/drawingml/2006/main">
            <a:off x="800100" y="30861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B65C3C"/>
                </a:solidFill>
                <a:latin typeface="Aptos"/>
                <a:ea typeface="Aptos"/>
                <a:cs typeface="Aptos"/>
              </a:defRPr>
            </a:pPr>
            <a:r>
              <a:rPr sz="1500" b="1">
                <a:solidFill>
                  <a:srgbClr val="B65C3C"/>
                </a:solidFill>
                <a:latin typeface="Aptos"/>
                <a:ea typeface="Aptos"/>
                <a:cs typeface="Aptos"/>
              </a:rPr>
              <a:t>03</a:t>
            </a:r>
          </a:p>
        </p:txBody>
      </p:sp>
      <p:sp>
        <p:nvSpPr>
          <p:cNvPr id="13" name="demo-action-2">
            <a:extLst xmlns:a="http://schemas.openxmlformats.org/drawingml/2006/main">
              <a:ext uri="{FF2B5EF4-FFF2-40B4-BE49-F238E27FC236}">
                <a16:creationId xmlns:a16="http://schemas.microsoft.com/office/drawing/2014/main" id="{F67ED4D0-10A1-49C9-9155-E92E0ECA960E}"/>
              </a:ext>
            </a:extLst>
          </p:cNvPr>
          <p:cNvSpPr>
            <a:spLocks xmlns:a="http://schemas.openxmlformats.org/drawingml/2006/main" noGrp="1"/>
          </p:cNvSpPr>
          <p:nvPr/>
        </p:nvSpPr>
        <p:spPr>
          <a:xfrm xmlns:a="http://schemas.openxmlformats.org/drawingml/2006/main">
            <a:off x="1619250" y="30861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D2A34"/>
                </a:solidFill>
                <a:latin typeface="Aptos"/>
                <a:ea typeface="Aptos"/>
                <a:cs typeface="Aptos"/>
              </a:defRPr>
            </a:pPr>
            <a:r>
              <a:rPr sz="1425" b="1">
                <a:solidFill>
                  <a:srgbClr val="1D2A34"/>
                </a:solidFill>
                <a:latin typeface="Aptos"/>
                <a:ea typeface="Aptos"/>
                <a:cs typeface="Aptos"/>
              </a:rPr>
              <a:t>Inspect retrieval evidence</a:t>
            </a:r>
          </a:p>
        </p:txBody>
      </p:sp>
      <p:sp>
        <p:nvSpPr>
          <p:cNvPr id="14" name="demo-proof-2">
            <a:extLst xmlns:a="http://schemas.openxmlformats.org/drawingml/2006/main">
              <a:ext uri="{FF2B5EF4-FFF2-40B4-BE49-F238E27FC236}">
                <a16:creationId xmlns:a16="http://schemas.microsoft.com/office/drawing/2014/main" id="{E8564183-6FD4-476D-B84C-AD24A63C2138}"/>
              </a:ext>
            </a:extLst>
          </p:cNvPr>
          <p:cNvSpPr>
            <a:spLocks xmlns:a="http://schemas.openxmlformats.org/drawingml/2006/main" noGrp="1"/>
          </p:cNvSpPr>
          <p:nvPr/>
        </p:nvSpPr>
        <p:spPr>
          <a:xfrm xmlns:a="http://schemas.openxmlformats.org/drawingml/2006/main">
            <a:off x="5524500" y="30861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graph · vector · RRF</a:t>
            </a:r>
          </a:p>
        </p:txBody>
      </p:sp>
      <p:sp>
        <p:nvSpPr>
          <p:cNvPr id="15" name="demo-rule-2">
            <a:extLst xmlns:a="http://schemas.openxmlformats.org/drawingml/2006/main">
              <a:ext uri="{FF2B5EF4-FFF2-40B4-BE49-F238E27FC236}">
                <a16:creationId xmlns:a16="http://schemas.microsoft.com/office/drawing/2014/main" id="{BE01058B-61FE-486E-8CD7-ABC4FAC9DA63}"/>
              </a:ext>
            </a:extLst>
          </p:cNvPr>
          <p:cNvSpPr>
            <a:spLocks xmlns:a="http://schemas.openxmlformats.org/drawingml/2006/main" noGrp="1"/>
          </p:cNvSpPr>
          <p:nvPr/>
        </p:nvSpPr>
        <p:spPr>
          <a:xfrm xmlns:a="http://schemas.openxmlformats.org/drawingml/2006/main">
            <a:off x="685800" y="3514725"/>
            <a:ext cx="1017270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16" name="demo-num-3">
            <a:extLst xmlns:a="http://schemas.openxmlformats.org/drawingml/2006/main">
              <a:ext uri="{FF2B5EF4-FFF2-40B4-BE49-F238E27FC236}">
                <a16:creationId xmlns:a16="http://schemas.microsoft.com/office/drawing/2014/main" id="{EBE07F2D-5D5A-4F49-B0C9-CE737A2F7481}"/>
              </a:ext>
            </a:extLst>
          </p:cNvPr>
          <p:cNvSpPr>
            <a:spLocks xmlns:a="http://schemas.openxmlformats.org/drawingml/2006/main" noGrp="1"/>
          </p:cNvSpPr>
          <p:nvPr/>
        </p:nvSpPr>
        <p:spPr>
          <a:xfrm xmlns:a="http://schemas.openxmlformats.org/drawingml/2006/main">
            <a:off x="800100" y="37338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B65C3C"/>
                </a:solidFill>
                <a:latin typeface="Aptos"/>
                <a:ea typeface="Aptos"/>
                <a:cs typeface="Aptos"/>
              </a:defRPr>
            </a:pPr>
            <a:r>
              <a:rPr sz="1500" b="1">
                <a:solidFill>
                  <a:srgbClr val="B65C3C"/>
                </a:solidFill>
                <a:latin typeface="Aptos"/>
                <a:ea typeface="Aptos"/>
                <a:cs typeface="Aptos"/>
              </a:rPr>
              <a:t>04</a:t>
            </a:r>
          </a:p>
        </p:txBody>
      </p:sp>
      <p:sp>
        <p:nvSpPr>
          <p:cNvPr id="17" name="demo-action-3">
            <a:extLst xmlns:a="http://schemas.openxmlformats.org/drawingml/2006/main">
              <a:ext uri="{FF2B5EF4-FFF2-40B4-BE49-F238E27FC236}">
                <a16:creationId xmlns:a16="http://schemas.microsoft.com/office/drawing/2014/main" id="{D77CA801-3916-4DE2-9510-CB9656B54E64}"/>
              </a:ext>
            </a:extLst>
          </p:cNvPr>
          <p:cNvSpPr>
            <a:spLocks xmlns:a="http://schemas.openxmlformats.org/drawingml/2006/main" noGrp="1"/>
          </p:cNvSpPr>
          <p:nvPr/>
        </p:nvSpPr>
        <p:spPr>
          <a:xfrm xmlns:a="http://schemas.openxmlformats.org/drawingml/2006/main">
            <a:off x="1619250" y="37338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D2A34"/>
                </a:solidFill>
                <a:latin typeface="Aptos"/>
                <a:ea typeface="Aptos"/>
                <a:cs typeface="Aptos"/>
              </a:defRPr>
            </a:pPr>
            <a:r>
              <a:rPr sz="1425" b="1">
                <a:solidFill>
                  <a:srgbClr val="1D2A34"/>
                </a:solidFill>
                <a:latin typeface="Aptos"/>
                <a:ea typeface="Aptos"/>
                <a:cs typeface="Aptos"/>
              </a:rPr>
              <a:t>Inspect answer + sources</a:t>
            </a:r>
          </a:p>
        </p:txBody>
      </p:sp>
      <p:sp>
        <p:nvSpPr>
          <p:cNvPr id="18" name="demo-proof-3">
            <a:extLst xmlns:a="http://schemas.openxmlformats.org/drawingml/2006/main">
              <a:ext uri="{FF2B5EF4-FFF2-40B4-BE49-F238E27FC236}">
                <a16:creationId xmlns:a16="http://schemas.microsoft.com/office/drawing/2014/main" id="{2335F835-1BAE-4650-86FA-0B85A454EC6C}"/>
              </a:ext>
            </a:extLst>
          </p:cNvPr>
          <p:cNvSpPr>
            <a:spLocks xmlns:a="http://schemas.openxmlformats.org/drawingml/2006/main" noGrp="1"/>
          </p:cNvSpPr>
          <p:nvPr/>
        </p:nvSpPr>
        <p:spPr>
          <a:xfrm xmlns:a="http://schemas.openxmlformats.org/drawingml/2006/main">
            <a:off x="5524500" y="37338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POST /query · five context items</a:t>
            </a:r>
          </a:p>
        </p:txBody>
      </p:sp>
      <p:sp>
        <p:nvSpPr>
          <p:cNvPr id="19" name="demo-rule-3">
            <a:extLst xmlns:a="http://schemas.openxmlformats.org/drawingml/2006/main">
              <a:ext uri="{FF2B5EF4-FFF2-40B4-BE49-F238E27FC236}">
                <a16:creationId xmlns:a16="http://schemas.microsoft.com/office/drawing/2014/main" id="{95E9187C-BCD2-4CF9-B3DC-7259C5023C16}"/>
              </a:ext>
            </a:extLst>
          </p:cNvPr>
          <p:cNvSpPr>
            <a:spLocks xmlns:a="http://schemas.openxmlformats.org/drawingml/2006/main" noGrp="1"/>
          </p:cNvSpPr>
          <p:nvPr/>
        </p:nvSpPr>
        <p:spPr>
          <a:xfrm xmlns:a="http://schemas.openxmlformats.org/drawingml/2006/main">
            <a:off x="685800" y="4162425"/>
            <a:ext cx="1017270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20" name="demo-num-4">
            <a:extLst xmlns:a="http://schemas.openxmlformats.org/drawingml/2006/main">
              <a:ext uri="{FF2B5EF4-FFF2-40B4-BE49-F238E27FC236}">
                <a16:creationId xmlns:a16="http://schemas.microsoft.com/office/drawing/2014/main" id="{1B2C29CA-8BD1-43F1-90C6-0FD29D451E85}"/>
              </a:ext>
            </a:extLst>
          </p:cNvPr>
          <p:cNvSpPr>
            <a:spLocks xmlns:a="http://schemas.openxmlformats.org/drawingml/2006/main" noGrp="1"/>
          </p:cNvSpPr>
          <p:nvPr/>
        </p:nvSpPr>
        <p:spPr>
          <a:xfrm xmlns:a="http://schemas.openxmlformats.org/drawingml/2006/main">
            <a:off x="800100" y="43815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B65C3C"/>
                </a:solidFill>
                <a:latin typeface="Aptos"/>
                <a:ea typeface="Aptos"/>
                <a:cs typeface="Aptos"/>
              </a:defRPr>
            </a:pPr>
            <a:r>
              <a:rPr sz="1500" b="1">
                <a:solidFill>
                  <a:srgbClr val="B65C3C"/>
                </a:solidFill>
                <a:latin typeface="Aptos"/>
                <a:ea typeface="Aptos"/>
                <a:cs typeface="Aptos"/>
              </a:rPr>
              <a:t>05</a:t>
            </a:r>
          </a:p>
        </p:txBody>
      </p:sp>
      <p:sp>
        <p:nvSpPr>
          <p:cNvPr id="21" name="demo-action-4">
            <a:extLst xmlns:a="http://schemas.openxmlformats.org/drawingml/2006/main">
              <a:ext uri="{FF2B5EF4-FFF2-40B4-BE49-F238E27FC236}">
                <a16:creationId xmlns:a16="http://schemas.microsoft.com/office/drawing/2014/main" id="{0B20C0D4-CC94-4E3F-8826-36AA46B2E566}"/>
              </a:ext>
            </a:extLst>
          </p:cNvPr>
          <p:cNvSpPr>
            <a:spLocks xmlns:a="http://schemas.openxmlformats.org/drawingml/2006/main" noGrp="1"/>
          </p:cNvSpPr>
          <p:nvPr/>
        </p:nvSpPr>
        <p:spPr>
          <a:xfrm xmlns:a="http://schemas.openxmlformats.org/drawingml/2006/main">
            <a:off x="1619250" y="4381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D2A34"/>
                </a:solidFill>
                <a:latin typeface="Aptos"/>
                <a:ea typeface="Aptos"/>
                <a:cs typeface="Aptos"/>
              </a:defRPr>
            </a:pPr>
            <a:r>
              <a:rPr sz="1425" b="1">
                <a:solidFill>
                  <a:srgbClr val="1D2A34"/>
                </a:solidFill>
                <a:latin typeface="Aptos"/>
                <a:ea typeface="Aptos"/>
                <a:cs typeface="Aptos"/>
              </a:rPr>
              <a:t>Attempt Java indexing</a:t>
            </a:r>
          </a:p>
        </p:txBody>
      </p:sp>
      <p:sp>
        <p:nvSpPr>
          <p:cNvPr id="22" name="demo-proof-4">
            <a:extLst xmlns:a="http://schemas.openxmlformats.org/drawingml/2006/main">
              <a:ext uri="{FF2B5EF4-FFF2-40B4-BE49-F238E27FC236}">
                <a16:creationId xmlns:a16="http://schemas.microsoft.com/office/drawing/2014/main" id="{C2A58E2E-56CB-47D5-AFEB-9EB2E62B0DB5}"/>
              </a:ext>
            </a:extLst>
          </p:cNvPr>
          <p:cNvSpPr>
            <a:spLocks xmlns:a="http://schemas.openxmlformats.org/drawingml/2006/main" noGrp="1"/>
          </p:cNvSpPr>
          <p:nvPr/>
        </p:nvSpPr>
        <p:spPr>
          <a:xfrm xmlns:a="http://schemas.openxmlformats.org/drawingml/2006/main">
            <a:off x="5524500" y="43815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a:solidFill>
                  <a:srgbClr val="586671"/>
                </a:solidFill>
                <a:latin typeface="Aptos"/>
                <a:ea typeface="Aptos"/>
                <a:cs typeface="Aptos"/>
              </a:defRPr>
            </a:pPr>
            <a:r>
              <a:rPr sz="1350">
                <a:solidFill>
                  <a:srgbClr val="586671"/>
                </a:solidFill>
                <a:latin typeface="Aptos"/>
                <a:ea typeface="Aptos"/>
                <a:cs typeface="Aptos"/>
              </a:rPr>
              <a:t>explicit unsupported-language error</a:t>
            </a:r>
          </a:p>
        </p:txBody>
      </p:sp>
      <p:sp>
        <p:nvSpPr>
          <p:cNvPr id="23" name="demo-rule-4">
            <a:extLst xmlns:a="http://schemas.openxmlformats.org/drawingml/2006/main">
              <a:ext uri="{FF2B5EF4-FFF2-40B4-BE49-F238E27FC236}">
                <a16:creationId xmlns:a16="http://schemas.microsoft.com/office/drawing/2014/main" id="{38014C4D-F1ED-419A-BE8E-B1758C545350}"/>
              </a:ext>
            </a:extLst>
          </p:cNvPr>
          <p:cNvSpPr>
            <a:spLocks xmlns:a="http://schemas.openxmlformats.org/drawingml/2006/main" noGrp="1"/>
          </p:cNvSpPr>
          <p:nvPr/>
        </p:nvSpPr>
        <p:spPr>
          <a:xfrm xmlns:a="http://schemas.openxmlformats.org/drawingml/2006/main">
            <a:off x="685800" y="4810125"/>
            <a:ext cx="1017270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24" name="demo-callout">
            <a:extLst xmlns:a="http://schemas.openxmlformats.org/drawingml/2006/main">
              <a:ext uri="{FF2B5EF4-FFF2-40B4-BE49-F238E27FC236}">
                <a16:creationId xmlns:a16="http://schemas.microsoft.com/office/drawing/2014/main" id="{A09E9DC4-9C95-4856-BF5A-0409FDD2FE8A}"/>
              </a:ext>
            </a:extLst>
          </p:cNvPr>
          <p:cNvSpPr>
            <a:spLocks xmlns:a="http://schemas.openxmlformats.org/drawingml/2006/main" noGrp="1"/>
          </p:cNvSpPr>
          <p:nvPr/>
        </p:nvSpPr>
        <p:spPr>
          <a:xfrm xmlns:a="http://schemas.openxmlformats.org/drawingml/2006/main">
            <a:off x="685800" y="5219700"/>
            <a:ext cx="10172700" cy="514350"/>
          </a:xfrm>
          <a:prstGeom xmlns:a="http://schemas.openxmlformats.org/drawingml/2006/main" prst="roundRect">
            <a:avLst>
              <a:gd name="adj" fmla="val 14815"/>
            </a:avLst>
          </a:prstGeom>
          <a:solidFill xmlns:a="http://schemas.openxmlformats.org/drawingml/2006/main">
            <a:srgbClr val="FFFDF8"/>
          </a:solidFill>
          <a:ln xmlns:a="http://schemas.openxmlformats.org/drawingml/2006/main" w="9525">
            <a:solidFill>
              <a:srgbClr val="2D6F78"/>
            </a:solidFill>
            <a:prstDash val="solid"/>
          </a:ln>
        </p:spPr>
      </p:sp>
      <p:sp>
        <p:nvSpPr>
          <p:cNvPr id="25" name="demo-callout-label">
            <a:extLst xmlns:a="http://schemas.openxmlformats.org/drawingml/2006/main">
              <a:ext uri="{FF2B5EF4-FFF2-40B4-BE49-F238E27FC236}">
                <a16:creationId xmlns:a16="http://schemas.microsoft.com/office/drawing/2014/main" id="{74335BE9-0784-45ED-810B-463FFBB3D777}"/>
              </a:ext>
            </a:extLst>
          </p:cNvPr>
          <p:cNvSpPr>
            <a:spLocks xmlns:a="http://schemas.openxmlformats.org/drawingml/2006/main" noGrp="1"/>
          </p:cNvSpPr>
          <p:nvPr/>
        </p:nvSpPr>
        <p:spPr>
          <a:xfrm xmlns:a="http://schemas.openxmlformats.org/drawingml/2006/main">
            <a:off x="952500" y="53530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26" name="demo-callout-copy">
            <a:extLst xmlns:a="http://schemas.openxmlformats.org/drawingml/2006/main">
              <a:ext uri="{FF2B5EF4-FFF2-40B4-BE49-F238E27FC236}">
                <a16:creationId xmlns:a16="http://schemas.microsoft.com/office/drawing/2014/main" id="{79836397-8C8A-458C-A842-07361FC63791}"/>
              </a:ext>
            </a:extLst>
          </p:cNvPr>
          <p:cNvSpPr>
            <a:spLocks xmlns:a="http://schemas.openxmlformats.org/drawingml/2006/main" noGrp="1"/>
          </p:cNvSpPr>
          <p:nvPr/>
        </p:nvSpPr>
        <p:spPr>
          <a:xfrm xmlns:a="http://schemas.openxmlformats.org/drawingml/2006/main">
            <a:off x="952500" y="5324475"/>
            <a:ext cx="962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D2A34"/>
                </a:solidFill>
                <a:latin typeface="Aptos"/>
                <a:ea typeface="Aptos"/>
                <a:cs typeface="Aptos"/>
              </a:defRPr>
            </a:pPr>
            <a:r>
              <a:rPr sz="1200" b="1">
                <a:solidFill>
                  <a:srgbClr val="1D2A34"/>
                </a:solidFill>
                <a:latin typeface="Aptos"/>
                <a:ea typeface="Aptos"/>
                <a:cs typeface="Aptos"/>
              </a:rPr>
              <a:t>One successful demo illustrates the mechanism; the benchmark—not the demo—supports the aggregate claim.</a:t>
            </a:r>
          </a:p>
        </p:txBody>
      </p:sp>
      <p:sp>
        <p:nvSpPr>
          <p:cNvPr id="27" name="footer-label">
            <a:extLst xmlns:a="http://schemas.openxmlformats.org/drawingml/2006/main">
              <a:ext uri="{FF2B5EF4-FFF2-40B4-BE49-F238E27FC236}">
                <a16:creationId xmlns:a16="http://schemas.microsoft.com/office/drawing/2014/main" id="{D585ED3F-72C4-4811-846D-BF20937006EE}"/>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13 / 15</a:t>
            </a:r>
          </a:p>
        </p:txBody>
      </p:sp>
      <p:sp>
        <p:nvSpPr>
          <p:cNvPr id="28" name="footer-number">
            <a:extLst xmlns:a="http://schemas.openxmlformats.org/drawingml/2006/main">
              <a:ext uri="{FF2B5EF4-FFF2-40B4-BE49-F238E27FC236}">
                <a16:creationId xmlns:a16="http://schemas.microsoft.com/office/drawing/2014/main" id="{C23FAD10-0C61-4007-8461-42B51278443C}"/>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1701348571"/>
      </p:ext>
    </p:extLst>
  </p:cSld>
</p:sld>
</file>

<file path=ppt/slides/slide2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28" name="kicker">
            <a:extLst xmlns:a="http://schemas.openxmlformats.org/drawingml/2006/main">
              <a:ext uri="{FF2B5EF4-FFF2-40B4-BE49-F238E27FC236}">
                <a16:creationId xmlns:a16="http://schemas.microsoft.com/office/drawing/2014/main" id="{5B37AAAF-9A6C-4749-9885-8EB0CA32315E}"/>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CONTRIBUTION  ·  14 / 15</a:t>
            </a:r>
          </a:p>
        </p:txBody>
      </p:sp>
      <p:sp>
        <p:nvSpPr>
          <p:cNvPr id="2" name="kicker-rule">
            <a:extLst xmlns:a="http://schemas.openxmlformats.org/drawingml/2006/main">
              <a:ext uri="{FF2B5EF4-FFF2-40B4-BE49-F238E27FC236}">
                <a16:creationId xmlns:a16="http://schemas.microsoft.com/office/drawing/2014/main" id="{A15D77AE-7205-4BBB-8DD0-417E76C48EE9}"/>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F13F9DF7-8AE1-41ED-BECB-46528A588123}"/>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The contribution is a trustworthy, auditable retrieval system.</a:t>
            </a:r>
          </a:p>
        </p:txBody>
      </p:sp>
      <p:sp>
        <p:nvSpPr>
          <p:cNvPr id="4" name="running-case-core-14-label">
            <a:extLst xmlns:a="http://schemas.openxmlformats.org/drawingml/2006/main">
              <a:ext uri="{FF2B5EF4-FFF2-40B4-BE49-F238E27FC236}">
                <a16:creationId xmlns:a16="http://schemas.microsoft.com/office/drawing/2014/main" id="{53976EDF-44FD-430C-A7A5-7C143FF398F6}"/>
              </a:ext>
            </a:extLst>
          </p:cNvPr>
          <p:cNvSpPr>
            <a:spLocks xmlns:a="http://schemas.openxmlformats.org/drawingml/2006/main" noGrp="1"/>
          </p:cNvSpPr>
          <p:nvPr/>
        </p:nvSpPr>
        <p:spPr>
          <a:xfrm xmlns:a="http://schemas.openxmlformats.org/drawingml/2006/main">
            <a:off x="685800" y="161925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RUNNING CASE</a:t>
            </a:r>
          </a:p>
        </p:txBody>
      </p:sp>
      <p:sp>
        <p:nvSpPr>
          <p:cNvPr id="5" name="running-case-core-14-query">
            <a:extLst xmlns:a="http://schemas.openxmlformats.org/drawingml/2006/main">
              <a:ext uri="{FF2B5EF4-FFF2-40B4-BE49-F238E27FC236}">
                <a16:creationId xmlns:a16="http://schemas.microsoft.com/office/drawing/2014/main" id="{4AF51A3F-F684-4223-AFDB-CB19063F7FA1}"/>
              </a:ext>
            </a:extLst>
          </p:cNvPr>
          <p:cNvSpPr>
            <a:spLocks xmlns:a="http://schemas.openxmlformats.org/drawingml/2006/main" noGrp="1"/>
          </p:cNvSpPr>
          <p:nvPr/>
        </p:nvSpPr>
        <p:spPr>
          <a:xfrm xmlns:a="http://schemas.openxmlformats.org/drawingml/2006/main">
            <a:off x="2000250" y="1619250"/>
            <a:ext cx="2762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D6F58"/>
                </a:solidFill>
                <a:latin typeface="Aptos Mono"/>
                <a:ea typeface="Aptos Mono"/>
                <a:cs typeface="Aptos Mono"/>
              </a:defRPr>
            </a:pPr>
            <a:r>
              <a:rPr sz="825" b="1">
                <a:solidFill>
                  <a:srgbClr val="3D6F58"/>
                </a:solidFill>
                <a:latin typeface="Aptos Mono"/>
                <a:ea typeface="Aptos Mono"/>
                <a:cs typeface="Aptos Mono"/>
              </a:rPr>
              <a:t>BaseRetriever.retrieve</a:t>
            </a:r>
          </a:p>
        </p:txBody>
      </p:sp>
      <p:sp>
        <p:nvSpPr>
          <p:cNvPr id="6" name="running-case-core-14-stage">
            <a:extLst xmlns:a="http://schemas.openxmlformats.org/drawingml/2006/main">
              <a:ext uri="{FF2B5EF4-FFF2-40B4-BE49-F238E27FC236}">
                <a16:creationId xmlns:a16="http://schemas.microsoft.com/office/drawing/2014/main" id="{4E70EE2A-DD63-4677-81FC-108D0CCC900D}"/>
              </a:ext>
            </a:extLst>
          </p:cNvPr>
          <p:cNvSpPr>
            <a:spLocks xmlns:a="http://schemas.openxmlformats.org/drawingml/2006/main" noGrp="1"/>
          </p:cNvSpPr>
          <p:nvPr/>
        </p:nvSpPr>
        <p:spPr>
          <a:xfrm xmlns:a="http://schemas.openxmlformats.org/drawingml/2006/main">
            <a:off x="4857750" y="1619250"/>
            <a:ext cx="619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B65C3C"/>
                </a:solidFill>
                <a:latin typeface="Aptos"/>
                <a:ea typeface="Aptos"/>
                <a:cs typeface="Aptos"/>
              </a:defRPr>
            </a:pPr>
            <a:r>
              <a:rPr sz="825" b="1">
                <a:solidFill>
                  <a:srgbClr val="B65C3C"/>
                </a:solidFill>
                <a:latin typeface="Aptos"/>
                <a:ea typeface="Aptos"/>
                <a:cs typeface="Aptos"/>
              </a:rPr>
              <a:t>mechanism → auditable system</a:t>
            </a:r>
          </a:p>
        </p:txBody>
      </p:sp>
      <p:sp>
        <p:nvSpPr>
          <p:cNvPr id="7" name="research-contribution">
            <a:extLst xmlns:a="http://schemas.openxmlformats.org/drawingml/2006/main">
              <a:ext uri="{FF2B5EF4-FFF2-40B4-BE49-F238E27FC236}">
                <a16:creationId xmlns:a16="http://schemas.microsoft.com/office/drawing/2014/main" id="{EEBE0FDC-A5E3-43AC-9C57-578A5BB5DABE}"/>
              </a:ext>
            </a:extLst>
          </p:cNvPr>
          <p:cNvSpPr>
            <a:spLocks xmlns:a="http://schemas.openxmlformats.org/drawingml/2006/main" noGrp="1"/>
          </p:cNvSpPr>
          <p:nvPr/>
        </p:nvSpPr>
        <p:spPr>
          <a:xfrm xmlns:a="http://schemas.openxmlformats.org/drawingml/2006/main">
            <a:off x="685800" y="1809750"/>
            <a:ext cx="4857750" cy="3333750"/>
          </a:xfrm>
          <a:prstGeom xmlns:a="http://schemas.openxmlformats.org/drawingml/2006/main" prst="roundRect">
            <a:avLst>
              <a:gd name="adj" fmla="val 3429"/>
            </a:avLst>
          </a:prstGeom>
          <a:solidFill xmlns:a="http://schemas.openxmlformats.org/drawingml/2006/main">
            <a:srgbClr val="FFFDF8"/>
          </a:solidFill>
          <a:ln xmlns:a="http://schemas.openxmlformats.org/drawingml/2006/main" w="9525">
            <a:solidFill>
              <a:srgbClr val="2D6F78"/>
            </a:solidFill>
            <a:prstDash val="solid"/>
          </a:ln>
        </p:spPr>
      </p:sp>
      <p:sp>
        <p:nvSpPr>
          <p:cNvPr id="8" name="research-label">
            <a:extLst xmlns:a="http://schemas.openxmlformats.org/drawingml/2006/main">
              <a:ext uri="{FF2B5EF4-FFF2-40B4-BE49-F238E27FC236}">
                <a16:creationId xmlns:a16="http://schemas.microsoft.com/office/drawing/2014/main" id="{ED9A65BF-9CD4-4D1C-A291-646533BF1F25}"/>
              </a:ext>
            </a:extLst>
          </p:cNvPr>
          <p:cNvSpPr>
            <a:spLocks xmlns:a="http://schemas.openxmlformats.org/drawingml/2006/main" noGrp="1"/>
          </p:cNvSpPr>
          <p:nvPr/>
        </p:nvSpPr>
        <p:spPr>
          <a:xfrm xmlns:a="http://schemas.openxmlformats.org/drawingml/2006/main">
            <a:off x="952500" y="20955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RESEARCH-FACING CONTRIBUTION</a:t>
            </a:r>
          </a:p>
        </p:txBody>
      </p:sp>
      <p:sp>
        <p:nvSpPr>
          <p:cNvPr id="9" name="research-bullet-rule-0">
            <a:extLst xmlns:a="http://schemas.openxmlformats.org/drawingml/2006/main">
              <a:ext uri="{FF2B5EF4-FFF2-40B4-BE49-F238E27FC236}">
                <a16:creationId xmlns:a16="http://schemas.microsoft.com/office/drawing/2014/main" id="{26F8DD09-437C-4979-A50C-D577027BBFCE}"/>
              </a:ext>
            </a:extLst>
          </p:cNvPr>
          <p:cNvSpPr>
            <a:spLocks xmlns:a="http://schemas.openxmlformats.org/drawingml/2006/main" noGrp="1"/>
          </p:cNvSpPr>
          <p:nvPr/>
        </p:nvSpPr>
        <p:spPr>
          <a:xfrm xmlns:a="http://schemas.openxmlformats.org/drawingml/2006/main">
            <a:off x="952500" y="2724150"/>
            <a:ext cx="28575" cy="571500"/>
          </a:xfrm>
          <a:prstGeom xmlns:a="http://schemas.openxmlformats.org/drawingml/2006/main" prst="line">
            <a:avLst/>
          </a:prstGeom>
          <a:noFill xmlns:a="http://schemas.openxmlformats.org/drawingml/2006/main"/>
          <a:ln xmlns:a="http://schemas.openxmlformats.org/drawingml/2006/main" w="28575">
            <a:solidFill>
              <a:srgbClr val="2D6F78"/>
            </a:solidFill>
            <a:prstDash val="solid"/>
          </a:ln>
        </p:spPr>
      </p:sp>
      <p:sp>
        <p:nvSpPr>
          <p:cNvPr id="10" name="research-bullet-0">
            <a:extLst xmlns:a="http://schemas.openxmlformats.org/drawingml/2006/main">
              <a:ext uri="{FF2B5EF4-FFF2-40B4-BE49-F238E27FC236}">
                <a16:creationId xmlns:a16="http://schemas.microsoft.com/office/drawing/2014/main" id="{C8964AAA-0E8B-4E6F-8E36-C6A0FC07BCEB}"/>
              </a:ext>
            </a:extLst>
          </p:cNvPr>
          <p:cNvSpPr>
            <a:spLocks xmlns:a="http://schemas.openxmlformats.org/drawingml/2006/main" noGrp="1"/>
          </p:cNvSpPr>
          <p:nvPr/>
        </p:nvSpPr>
        <p:spPr>
          <a:xfrm xmlns:a="http://schemas.openxmlformats.org/drawingml/2006/main">
            <a:off x="1104900" y="2647950"/>
            <a:ext cx="39433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a:solidFill>
                  <a:srgbClr val="1D2A34"/>
                </a:solidFill>
                <a:latin typeface="Aptos"/>
                <a:ea typeface="Aptos"/>
                <a:cs typeface="Aptos"/>
              </a:defRPr>
            </a:pPr>
            <a:r>
              <a:rPr sz="1500">
                <a:solidFill>
                  <a:srgbClr val="1D2A34"/>
                </a:solidFill>
                <a:latin typeface="Aptos"/>
                <a:ea typeface="Aptos"/>
                <a:cs typeface="Aptos"/>
              </a:rPr>
              <a:t>Query-aware retrieval integration</a:t>
            </a:r>
          </a:p>
        </p:txBody>
      </p:sp>
      <p:sp>
        <p:nvSpPr>
          <p:cNvPr id="11" name="research-bullet-rule-1">
            <a:extLst xmlns:a="http://schemas.openxmlformats.org/drawingml/2006/main">
              <a:ext uri="{FF2B5EF4-FFF2-40B4-BE49-F238E27FC236}">
                <a16:creationId xmlns:a16="http://schemas.microsoft.com/office/drawing/2014/main" id="{6DC8F0BD-249C-46F8-A248-7E80A31E7A8C}"/>
              </a:ext>
            </a:extLst>
          </p:cNvPr>
          <p:cNvSpPr>
            <a:spLocks xmlns:a="http://schemas.openxmlformats.org/drawingml/2006/main" noGrp="1"/>
          </p:cNvSpPr>
          <p:nvPr/>
        </p:nvSpPr>
        <p:spPr>
          <a:xfrm xmlns:a="http://schemas.openxmlformats.org/drawingml/2006/main">
            <a:off x="952500" y="3390900"/>
            <a:ext cx="28575" cy="571500"/>
          </a:xfrm>
          <a:prstGeom xmlns:a="http://schemas.openxmlformats.org/drawingml/2006/main" prst="line">
            <a:avLst/>
          </a:prstGeom>
          <a:noFill xmlns:a="http://schemas.openxmlformats.org/drawingml/2006/main"/>
          <a:ln xmlns:a="http://schemas.openxmlformats.org/drawingml/2006/main" w="28575">
            <a:solidFill>
              <a:srgbClr val="2D6F78"/>
            </a:solidFill>
            <a:prstDash val="solid"/>
          </a:ln>
        </p:spPr>
      </p:sp>
      <p:sp>
        <p:nvSpPr>
          <p:cNvPr id="12" name="research-bullet-1">
            <a:extLst xmlns:a="http://schemas.openxmlformats.org/drawingml/2006/main">
              <a:ext uri="{FF2B5EF4-FFF2-40B4-BE49-F238E27FC236}">
                <a16:creationId xmlns:a16="http://schemas.microsoft.com/office/drawing/2014/main" id="{3A6D2E8B-EFDF-4EBA-B116-FB07F6D67240}"/>
              </a:ext>
            </a:extLst>
          </p:cNvPr>
          <p:cNvSpPr>
            <a:spLocks xmlns:a="http://schemas.openxmlformats.org/drawingml/2006/main" noGrp="1"/>
          </p:cNvSpPr>
          <p:nvPr/>
        </p:nvSpPr>
        <p:spPr>
          <a:xfrm xmlns:a="http://schemas.openxmlformats.org/drawingml/2006/main">
            <a:off x="1104900" y="3314700"/>
            <a:ext cx="39433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a:solidFill>
                  <a:srgbClr val="1D2A34"/>
                </a:solidFill>
                <a:latin typeface="Aptos"/>
                <a:ea typeface="Aptos"/>
                <a:cs typeface="Aptos"/>
              </a:defRPr>
            </a:pPr>
            <a:r>
              <a:rPr sz="1500">
                <a:solidFill>
                  <a:srgbClr val="1D2A34"/>
                </a:solidFill>
                <a:latin typeface="Aptos"/>
                <a:ea typeface="Aptos"/>
                <a:cs typeface="Aptos"/>
              </a:rPr>
              <a:t>Repository-scoped graph + vector evidence</a:t>
            </a:r>
          </a:p>
        </p:txBody>
      </p:sp>
      <p:sp>
        <p:nvSpPr>
          <p:cNvPr id="13" name="research-bullet-rule-2">
            <a:extLst xmlns:a="http://schemas.openxmlformats.org/drawingml/2006/main">
              <a:ext uri="{FF2B5EF4-FFF2-40B4-BE49-F238E27FC236}">
                <a16:creationId xmlns:a16="http://schemas.microsoft.com/office/drawing/2014/main" id="{0FF37194-2991-4F5D-974F-01642E88557E}"/>
              </a:ext>
            </a:extLst>
          </p:cNvPr>
          <p:cNvSpPr>
            <a:spLocks xmlns:a="http://schemas.openxmlformats.org/drawingml/2006/main" noGrp="1"/>
          </p:cNvSpPr>
          <p:nvPr/>
        </p:nvSpPr>
        <p:spPr>
          <a:xfrm xmlns:a="http://schemas.openxmlformats.org/drawingml/2006/main">
            <a:off x="952500" y="4057650"/>
            <a:ext cx="28575" cy="571500"/>
          </a:xfrm>
          <a:prstGeom xmlns:a="http://schemas.openxmlformats.org/drawingml/2006/main" prst="line">
            <a:avLst/>
          </a:prstGeom>
          <a:noFill xmlns:a="http://schemas.openxmlformats.org/drawingml/2006/main"/>
          <a:ln xmlns:a="http://schemas.openxmlformats.org/drawingml/2006/main" w="28575">
            <a:solidFill>
              <a:srgbClr val="2D6F78"/>
            </a:solidFill>
            <a:prstDash val="solid"/>
          </a:ln>
        </p:spPr>
      </p:sp>
      <p:sp>
        <p:nvSpPr>
          <p:cNvPr id="14" name="research-bullet-2">
            <a:extLst xmlns:a="http://schemas.openxmlformats.org/drawingml/2006/main">
              <a:ext uri="{FF2B5EF4-FFF2-40B4-BE49-F238E27FC236}">
                <a16:creationId xmlns:a16="http://schemas.microsoft.com/office/drawing/2014/main" id="{00C93E17-0D99-4F30-875F-88FDA7B51EDC}"/>
              </a:ext>
            </a:extLst>
          </p:cNvPr>
          <p:cNvSpPr>
            <a:spLocks xmlns:a="http://schemas.openxmlformats.org/drawingml/2006/main" noGrp="1"/>
          </p:cNvSpPr>
          <p:nvPr/>
        </p:nvSpPr>
        <p:spPr>
          <a:xfrm xmlns:a="http://schemas.openxmlformats.org/drawingml/2006/main">
            <a:off x="1104900" y="3981450"/>
            <a:ext cx="39433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a:solidFill>
                  <a:srgbClr val="1D2A34"/>
                </a:solidFill>
                <a:latin typeface="Aptos"/>
                <a:ea typeface="Aptos"/>
                <a:cs typeface="Aptos"/>
              </a:defRPr>
            </a:pPr>
            <a:r>
              <a:rPr sz="1500">
                <a:solidFill>
                  <a:srgbClr val="1D2A34"/>
                </a:solidFill>
                <a:latin typeface="Aptos"/>
                <a:ea typeface="Aptos"/>
                <a:cs typeface="Aptos"/>
              </a:rPr>
              <a:t>Provenance-aware evaluation artifacts</a:t>
            </a:r>
          </a:p>
        </p:txBody>
      </p:sp>
      <p:sp>
        <p:nvSpPr>
          <p:cNvPr id="15" name="system-capabilities">
            <a:extLst xmlns:a="http://schemas.openxmlformats.org/drawingml/2006/main">
              <a:ext uri="{FF2B5EF4-FFF2-40B4-BE49-F238E27FC236}">
                <a16:creationId xmlns:a16="http://schemas.microsoft.com/office/drawing/2014/main" id="{0CA51AA8-A278-48DE-8D40-791C783F34D1}"/>
              </a:ext>
            </a:extLst>
          </p:cNvPr>
          <p:cNvSpPr>
            <a:spLocks xmlns:a="http://schemas.openxmlformats.org/drawingml/2006/main" noGrp="1"/>
          </p:cNvSpPr>
          <p:nvPr/>
        </p:nvSpPr>
        <p:spPr>
          <a:xfrm xmlns:a="http://schemas.openxmlformats.org/drawingml/2006/main">
            <a:off x="6000750" y="1809750"/>
            <a:ext cx="4857750" cy="3333750"/>
          </a:xfrm>
          <a:prstGeom xmlns:a="http://schemas.openxmlformats.org/drawingml/2006/main" prst="roundRect">
            <a:avLst>
              <a:gd name="adj" fmla="val 3429"/>
            </a:avLst>
          </a:prstGeom>
          <a:solidFill xmlns:a="http://schemas.openxmlformats.org/drawingml/2006/main">
            <a:srgbClr val="FBFAF7"/>
          </a:solidFill>
          <a:ln xmlns:a="http://schemas.openxmlformats.org/drawingml/2006/main" w="9525">
            <a:solidFill>
              <a:srgbClr val="C9D1D1"/>
            </a:solidFill>
            <a:prstDash val="solid"/>
          </a:ln>
        </p:spPr>
      </p:sp>
      <p:sp>
        <p:nvSpPr>
          <p:cNvPr id="16" name="system-label">
            <a:extLst xmlns:a="http://schemas.openxmlformats.org/drawingml/2006/main">
              <a:ext uri="{FF2B5EF4-FFF2-40B4-BE49-F238E27FC236}">
                <a16:creationId xmlns:a16="http://schemas.microsoft.com/office/drawing/2014/main" id="{D99D38BD-2A64-489A-A206-C0FB80B9D7F9}"/>
              </a:ext>
            </a:extLst>
          </p:cNvPr>
          <p:cNvSpPr>
            <a:spLocks xmlns:a="http://schemas.openxmlformats.org/drawingml/2006/main" noGrp="1"/>
          </p:cNvSpPr>
          <p:nvPr/>
        </p:nvSpPr>
        <p:spPr>
          <a:xfrm xmlns:a="http://schemas.openxmlformats.org/drawingml/2006/main">
            <a:off x="6267450" y="2095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3D6F58"/>
                </a:solidFill>
                <a:latin typeface="Aptos"/>
                <a:ea typeface="Aptos"/>
                <a:cs typeface="Aptos"/>
              </a:defRPr>
            </a:pPr>
            <a:r>
              <a:rPr sz="975" b="1">
                <a:solidFill>
                  <a:srgbClr val="3D6F58"/>
                </a:solidFill>
                <a:latin typeface="Aptos"/>
                <a:ea typeface="Aptos"/>
                <a:cs typeface="Aptos"/>
              </a:rPr>
              <a:t>SYSTEM / ENGINEERING CAPABILITIES</a:t>
            </a:r>
          </a:p>
        </p:txBody>
      </p:sp>
      <p:sp>
        <p:nvSpPr>
          <p:cNvPr id="17" name="system-bullet-rule-0">
            <a:extLst xmlns:a="http://schemas.openxmlformats.org/drawingml/2006/main">
              <a:ext uri="{FF2B5EF4-FFF2-40B4-BE49-F238E27FC236}">
                <a16:creationId xmlns:a16="http://schemas.microsoft.com/office/drawing/2014/main" id="{97B4093A-1D21-4E96-927A-5BC182AE67C7}"/>
              </a:ext>
            </a:extLst>
          </p:cNvPr>
          <p:cNvSpPr>
            <a:spLocks xmlns:a="http://schemas.openxmlformats.org/drawingml/2006/main" noGrp="1"/>
          </p:cNvSpPr>
          <p:nvPr/>
        </p:nvSpPr>
        <p:spPr>
          <a:xfrm xmlns:a="http://schemas.openxmlformats.org/drawingml/2006/main">
            <a:off x="6267450" y="2724150"/>
            <a:ext cx="28575" cy="571500"/>
          </a:xfrm>
          <a:prstGeom xmlns:a="http://schemas.openxmlformats.org/drawingml/2006/main" prst="line">
            <a:avLst/>
          </a:prstGeom>
          <a:noFill xmlns:a="http://schemas.openxmlformats.org/drawingml/2006/main"/>
          <a:ln xmlns:a="http://schemas.openxmlformats.org/drawingml/2006/main" w="28575">
            <a:solidFill>
              <a:srgbClr val="3D6F58"/>
            </a:solidFill>
            <a:prstDash val="solid"/>
          </a:ln>
        </p:spPr>
      </p:sp>
      <p:sp>
        <p:nvSpPr>
          <p:cNvPr id="18" name="system-bullet-0">
            <a:extLst xmlns:a="http://schemas.openxmlformats.org/drawingml/2006/main">
              <a:ext uri="{FF2B5EF4-FFF2-40B4-BE49-F238E27FC236}">
                <a16:creationId xmlns:a16="http://schemas.microsoft.com/office/drawing/2014/main" id="{7B0104E6-94FB-454E-806C-A264F2F960A4}"/>
              </a:ext>
            </a:extLst>
          </p:cNvPr>
          <p:cNvSpPr>
            <a:spLocks xmlns:a="http://schemas.openxmlformats.org/drawingml/2006/main" noGrp="1"/>
          </p:cNvSpPr>
          <p:nvPr/>
        </p:nvSpPr>
        <p:spPr>
          <a:xfrm xmlns:a="http://schemas.openxmlformats.org/drawingml/2006/main">
            <a:off x="6419850" y="2647950"/>
            <a:ext cx="39433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a:solidFill>
                  <a:srgbClr val="1D2A34"/>
                </a:solidFill>
                <a:latin typeface="Aptos"/>
                <a:ea typeface="Aptos"/>
                <a:cs typeface="Aptos"/>
              </a:defRPr>
            </a:pPr>
            <a:r>
              <a:rPr sz="1500">
                <a:solidFill>
                  <a:srgbClr val="1D2A34"/>
                </a:solidFill>
                <a:latin typeface="Aptos"/>
                <a:ea typeface="Aptos"/>
                <a:cs typeface="Aptos"/>
              </a:rPr>
              <a:t>Incremental indexing and bounded concurrency</a:t>
            </a:r>
          </a:p>
        </p:txBody>
      </p:sp>
      <p:sp>
        <p:nvSpPr>
          <p:cNvPr id="19" name="system-bullet-rule-1">
            <a:extLst xmlns:a="http://schemas.openxmlformats.org/drawingml/2006/main">
              <a:ext uri="{FF2B5EF4-FFF2-40B4-BE49-F238E27FC236}">
                <a16:creationId xmlns:a16="http://schemas.microsoft.com/office/drawing/2014/main" id="{0713FAE9-C740-4274-85A7-5FBB8E3732D6}"/>
              </a:ext>
            </a:extLst>
          </p:cNvPr>
          <p:cNvSpPr>
            <a:spLocks xmlns:a="http://schemas.openxmlformats.org/drawingml/2006/main" noGrp="1"/>
          </p:cNvSpPr>
          <p:nvPr/>
        </p:nvSpPr>
        <p:spPr>
          <a:xfrm xmlns:a="http://schemas.openxmlformats.org/drawingml/2006/main">
            <a:off x="6267450" y="3390900"/>
            <a:ext cx="28575" cy="571500"/>
          </a:xfrm>
          <a:prstGeom xmlns:a="http://schemas.openxmlformats.org/drawingml/2006/main" prst="line">
            <a:avLst/>
          </a:prstGeom>
          <a:noFill xmlns:a="http://schemas.openxmlformats.org/drawingml/2006/main"/>
          <a:ln xmlns:a="http://schemas.openxmlformats.org/drawingml/2006/main" w="28575">
            <a:solidFill>
              <a:srgbClr val="3D6F58"/>
            </a:solidFill>
            <a:prstDash val="solid"/>
          </a:ln>
        </p:spPr>
      </p:sp>
      <p:sp>
        <p:nvSpPr>
          <p:cNvPr id="20" name="system-bullet-1">
            <a:extLst xmlns:a="http://schemas.openxmlformats.org/drawingml/2006/main">
              <a:ext uri="{FF2B5EF4-FFF2-40B4-BE49-F238E27FC236}">
                <a16:creationId xmlns:a16="http://schemas.microsoft.com/office/drawing/2014/main" id="{4B478138-E0FD-49C0-B526-56FF81E71329}"/>
              </a:ext>
            </a:extLst>
          </p:cNvPr>
          <p:cNvSpPr>
            <a:spLocks xmlns:a="http://schemas.openxmlformats.org/drawingml/2006/main" noGrp="1"/>
          </p:cNvSpPr>
          <p:nvPr/>
        </p:nvSpPr>
        <p:spPr>
          <a:xfrm xmlns:a="http://schemas.openxmlformats.org/drawingml/2006/main">
            <a:off x="6419850" y="3314700"/>
            <a:ext cx="39433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a:solidFill>
                  <a:srgbClr val="1D2A34"/>
                </a:solidFill>
                <a:latin typeface="Aptos"/>
                <a:ea typeface="Aptos"/>
                <a:cs typeface="Aptos"/>
              </a:defRPr>
            </a:pPr>
            <a:r>
              <a:rPr sz="1500">
                <a:solidFill>
                  <a:srgbClr val="1D2A34"/>
                </a:solidFill>
                <a:latin typeface="Aptos"/>
                <a:ea typeface="Aptos"/>
                <a:cs typeface="Aptos"/>
              </a:rPr>
              <a:t>Community summaries and exploration portal</a:t>
            </a:r>
          </a:p>
        </p:txBody>
      </p:sp>
      <p:sp>
        <p:nvSpPr>
          <p:cNvPr id="21" name="system-bullet-rule-2">
            <a:extLst xmlns:a="http://schemas.openxmlformats.org/drawingml/2006/main">
              <a:ext uri="{FF2B5EF4-FFF2-40B4-BE49-F238E27FC236}">
                <a16:creationId xmlns:a16="http://schemas.microsoft.com/office/drawing/2014/main" id="{04F9A4A5-B216-4FC3-9F82-24803E25AF5D}"/>
              </a:ext>
            </a:extLst>
          </p:cNvPr>
          <p:cNvSpPr>
            <a:spLocks xmlns:a="http://schemas.openxmlformats.org/drawingml/2006/main" noGrp="1"/>
          </p:cNvSpPr>
          <p:nvPr/>
        </p:nvSpPr>
        <p:spPr>
          <a:xfrm xmlns:a="http://schemas.openxmlformats.org/drawingml/2006/main">
            <a:off x="6267450" y="4057650"/>
            <a:ext cx="28575" cy="571500"/>
          </a:xfrm>
          <a:prstGeom xmlns:a="http://schemas.openxmlformats.org/drawingml/2006/main" prst="line">
            <a:avLst/>
          </a:prstGeom>
          <a:noFill xmlns:a="http://schemas.openxmlformats.org/drawingml/2006/main"/>
          <a:ln xmlns:a="http://schemas.openxmlformats.org/drawingml/2006/main" w="28575">
            <a:solidFill>
              <a:srgbClr val="3D6F58"/>
            </a:solidFill>
            <a:prstDash val="solid"/>
          </a:ln>
        </p:spPr>
      </p:sp>
      <p:sp>
        <p:nvSpPr>
          <p:cNvPr id="22" name="system-bullet-2">
            <a:extLst xmlns:a="http://schemas.openxmlformats.org/drawingml/2006/main">
              <a:ext uri="{FF2B5EF4-FFF2-40B4-BE49-F238E27FC236}">
                <a16:creationId xmlns:a16="http://schemas.microsoft.com/office/drawing/2014/main" id="{A46E6BFC-9F70-40EE-AA42-53B43738D818}"/>
              </a:ext>
            </a:extLst>
          </p:cNvPr>
          <p:cNvSpPr>
            <a:spLocks xmlns:a="http://schemas.openxmlformats.org/drawingml/2006/main" noGrp="1"/>
          </p:cNvSpPr>
          <p:nvPr/>
        </p:nvSpPr>
        <p:spPr>
          <a:xfrm xmlns:a="http://schemas.openxmlformats.org/drawingml/2006/main">
            <a:off x="6419850" y="3981450"/>
            <a:ext cx="39433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a:solidFill>
                  <a:srgbClr val="1D2A34"/>
                </a:solidFill>
                <a:latin typeface="Aptos"/>
                <a:ea typeface="Aptos"/>
                <a:cs typeface="Aptos"/>
              </a:defRPr>
            </a:pPr>
            <a:r>
              <a:rPr sz="1500">
                <a:solidFill>
                  <a:srgbClr val="1D2A34"/>
                </a:solidFill>
                <a:latin typeface="Aptos"/>
                <a:ea typeface="Aptos"/>
                <a:cs typeface="Aptos"/>
              </a:rPr>
              <a:t>MCP / Web UI / optional non-code ingestion</a:t>
            </a:r>
          </a:p>
        </p:txBody>
      </p:sp>
      <p:sp>
        <p:nvSpPr>
          <p:cNvPr id="23" name="contribution-bottom">
            <a:extLst xmlns:a="http://schemas.openxmlformats.org/drawingml/2006/main">
              <a:ext uri="{FF2B5EF4-FFF2-40B4-BE49-F238E27FC236}">
                <a16:creationId xmlns:a16="http://schemas.microsoft.com/office/drawing/2014/main" id="{6A14780F-DF81-4534-B65B-FDBE696058D3}"/>
              </a:ext>
            </a:extLst>
          </p:cNvPr>
          <p:cNvSpPr>
            <a:spLocks xmlns:a="http://schemas.openxmlformats.org/drawingml/2006/main" noGrp="1"/>
          </p:cNvSpPr>
          <p:nvPr/>
        </p:nvSpPr>
        <p:spPr>
          <a:xfrm xmlns:a="http://schemas.openxmlformats.org/drawingml/2006/main">
            <a:off x="685800" y="5391150"/>
            <a:ext cx="10172700" cy="514350"/>
          </a:xfrm>
          <a:prstGeom xmlns:a="http://schemas.openxmlformats.org/drawingml/2006/main" prst="roundRect">
            <a:avLst>
              <a:gd name="adj" fmla="val 14815"/>
            </a:avLst>
          </a:prstGeom>
          <a:solidFill xmlns:a="http://schemas.openxmlformats.org/drawingml/2006/main">
            <a:srgbClr val="FFFDF8"/>
          </a:solidFill>
          <a:ln xmlns:a="http://schemas.openxmlformats.org/drawingml/2006/main" w="9525">
            <a:solidFill>
              <a:srgbClr val="2D6F78"/>
            </a:solidFill>
            <a:prstDash val="solid"/>
          </a:ln>
        </p:spPr>
      </p:sp>
      <p:sp>
        <p:nvSpPr>
          <p:cNvPr id="24" name="contribution-bottom-label">
            <a:extLst xmlns:a="http://schemas.openxmlformats.org/drawingml/2006/main">
              <a:ext uri="{FF2B5EF4-FFF2-40B4-BE49-F238E27FC236}">
                <a16:creationId xmlns:a16="http://schemas.microsoft.com/office/drawing/2014/main" id="{ADEA41D2-44A2-41AB-80A5-F798CCE88DF8}"/>
              </a:ext>
            </a:extLst>
          </p:cNvPr>
          <p:cNvSpPr>
            <a:spLocks xmlns:a="http://schemas.openxmlformats.org/drawingml/2006/main" noGrp="1"/>
          </p:cNvSpPr>
          <p:nvPr/>
        </p:nvSpPr>
        <p:spPr>
          <a:xfrm xmlns:a="http://schemas.openxmlformats.org/drawingml/2006/main">
            <a:off x="952500" y="55245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25" name="contribution-bottom-copy">
            <a:extLst xmlns:a="http://schemas.openxmlformats.org/drawingml/2006/main">
              <a:ext uri="{FF2B5EF4-FFF2-40B4-BE49-F238E27FC236}">
                <a16:creationId xmlns:a16="http://schemas.microsoft.com/office/drawing/2014/main" id="{0E68819B-6D2A-41C9-B6E2-E3B80D7DD6CC}"/>
              </a:ext>
            </a:extLst>
          </p:cNvPr>
          <p:cNvSpPr>
            <a:spLocks xmlns:a="http://schemas.openxmlformats.org/drawingml/2006/main" noGrp="1"/>
          </p:cNvSpPr>
          <p:nvPr/>
        </p:nvSpPr>
        <p:spPr>
          <a:xfrm xmlns:a="http://schemas.openxmlformats.org/drawingml/2006/main">
            <a:off x="952500" y="5495925"/>
            <a:ext cx="962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D2A34"/>
                </a:solidFill>
                <a:latin typeface="Aptos"/>
                <a:ea typeface="Aptos"/>
                <a:cs typeface="Aptos"/>
              </a:defRPr>
            </a:pPr>
            <a:r>
              <a:rPr sz="1200" b="1">
                <a:solidFill>
                  <a:srgbClr val="1D2A34"/>
                </a:solidFill>
                <a:latin typeface="Aptos"/>
                <a:ea typeface="Aptos"/>
                <a:cs typeface="Aptos"/>
              </a:rPr>
              <a:t>The contribution is integration and auditability; the experiment remains deliberately bounded.</a:t>
            </a:r>
          </a:p>
        </p:txBody>
      </p:sp>
      <p:sp>
        <p:nvSpPr>
          <p:cNvPr id="26" name="footer-label">
            <a:extLst xmlns:a="http://schemas.openxmlformats.org/drawingml/2006/main">
              <a:ext uri="{FF2B5EF4-FFF2-40B4-BE49-F238E27FC236}">
                <a16:creationId xmlns:a16="http://schemas.microsoft.com/office/drawing/2014/main" id="{1029FCF4-6B3F-4344-9026-26AD9D6CE665}"/>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14 / 15</a:t>
            </a:r>
          </a:p>
        </p:txBody>
      </p:sp>
      <p:sp>
        <p:nvSpPr>
          <p:cNvPr id="27" name="footer-number">
            <a:extLst xmlns:a="http://schemas.openxmlformats.org/drawingml/2006/main">
              <a:ext uri="{FF2B5EF4-FFF2-40B4-BE49-F238E27FC236}">
                <a16:creationId xmlns:a16="http://schemas.microsoft.com/office/drawing/2014/main" id="{945EEC09-7F5D-4D0C-BA55-E5FAD25BB5DD}"/>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1312770789"/>
      </p:ext>
    </p:extLst>
  </p:cSld>
</p:sld>
</file>

<file path=ppt/slides/slide27.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68D035D3-8447-4C67-9CFB-83D832827AE9}"/>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FUTURE WORK  ·  DETAIL  ·  13 / 13</a:t>
            </a:r>
          </a:p>
        </p:txBody>
      </p:sp>
      <p:sp>
        <p:nvSpPr>
          <p:cNvPr id="2" name="kicker-rule">
            <a:extLst xmlns:a="http://schemas.openxmlformats.org/drawingml/2006/main">
              <a:ext uri="{FF2B5EF4-FFF2-40B4-BE49-F238E27FC236}">
                <a16:creationId xmlns:a16="http://schemas.microsoft.com/office/drawing/2014/main" id="{05F23A49-0297-4962-8C08-E87807A8E3BD}"/>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FEA0E453-E74F-4CC4-A8A2-7EACBD9FC3E8}"/>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1D2A34"/>
                </a:solidFill>
                <a:latin typeface="Aptos Display"/>
                <a:ea typeface="Aptos Display"/>
                <a:cs typeface="Aptos Display"/>
              </a:defRPr>
            </a:pPr>
            <a:r>
              <a:rPr sz="3000" b="1">
                <a:solidFill>
                  <a:srgbClr val="1D2A34"/>
                </a:solidFill>
                <a:latin typeface="Aptos Display"/>
                <a:ea typeface="Aptos Display"/>
                <a:cs typeface="Aptos Display"/>
              </a:rPr>
              <a:t>Broader thesis claims remain future experiments.</a:t>
            </a:r>
          </a:p>
        </p:txBody>
      </p:sp>
      <p:sp>
        <p:nvSpPr>
          <p:cNvPr id="4" name="depth-box-12">
            <a:extLst xmlns:a="http://schemas.openxmlformats.org/drawingml/2006/main">
              <a:ext uri="{FF2B5EF4-FFF2-40B4-BE49-F238E27FC236}">
                <a16:creationId xmlns:a16="http://schemas.microsoft.com/office/drawing/2014/main" id="{606857F4-5A6B-4441-9B1B-EA7DD57384D8}"/>
              </a:ext>
            </a:extLst>
          </p:cNvPr>
          <p:cNvSpPr>
            <a:spLocks xmlns:a="http://schemas.openxmlformats.org/drawingml/2006/main" noGrp="1"/>
          </p:cNvSpPr>
          <p:nvPr/>
        </p:nvSpPr>
        <p:spPr>
          <a:xfrm xmlns:a="http://schemas.openxmlformats.org/drawingml/2006/main">
            <a:off x="685800" y="1981200"/>
            <a:ext cx="10820400" cy="2381250"/>
          </a:xfrm>
          <a:prstGeom xmlns:a="http://schemas.openxmlformats.org/drawingml/2006/main" prst="roundRect">
            <a:avLst>
              <a:gd name="adj" fmla="val 4800"/>
            </a:avLst>
          </a:prstGeom>
          <a:solidFill xmlns:a="http://schemas.openxmlformats.org/drawingml/2006/main">
            <a:srgbClr val="FFFDF8"/>
          </a:solidFill>
          <a:ln xmlns:a="http://schemas.openxmlformats.org/drawingml/2006/main" w="9525">
            <a:solidFill>
              <a:srgbClr val="C9D1D1"/>
            </a:solidFill>
            <a:prstDash val="solid"/>
          </a:ln>
        </p:spPr>
      </p:sp>
      <p:sp>
        <p:nvSpPr>
          <p:cNvPr id="5" name="depth-label-12">
            <a:extLst xmlns:a="http://schemas.openxmlformats.org/drawingml/2006/main">
              <a:ext uri="{FF2B5EF4-FFF2-40B4-BE49-F238E27FC236}">
                <a16:creationId xmlns:a16="http://schemas.microsoft.com/office/drawing/2014/main" id="{BE75554F-2CC2-4812-8AD8-DC3053828F2E}"/>
              </a:ext>
            </a:extLst>
          </p:cNvPr>
          <p:cNvSpPr>
            <a:spLocks xmlns:a="http://schemas.openxmlformats.org/drawingml/2006/main" noGrp="1"/>
          </p:cNvSpPr>
          <p:nvPr/>
        </p:nvSpPr>
        <p:spPr>
          <a:xfrm xmlns:a="http://schemas.openxmlformats.org/drawingml/2006/main">
            <a:off x="990600" y="2286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EVIDENCE DETAIL</a:t>
            </a:r>
          </a:p>
        </p:txBody>
      </p:sp>
      <p:sp>
        <p:nvSpPr>
          <p:cNvPr id="6" name="depth-copy-12">
            <a:extLst xmlns:a="http://schemas.openxmlformats.org/drawingml/2006/main">
              <a:ext uri="{FF2B5EF4-FFF2-40B4-BE49-F238E27FC236}">
                <a16:creationId xmlns:a16="http://schemas.microsoft.com/office/drawing/2014/main" id="{2B5219D6-A8F3-4105-B482-8DC0634B1C3C}"/>
              </a:ext>
            </a:extLst>
          </p:cNvPr>
          <p:cNvSpPr>
            <a:spLocks xmlns:a="http://schemas.openxmlformats.org/drawingml/2006/main" noGrp="1"/>
          </p:cNvSpPr>
          <p:nvPr/>
        </p:nvSpPr>
        <p:spPr>
          <a:xfrm xmlns:a="http://schemas.openxmlformats.org/drawingml/2006/main">
            <a:off x="990600" y="2724150"/>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D2A34"/>
                </a:solidFill>
                <a:latin typeface="Aptos"/>
                <a:ea typeface="Aptos"/>
                <a:cs typeface="Aptos"/>
              </a:defRPr>
            </a:pPr>
            <a:r>
              <a:rPr sz="2100" b="1">
                <a:solidFill>
                  <a:srgbClr val="1D2A34"/>
                </a:solidFill>
                <a:latin typeface="Aptos"/>
                <a:ea typeface="Aptos"/>
                <a:cs typeface="Aptos"/>
              </a:rPr>
              <a:t>Human review, more questions, larger cross-repo workloads, stronger baselines, Java and resource measurements remain open.</a:t>
            </a:r>
          </a:p>
        </p:txBody>
      </p:sp>
      <p:sp>
        <p:nvSpPr>
          <p:cNvPr id="7" name="depth-rule-12">
            <a:extLst xmlns:a="http://schemas.openxmlformats.org/drawingml/2006/main">
              <a:ext uri="{FF2B5EF4-FFF2-40B4-BE49-F238E27FC236}">
                <a16:creationId xmlns:a16="http://schemas.microsoft.com/office/drawing/2014/main" id="{FCB27E8B-F85F-44EB-8C5C-4A2E4231646A}"/>
              </a:ext>
            </a:extLst>
          </p:cNvPr>
          <p:cNvSpPr>
            <a:spLocks xmlns:a="http://schemas.openxmlformats.org/drawingml/2006/main" noGrp="1"/>
          </p:cNvSpPr>
          <p:nvPr/>
        </p:nvSpPr>
        <p:spPr>
          <a:xfrm xmlns:a="http://schemas.openxmlformats.org/drawingml/2006/main">
            <a:off x="990600" y="3886200"/>
            <a:ext cx="9239250" cy="0"/>
          </a:xfrm>
          <a:prstGeom xmlns:a="http://schemas.openxmlformats.org/drawingml/2006/main" prst="line">
            <a:avLst/>
          </a:prstGeom>
          <a:noFill xmlns:a="http://schemas.openxmlformats.org/drawingml/2006/main"/>
          <a:ln xmlns:a="http://schemas.openxmlformats.org/drawingml/2006/main" w="9525">
            <a:solidFill>
              <a:srgbClr val="C9D1D1"/>
            </a:solidFill>
            <a:prstDash val="solid"/>
          </a:ln>
        </p:spPr>
      </p:sp>
      <p:sp>
        <p:nvSpPr>
          <p:cNvPr id="8" name="depth-source-12">
            <a:extLst xmlns:a="http://schemas.openxmlformats.org/drawingml/2006/main">
              <a:ext uri="{FF2B5EF4-FFF2-40B4-BE49-F238E27FC236}">
                <a16:creationId xmlns:a16="http://schemas.microsoft.com/office/drawing/2014/main" id="{8A7C582D-E05B-4C3E-BA69-FEB07940FEA4}"/>
              </a:ext>
            </a:extLst>
          </p:cNvPr>
          <p:cNvSpPr>
            <a:spLocks xmlns:a="http://schemas.openxmlformats.org/drawingml/2006/main" noGrp="1"/>
          </p:cNvSpPr>
          <p:nvPr/>
        </p:nvSpPr>
        <p:spPr>
          <a:xfrm xmlns:a="http://schemas.openxmlformats.org/drawingml/2006/main">
            <a:off x="990600" y="407670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Evidence boundary: doc/thesis@78e5bd8:docs/thesis_report_en.tex</a:t>
            </a:r>
          </a:p>
        </p:txBody>
      </p:sp>
      <p:sp>
        <p:nvSpPr>
          <p:cNvPr id="9" name="depth-callout-12">
            <a:extLst xmlns:a="http://schemas.openxmlformats.org/drawingml/2006/main">
              <a:ext uri="{FF2B5EF4-FFF2-40B4-BE49-F238E27FC236}">
                <a16:creationId xmlns:a16="http://schemas.microsoft.com/office/drawing/2014/main" id="{629CF6E5-2630-41C3-B704-59423217E0AA}"/>
              </a:ext>
            </a:extLst>
          </p:cNvPr>
          <p:cNvSpPr>
            <a:spLocks xmlns:a="http://schemas.openxmlformats.org/drawingml/2006/main" noGrp="1"/>
          </p:cNvSpPr>
          <p:nvPr/>
        </p:nvSpPr>
        <p:spPr>
          <a:xfrm xmlns:a="http://schemas.openxmlformats.org/drawingml/2006/main">
            <a:off x="685800" y="4857750"/>
            <a:ext cx="10820400" cy="6096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2D6F78"/>
            </a:solidFill>
            <a:prstDash val="solid"/>
          </a:ln>
        </p:spPr>
      </p:sp>
      <p:sp>
        <p:nvSpPr>
          <p:cNvPr id="10" name="depth-callout-12-label">
            <a:extLst xmlns:a="http://schemas.openxmlformats.org/drawingml/2006/main">
              <a:ext uri="{FF2B5EF4-FFF2-40B4-BE49-F238E27FC236}">
                <a16:creationId xmlns:a16="http://schemas.microsoft.com/office/drawing/2014/main" id="{61CC3E50-9080-4B75-AACA-36CB0F1F95A7}"/>
              </a:ext>
            </a:extLst>
          </p:cNvPr>
          <p:cNvSpPr>
            <a:spLocks xmlns:a="http://schemas.openxmlformats.org/drawingml/2006/main" noGrp="1"/>
          </p:cNvSpPr>
          <p:nvPr/>
        </p:nvSpPr>
        <p:spPr>
          <a:xfrm xmlns:a="http://schemas.openxmlformats.org/drawingml/2006/main">
            <a:off x="952500" y="49911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11" name="depth-callout-12-copy">
            <a:extLst xmlns:a="http://schemas.openxmlformats.org/drawingml/2006/main">
              <a:ext uri="{FF2B5EF4-FFF2-40B4-BE49-F238E27FC236}">
                <a16:creationId xmlns:a16="http://schemas.microsoft.com/office/drawing/2014/main" id="{E5D09EE1-4CA8-4B54-A8AE-908E4FBA20CB}"/>
              </a:ext>
            </a:extLst>
          </p:cNvPr>
          <p:cNvSpPr>
            <a:spLocks xmlns:a="http://schemas.openxmlformats.org/drawingml/2006/main" noGrp="1"/>
          </p:cNvSpPr>
          <p:nvPr/>
        </p:nvSpPr>
        <p:spPr>
          <a:xfrm xmlns:a="http://schemas.openxmlformats.org/drawingml/2006/main">
            <a:off x="952500" y="4962525"/>
            <a:ext cx="10267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2A34"/>
                </a:solidFill>
                <a:latin typeface="Aptos"/>
                <a:ea typeface="Aptos"/>
                <a:cs typeface="Aptos"/>
              </a:defRPr>
            </a:pPr>
            <a:r>
              <a:rPr sz="1275" b="1">
                <a:solidFill>
                  <a:srgbClr val="1D2A34"/>
                </a:solidFill>
                <a:latin typeface="Aptos"/>
                <a:ea typeface="Aptos"/>
                <a:cs typeface="Aptos"/>
              </a:rPr>
              <a:t>Broader claims remain future experiments until their evidence is measured.</a:t>
            </a:r>
          </a:p>
        </p:txBody>
      </p:sp>
      <p:sp>
        <p:nvSpPr>
          <p:cNvPr id="12" name="footer-label">
            <a:extLst xmlns:a="http://schemas.openxmlformats.org/drawingml/2006/main">
              <a:ext uri="{FF2B5EF4-FFF2-40B4-BE49-F238E27FC236}">
                <a16:creationId xmlns:a16="http://schemas.microsoft.com/office/drawing/2014/main" id="{59389C01-67CD-4EF0-ABC5-8211D9BC143F}"/>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15 / 15 · DETAIL 1 / 1</a:t>
            </a:r>
          </a:p>
        </p:txBody>
      </p:sp>
      <p:sp>
        <p:nvSpPr>
          <p:cNvPr id="13" name="footer-number">
            <a:extLst xmlns:a="http://schemas.openxmlformats.org/drawingml/2006/main">
              <a:ext uri="{FF2B5EF4-FFF2-40B4-BE49-F238E27FC236}">
                <a16:creationId xmlns:a16="http://schemas.microsoft.com/office/drawing/2014/main" id="{E47EB086-44AF-4541-9DDC-376CE7A9D805}"/>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SUPPORTING DETAIL</a:t>
            </a:r>
          </a:p>
        </p:txBody>
      </p:sp>
    </p:spTree>
    <p:extLst>
      <p:ext uri="{BB962C8B-B14F-4D97-AF65-F5344CB8AC3E}">
        <p14:creationId xmlns:p14="http://schemas.microsoft.com/office/powerpoint/2010/main" val="484343453"/>
      </p:ext>
    </p:extLst>
  </p:cSld>
</p:sld>
</file>

<file path=ppt/slides/slide2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23" name="kicker">
            <a:extLst xmlns:a="http://schemas.openxmlformats.org/drawingml/2006/main">
              <a:ext uri="{FF2B5EF4-FFF2-40B4-BE49-F238E27FC236}">
                <a16:creationId xmlns:a16="http://schemas.microsoft.com/office/drawing/2014/main" id="{33B91D81-2BD9-4F60-88A0-6E5D2B490604}"/>
              </a:ext>
            </a:extLst>
          </p:cNvPr>
          <p:cNvSpPr>
            <a:spLocks xmlns:a="http://schemas.openxmlformats.org/drawingml/2006/main" noGrp="1"/>
          </p:cNvSpPr>
          <p:nvPr/>
        </p:nvSpPr>
        <p:spPr>
          <a:xfrm xmlns:a="http://schemas.openxmlformats.org/drawingml/2006/main">
            <a:off x="685800" y="476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2D6F78"/>
                </a:solidFill>
                <a:latin typeface="Aptos"/>
                <a:ea typeface="Aptos"/>
                <a:cs typeface="Aptos"/>
              </a:defRPr>
            </a:pPr>
            <a:r>
              <a:rPr sz="1050" b="1">
                <a:solidFill>
                  <a:srgbClr val="2D6F78"/>
                </a:solidFill>
                <a:latin typeface="Aptos"/>
                <a:ea typeface="Aptos"/>
                <a:cs typeface="Aptos"/>
              </a:rPr>
              <a:t>CONCLUSION  ·  15 / 15</a:t>
            </a:r>
          </a:p>
        </p:txBody>
      </p:sp>
      <p:sp>
        <p:nvSpPr>
          <p:cNvPr id="2" name="kicker-rule">
            <a:extLst xmlns:a="http://schemas.openxmlformats.org/drawingml/2006/main">
              <a:ext uri="{FF2B5EF4-FFF2-40B4-BE49-F238E27FC236}">
                <a16:creationId xmlns:a16="http://schemas.microsoft.com/office/drawing/2014/main" id="{E5008A79-2F72-4B79-8B79-EE3A25B54FE9}"/>
              </a:ext>
            </a:extLst>
          </p:cNvPr>
          <p:cNvSpPr>
            <a:spLocks xmlns:a="http://schemas.openxmlformats.org/drawingml/2006/main" noGrp="1"/>
          </p:cNvSpPr>
          <p:nvPr/>
        </p:nvSpPr>
        <p:spPr>
          <a:xfrm xmlns:a="http://schemas.openxmlformats.org/drawingml/2006/main">
            <a:off x="685800" y="742950"/>
            <a:ext cx="361950" cy="0"/>
          </a:xfrm>
          <a:prstGeom xmlns:a="http://schemas.openxmlformats.org/drawingml/2006/main" prst="line">
            <a:avLst/>
          </a:prstGeom>
          <a:noFill xmlns:a="http://schemas.openxmlformats.org/drawingml/2006/main"/>
          <a:ln xmlns:a="http://schemas.openxmlformats.org/drawingml/2006/main" w="28575">
            <a:solidFill>
              <a:srgbClr val="B65C3C"/>
            </a:solidFill>
            <a:prstDash val="solid"/>
          </a:ln>
        </p:spPr>
      </p:sp>
      <p:sp>
        <p:nvSpPr>
          <p:cNvPr id="3" name="title">
            <a:extLst xmlns:a="http://schemas.openxmlformats.org/drawingml/2006/main">
              <a:ext uri="{FF2B5EF4-FFF2-40B4-BE49-F238E27FC236}">
                <a16:creationId xmlns:a16="http://schemas.microsoft.com/office/drawing/2014/main" id="{8AA2D58B-0F52-4E3A-B09E-B6C4741CE500}"/>
              </a:ext>
            </a:extLst>
          </p:cNvPr>
          <p:cNvSpPr>
            <a:spLocks xmlns:a="http://schemas.openxmlformats.org/drawingml/2006/main" noGrp="1"/>
          </p:cNvSpPr>
          <p:nvPr/>
        </p:nvSpPr>
        <p:spPr>
          <a:xfrm xmlns:a="http://schemas.openxmlformats.org/drawingml/2006/main">
            <a:off x="685800" y="93345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D2A34"/>
                </a:solidFill>
                <a:latin typeface="Aptos Display"/>
                <a:ea typeface="Aptos Display"/>
                <a:cs typeface="Aptos Display"/>
              </a:defRPr>
            </a:pPr>
            <a:r>
              <a:rPr sz="2625" b="1">
                <a:solidFill>
                  <a:srgbClr val="1D2A34"/>
                </a:solidFill>
                <a:latin typeface="Aptos Display"/>
                <a:ea typeface="Aptos Display"/>
                <a:cs typeface="Aptos Display"/>
              </a:rPr>
              <a:t>Hybrid improves answer correctness at measured retrieval cost.</a:t>
            </a:r>
          </a:p>
        </p:txBody>
      </p:sp>
      <p:sp>
        <p:nvSpPr>
          <p:cNvPr id="4" name="running-case-core-15-label">
            <a:extLst xmlns:a="http://schemas.openxmlformats.org/drawingml/2006/main">
              <a:ext uri="{FF2B5EF4-FFF2-40B4-BE49-F238E27FC236}">
                <a16:creationId xmlns:a16="http://schemas.microsoft.com/office/drawing/2014/main" id="{8379331D-5B12-4523-B5A3-0E3D6A736D8D}"/>
              </a:ext>
            </a:extLst>
          </p:cNvPr>
          <p:cNvSpPr>
            <a:spLocks xmlns:a="http://schemas.openxmlformats.org/drawingml/2006/main" noGrp="1"/>
          </p:cNvSpPr>
          <p:nvPr/>
        </p:nvSpPr>
        <p:spPr>
          <a:xfrm xmlns:a="http://schemas.openxmlformats.org/drawingml/2006/main">
            <a:off x="685800" y="161925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RUNNING CASE</a:t>
            </a:r>
          </a:p>
        </p:txBody>
      </p:sp>
      <p:sp>
        <p:nvSpPr>
          <p:cNvPr id="5" name="running-case-core-15-query">
            <a:extLst xmlns:a="http://schemas.openxmlformats.org/drawingml/2006/main">
              <a:ext uri="{FF2B5EF4-FFF2-40B4-BE49-F238E27FC236}">
                <a16:creationId xmlns:a16="http://schemas.microsoft.com/office/drawing/2014/main" id="{A0BDCA11-8131-4433-B00B-52F45B5C6C52}"/>
              </a:ext>
            </a:extLst>
          </p:cNvPr>
          <p:cNvSpPr>
            <a:spLocks xmlns:a="http://schemas.openxmlformats.org/drawingml/2006/main" noGrp="1"/>
          </p:cNvSpPr>
          <p:nvPr/>
        </p:nvSpPr>
        <p:spPr>
          <a:xfrm xmlns:a="http://schemas.openxmlformats.org/drawingml/2006/main">
            <a:off x="2000250" y="1619250"/>
            <a:ext cx="2762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3D6F58"/>
                </a:solidFill>
                <a:latin typeface="Aptos Mono"/>
                <a:ea typeface="Aptos Mono"/>
                <a:cs typeface="Aptos Mono"/>
              </a:defRPr>
            </a:pPr>
            <a:r>
              <a:rPr sz="825" b="1">
                <a:solidFill>
                  <a:srgbClr val="3D6F58"/>
                </a:solidFill>
                <a:latin typeface="Aptos Mono"/>
                <a:ea typeface="Aptos Mono"/>
                <a:cs typeface="Aptos Mono"/>
              </a:rPr>
              <a:t>BaseRetriever.retrieve</a:t>
            </a:r>
          </a:p>
        </p:txBody>
      </p:sp>
      <p:sp>
        <p:nvSpPr>
          <p:cNvPr id="6" name="running-case-core-15-stage">
            <a:extLst xmlns:a="http://schemas.openxmlformats.org/drawingml/2006/main">
              <a:ext uri="{FF2B5EF4-FFF2-40B4-BE49-F238E27FC236}">
                <a16:creationId xmlns:a16="http://schemas.microsoft.com/office/drawing/2014/main" id="{6750BB6D-792C-4DA8-A1BD-EF483F554574}"/>
              </a:ext>
            </a:extLst>
          </p:cNvPr>
          <p:cNvSpPr>
            <a:spLocks xmlns:a="http://schemas.openxmlformats.org/drawingml/2006/main" noGrp="1"/>
          </p:cNvSpPr>
          <p:nvPr/>
        </p:nvSpPr>
        <p:spPr>
          <a:xfrm xmlns:a="http://schemas.openxmlformats.org/drawingml/2006/main">
            <a:off x="4857750" y="1619250"/>
            <a:ext cx="619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B65C3C"/>
                </a:solidFill>
                <a:latin typeface="Aptos"/>
                <a:ea typeface="Aptos"/>
                <a:cs typeface="Aptos"/>
              </a:defRPr>
            </a:pPr>
            <a:r>
              <a:rPr sz="825" b="1">
                <a:solidFill>
                  <a:srgbClr val="B65C3C"/>
                </a:solidFill>
                <a:latin typeface="Aptos"/>
                <a:ea typeface="Aptos"/>
                <a:cs typeface="Aptos"/>
              </a:rPr>
              <a:t>example → bounded claim</a:t>
            </a:r>
          </a:p>
        </p:txBody>
      </p:sp>
      <p:sp>
        <p:nvSpPr>
          <p:cNvPr id="7" name="conclusion-quality">
            <a:extLst xmlns:a="http://schemas.openxmlformats.org/drawingml/2006/main">
              <a:ext uri="{FF2B5EF4-FFF2-40B4-BE49-F238E27FC236}">
                <a16:creationId xmlns:a16="http://schemas.microsoft.com/office/drawing/2014/main" id="{BE136937-CF8F-4204-8404-BA94AABB6F26}"/>
              </a:ext>
            </a:extLst>
          </p:cNvPr>
          <p:cNvSpPr>
            <a:spLocks xmlns:a="http://schemas.openxmlformats.org/drawingml/2006/main" noGrp="1"/>
          </p:cNvSpPr>
          <p:nvPr/>
        </p:nvSpPr>
        <p:spPr>
          <a:xfrm xmlns:a="http://schemas.openxmlformats.org/drawingml/2006/main">
            <a:off x="685800" y="2000250"/>
            <a:ext cx="3143250" cy="1714500"/>
          </a:xfrm>
          <a:prstGeom xmlns:a="http://schemas.openxmlformats.org/drawingml/2006/main" prst="roundRect">
            <a:avLst>
              <a:gd name="adj" fmla="val 6667"/>
            </a:avLst>
          </a:prstGeom>
          <a:solidFill xmlns:a="http://schemas.openxmlformats.org/drawingml/2006/main">
            <a:srgbClr val="E3F0E6"/>
          </a:solidFill>
          <a:ln xmlns:a="http://schemas.openxmlformats.org/drawingml/2006/main" w="9525">
            <a:solidFill>
              <a:srgbClr val="3D6F58"/>
            </a:solidFill>
            <a:prstDash val="solid"/>
          </a:ln>
        </p:spPr>
      </p:sp>
      <p:sp>
        <p:nvSpPr>
          <p:cNvPr id="8" name="conclusion-quality-label">
            <a:extLst xmlns:a="http://schemas.openxmlformats.org/drawingml/2006/main">
              <a:ext uri="{FF2B5EF4-FFF2-40B4-BE49-F238E27FC236}">
                <a16:creationId xmlns:a16="http://schemas.microsoft.com/office/drawing/2014/main" id="{8725AB11-BD71-43C9-BBD9-D9762CD5A332}"/>
              </a:ext>
            </a:extLst>
          </p:cNvPr>
          <p:cNvSpPr>
            <a:spLocks xmlns:a="http://schemas.openxmlformats.org/drawingml/2006/main" noGrp="1"/>
          </p:cNvSpPr>
          <p:nvPr/>
        </p:nvSpPr>
        <p:spPr>
          <a:xfrm xmlns:a="http://schemas.openxmlformats.org/drawingml/2006/main">
            <a:off x="952500" y="2266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3D6F58"/>
                </a:solidFill>
                <a:latin typeface="Aptos"/>
                <a:ea typeface="Aptos"/>
                <a:cs typeface="Aptos"/>
              </a:defRPr>
            </a:pPr>
            <a:r>
              <a:rPr sz="975" b="1">
                <a:solidFill>
                  <a:srgbClr val="3D6F58"/>
                </a:solidFill>
                <a:latin typeface="Aptos"/>
                <a:ea typeface="Aptos"/>
                <a:cs typeface="Aptos"/>
              </a:rPr>
              <a:t>QUALITY</a:t>
            </a:r>
          </a:p>
        </p:txBody>
      </p:sp>
      <p:sp>
        <p:nvSpPr>
          <p:cNvPr id="9" name="conclusion-quality-number">
            <a:extLst xmlns:a="http://schemas.openxmlformats.org/drawingml/2006/main">
              <a:ext uri="{FF2B5EF4-FFF2-40B4-BE49-F238E27FC236}">
                <a16:creationId xmlns:a16="http://schemas.microsoft.com/office/drawing/2014/main" id="{409B7202-1C3F-4FA8-83AC-9FBF000EA1BD}"/>
              </a:ext>
            </a:extLst>
          </p:cNvPr>
          <p:cNvSpPr>
            <a:spLocks xmlns:a="http://schemas.openxmlformats.org/drawingml/2006/main" noGrp="1"/>
          </p:cNvSpPr>
          <p:nvPr/>
        </p:nvSpPr>
        <p:spPr>
          <a:xfrm xmlns:a="http://schemas.openxmlformats.org/drawingml/2006/main">
            <a:off x="952500" y="26860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a:solidFill>
                  <a:srgbClr val="1D2A34"/>
                </a:solidFill>
                <a:latin typeface="Aptos"/>
                <a:ea typeface="Aptos"/>
                <a:cs typeface="Aptos"/>
              </a:defRPr>
            </a:pPr>
            <a:r>
              <a:rPr sz="2550" b="1">
                <a:solidFill>
                  <a:srgbClr val="1D2A34"/>
                </a:solidFill>
                <a:latin typeface="Aptos"/>
                <a:ea typeface="Aptos"/>
                <a:cs typeface="Aptos"/>
              </a:rPr>
              <a:t>Δ +0.046</a:t>
            </a:r>
          </a:p>
        </p:txBody>
      </p:sp>
      <p:sp>
        <p:nvSpPr>
          <p:cNvPr id="10" name="conclusion-quality-copy">
            <a:extLst xmlns:a="http://schemas.openxmlformats.org/drawingml/2006/main">
              <a:ext uri="{FF2B5EF4-FFF2-40B4-BE49-F238E27FC236}">
                <a16:creationId xmlns:a16="http://schemas.microsoft.com/office/drawing/2014/main" id="{AB9F7ABD-1E86-4E64-81ED-0046F34DF126}"/>
              </a:ext>
            </a:extLst>
          </p:cNvPr>
          <p:cNvSpPr>
            <a:spLocks xmlns:a="http://schemas.openxmlformats.org/drawingml/2006/main" noGrp="1"/>
          </p:cNvSpPr>
          <p:nvPr/>
        </p:nvSpPr>
        <p:spPr>
          <a:xfrm xmlns:a="http://schemas.openxmlformats.org/drawingml/2006/main">
            <a:off x="952500" y="32385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correctness · CI [0.002, 0.094]</a:t>
            </a:r>
          </a:p>
        </p:txBody>
      </p:sp>
      <p:sp>
        <p:nvSpPr>
          <p:cNvPr id="11" name="conclusion-cost">
            <a:extLst xmlns:a="http://schemas.openxmlformats.org/drawingml/2006/main">
              <a:ext uri="{FF2B5EF4-FFF2-40B4-BE49-F238E27FC236}">
                <a16:creationId xmlns:a16="http://schemas.microsoft.com/office/drawing/2014/main" id="{76EEA27A-37E3-413B-A607-AEDE34E1AF2F}"/>
              </a:ext>
            </a:extLst>
          </p:cNvPr>
          <p:cNvSpPr>
            <a:spLocks xmlns:a="http://schemas.openxmlformats.org/drawingml/2006/main" noGrp="1"/>
          </p:cNvSpPr>
          <p:nvPr/>
        </p:nvSpPr>
        <p:spPr>
          <a:xfrm xmlns:a="http://schemas.openxmlformats.org/drawingml/2006/main">
            <a:off x="4324350" y="2000250"/>
            <a:ext cx="3143250" cy="1714500"/>
          </a:xfrm>
          <a:prstGeom xmlns:a="http://schemas.openxmlformats.org/drawingml/2006/main" prst="roundRect">
            <a:avLst>
              <a:gd name="adj" fmla="val 6667"/>
            </a:avLst>
          </a:prstGeom>
          <a:solidFill xmlns:a="http://schemas.openxmlformats.org/drawingml/2006/main">
            <a:srgbClr val="F4E2DA"/>
          </a:solidFill>
          <a:ln xmlns:a="http://schemas.openxmlformats.org/drawingml/2006/main" w="9525">
            <a:solidFill>
              <a:srgbClr val="B65C3C"/>
            </a:solidFill>
            <a:prstDash val="solid"/>
          </a:ln>
        </p:spPr>
      </p:sp>
      <p:sp>
        <p:nvSpPr>
          <p:cNvPr id="12" name="conclusion-cost-label">
            <a:extLst xmlns:a="http://schemas.openxmlformats.org/drawingml/2006/main">
              <a:ext uri="{FF2B5EF4-FFF2-40B4-BE49-F238E27FC236}">
                <a16:creationId xmlns:a16="http://schemas.microsoft.com/office/drawing/2014/main" id="{C6E38266-E84E-4325-962B-E468CE84F3C1}"/>
              </a:ext>
            </a:extLst>
          </p:cNvPr>
          <p:cNvSpPr>
            <a:spLocks xmlns:a="http://schemas.openxmlformats.org/drawingml/2006/main" noGrp="1"/>
          </p:cNvSpPr>
          <p:nvPr/>
        </p:nvSpPr>
        <p:spPr>
          <a:xfrm xmlns:a="http://schemas.openxmlformats.org/drawingml/2006/main">
            <a:off x="4591050" y="2266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B65C3C"/>
                </a:solidFill>
                <a:latin typeface="Aptos"/>
                <a:ea typeface="Aptos"/>
                <a:cs typeface="Aptos"/>
              </a:defRPr>
            </a:pPr>
            <a:r>
              <a:rPr sz="975" b="1">
                <a:solidFill>
                  <a:srgbClr val="B65C3C"/>
                </a:solidFill>
                <a:latin typeface="Aptos"/>
                <a:ea typeface="Aptos"/>
                <a:cs typeface="Aptos"/>
              </a:rPr>
              <a:t>COST</a:t>
            </a:r>
          </a:p>
        </p:txBody>
      </p:sp>
      <p:sp>
        <p:nvSpPr>
          <p:cNvPr id="13" name="conclusion-cost-number">
            <a:extLst xmlns:a="http://schemas.openxmlformats.org/drawingml/2006/main">
              <a:ext uri="{FF2B5EF4-FFF2-40B4-BE49-F238E27FC236}">
                <a16:creationId xmlns:a16="http://schemas.microsoft.com/office/drawing/2014/main" id="{DC7C0FDC-97CB-45A8-9BAF-7837825C4F59}"/>
              </a:ext>
            </a:extLst>
          </p:cNvPr>
          <p:cNvSpPr>
            <a:spLocks xmlns:a="http://schemas.openxmlformats.org/drawingml/2006/main" noGrp="1"/>
          </p:cNvSpPr>
          <p:nvPr/>
        </p:nvSpPr>
        <p:spPr>
          <a:xfrm xmlns:a="http://schemas.openxmlformats.org/drawingml/2006/main">
            <a:off x="4591050" y="26860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a:solidFill>
                  <a:srgbClr val="1D2A34"/>
                </a:solidFill>
                <a:latin typeface="Aptos"/>
                <a:ea typeface="Aptos"/>
                <a:cs typeface="Aptos"/>
              </a:defRPr>
            </a:pPr>
            <a:r>
              <a:rPr sz="2550" b="1">
                <a:solidFill>
                  <a:srgbClr val="1D2A34"/>
                </a:solidFill>
                <a:latin typeface="Aptos"/>
                <a:ea typeface="Aptos"/>
                <a:cs typeface="Aptos"/>
              </a:rPr>
              <a:t>+237 ms</a:t>
            </a:r>
          </a:p>
        </p:txBody>
      </p:sp>
      <p:sp>
        <p:nvSpPr>
          <p:cNvPr id="14" name="conclusion-cost-copy">
            <a:extLst xmlns:a="http://schemas.openxmlformats.org/drawingml/2006/main">
              <a:ext uri="{FF2B5EF4-FFF2-40B4-BE49-F238E27FC236}">
                <a16:creationId xmlns:a16="http://schemas.microsoft.com/office/drawing/2014/main" id="{A2133466-6CBD-4F28-9886-12931339FCC2}"/>
              </a:ext>
            </a:extLst>
          </p:cNvPr>
          <p:cNvSpPr>
            <a:spLocks xmlns:a="http://schemas.openxmlformats.org/drawingml/2006/main" noGrp="1"/>
          </p:cNvSpPr>
          <p:nvPr/>
        </p:nvSpPr>
        <p:spPr>
          <a:xfrm xmlns:a="http://schemas.openxmlformats.org/drawingml/2006/main">
            <a:off x="4591050" y="32385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a:solidFill>
                  <a:srgbClr val="586671"/>
                </a:solidFill>
                <a:latin typeface="Aptos"/>
                <a:ea typeface="Aptos"/>
                <a:cs typeface="Aptos"/>
              </a:defRPr>
            </a:pPr>
            <a:r>
              <a:rPr sz="1200">
                <a:solidFill>
                  <a:srgbClr val="586671"/>
                </a:solidFill>
                <a:latin typeface="Aptos"/>
                <a:ea typeface="Aptos"/>
                <a:cs typeface="Aptos"/>
              </a:rPr>
              <a:t>retrieval overhead · CI [208, 266]</a:t>
            </a:r>
          </a:p>
        </p:txBody>
      </p:sp>
      <p:sp>
        <p:nvSpPr>
          <p:cNvPr id="15" name="conclusion-boundary">
            <a:extLst xmlns:a="http://schemas.openxmlformats.org/drawingml/2006/main">
              <a:ext uri="{FF2B5EF4-FFF2-40B4-BE49-F238E27FC236}">
                <a16:creationId xmlns:a16="http://schemas.microsoft.com/office/drawing/2014/main" id="{BFD0AE9A-B90E-47C1-B8C9-2F0D8444F5B9}"/>
              </a:ext>
            </a:extLst>
          </p:cNvPr>
          <p:cNvSpPr>
            <a:spLocks xmlns:a="http://schemas.openxmlformats.org/drawingml/2006/main" noGrp="1"/>
          </p:cNvSpPr>
          <p:nvPr/>
        </p:nvSpPr>
        <p:spPr>
          <a:xfrm xmlns:a="http://schemas.openxmlformats.org/drawingml/2006/main">
            <a:off x="7962900" y="2000250"/>
            <a:ext cx="2895600" cy="1714500"/>
          </a:xfrm>
          <a:prstGeom xmlns:a="http://schemas.openxmlformats.org/drawingml/2006/main" prst="roundRect">
            <a:avLst>
              <a:gd name="adj" fmla="val 6667"/>
            </a:avLst>
          </a:prstGeom>
          <a:solidFill xmlns:a="http://schemas.openxmlformats.org/drawingml/2006/main">
            <a:srgbClr val="FFFDF8"/>
          </a:solidFill>
          <a:ln xmlns:a="http://schemas.openxmlformats.org/drawingml/2006/main" w="9525">
            <a:solidFill>
              <a:srgbClr val="C9D1D1"/>
            </a:solidFill>
            <a:prstDash val="solid"/>
          </a:ln>
        </p:spPr>
      </p:sp>
      <p:sp>
        <p:nvSpPr>
          <p:cNvPr id="16" name="conclusion-boundary-label">
            <a:extLst xmlns:a="http://schemas.openxmlformats.org/drawingml/2006/main">
              <a:ext uri="{FF2B5EF4-FFF2-40B4-BE49-F238E27FC236}">
                <a16:creationId xmlns:a16="http://schemas.microsoft.com/office/drawing/2014/main" id="{BB0E3730-1B5A-4D15-BC5C-83E2436DA954}"/>
              </a:ext>
            </a:extLst>
          </p:cNvPr>
          <p:cNvSpPr>
            <a:spLocks xmlns:a="http://schemas.openxmlformats.org/drawingml/2006/main" noGrp="1"/>
          </p:cNvSpPr>
          <p:nvPr/>
        </p:nvSpPr>
        <p:spPr>
          <a:xfrm xmlns:a="http://schemas.openxmlformats.org/drawingml/2006/main">
            <a:off x="8229600" y="22669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D6F78"/>
                </a:solidFill>
                <a:latin typeface="Aptos"/>
                <a:ea typeface="Aptos"/>
                <a:cs typeface="Aptos"/>
              </a:defRPr>
            </a:pPr>
            <a:r>
              <a:rPr sz="975" b="1">
                <a:solidFill>
                  <a:srgbClr val="2D6F78"/>
                </a:solidFill>
                <a:latin typeface="Aptos"/>
                <a:ea typeface="Aptos"/>
                <a:cs typeface="Aptos"/>
              </a:rPr>
              <a:t>BOUNDARY</a:t>
            </a:r>
          </a:p>
        </p:txBody>
      </p:sp>
      <p:sp>
        <p:nvSpPr>
          <p:cNvPr id="17" name="conclusion-boundary-copy">
            <a:extLst xmlns:a="http://schemas.openxmlformats.org/drawingml/2006/main">
              <a:ext uri="{FF2B5EF4-FFF2-40B4-BE49-F238E27FC236}">
                <a16:creationId xmlns:a16="http://schemas.microsoft.com/office/drawing/2014/main" id="{7E4E0A34-6BE5-4681-AFD0-1150757E535B}"/>
              </a:ext>
            </a:extLst>
          </p:cNvPr>
          <p:cNvSpPr>
            <a:spLocks xmlns:a="http://schemas.openxmlformats.org/drawingml/2006/main" noGrp="1"/>
          </p:cNvSpPr>
          <p:nvPr/>
        </p:nvSpPr>
        <p:spPr>
          <a:xfrm xmlns:a="http://schemas.openxmlformats.org/drawingml/2006/main">
            <a:off x="8229600" y="2686050"/>
            <a:ext cx="2190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D2A34"/>
                </a:solidFill>
                <a:latin typeface="Aptos"/>
                <a:ea typeface="Aptos"/>
                <a:cs typeface="Aptos"/>
              </a:defRPr>
            </a:pPr>
            <a:r>
              <a:rPr sz="1350" b="1">
                <a:solidFill>
                  <a:srgbClr val="1D2A34"/>
                </a:solidFill>
                <a:latin typeface="Aptos"/>
                <a:ea typeface="Aptos"/>
                <a:cs typeface="Aptos"/>
              </a:rPr>
              <a:t>One pinned Python repo</a:t>
            </a:r>
          </a:p>
          <a:p xmlns:a="http://schemas.openxmlformats.org/drawingml/2006/main">
            <a:pPr algn="l">
              <a:buNone/>
              <a:defRPr sz="1350" b="1">
                <a:solidFill>
                  <a:srgbClr val="1D2A34"/>
                </a:solidFill>
                <a:latin typeface="Aptos"/>
                <a:ea typeface="Aptos"/>
                <a:cs typeface="Aptos"/>
              </a:defRPr>
            </a:pPr>
            <a:r>
              <a:rPr sz="1350" b="1">
                <a:solidFill>
                  <a:srgbClr val="1D2A34"/>
                </a:solidFill>
                <a:latin typeface="Aptos"/>
                <a:ea typeface="Aptos"/>
                <a:cs typeface="Aptos"/>
              </a:rPr>
              <a:t>Vector-only baseline</a:t>
            </a:r>
          </a:p>
          <a:p xmlns:a="http://schemas.openxmlformats.org/drawingml/2006/main">
            <a:pPr algn="l">
              <a:buNone/>
              <a:defRPr sz="1350" b="1">
                <a:solidFill>
                  <a:srgbClr val="1D2A34"/>
                </a:solidFill>
                <a:latin typeface="Aptos"/>
                <a:ea typeface="Aptos"/>
                <a:cs typeface="Aptos"/>
              </a:defRPr>
            </a:pPr>
            <a:r>
              <a:rPr sz="1350" b="1">
                <a:solidFill>
                  <a:srgbClr val="1D2A34"/>
                </a:solidFill>
                <a:latin typeface="Aptos"/>
                <a:ea typeface="Aptos"/>
                <a:cs typeface="Aptos"/>
              </a:rPr>
              <a:t>AI-reviewed references</a:t>
            </a:r>
          </a:p>
        </p:txBody>
      </p:sp>
      <p:sp>
        <p:nvSpPr>
          <p:cNvPr id="18" name="conclusion-sentence">
            <a:extLst xmlns:a="http://schemas.openxmlformats.org/drawingml/2006/main">
              <a:ext uri="{FF2B5EF4-FFF2-40B4-BE49-F238E27FC236}">
                <a16:creationId xmlns:a16="http://schemas.microsoft.com/office/drawing/2014/main" id="{5E609E7B-B413-40C9-A1EB-6870A09F28CB}"/>
              </a:ext>
            </a:extLst>
          </p:cNvPr>
          <p:cNvSpPr>
            <a:spLocks xmlns:a="http://schemas.openxmlformats.org/drawingml/2006/main" noGrp="1"/>
          </p:cNvSpPr>
          <p:nvPr/>
        </p:nvSpPr>
        <p:spPr>
          <a:xfrm xmlns:a="http://schemas.openxmlformats.org/drawingml/2006/main">
            <a:off x="685800" y="4400550"/>
            <a:ext cx="10172700" cy="914400"/>
          </a:xfrm>
          <a:prstGeom xmlns:a="http://schemas.openxmlformats.org/drawingml/2006/main" prst="roundRect">
            <a:avLst>
              <a:gd name="adj" fmla="val 8333"/>
            </a:avLst>
          </a:prstGeom>
          <a:solidFill xmlns:a="http://schemas.openxmlformats.org/drawingml/2006/main">
            <a:srgbClr val="FFFDF8"/>
          </a:solidFill>
          <a:ln xmlns:a="http://schemas.openxmlformats.org/drawingml/2006/main" w="9525">
            <a:solidFill>
              <a:srgbClr val="2D6F78"/>
            </a:solidFill>
            <a:prstDash val="solid"/>
          </a:ln>
        </p:spPr>
      </p:sp>
      <p:sp>
        <p:nvSpPr>
          <p:cNvPr id="19" name="conclusion-sentence-label">
            <a:extLst xmlns:a="http://schemas.openxmlformats.org/drawingml/2006/main">
              <a:ext uri="{FF2B5EF4-FFF2-40B4-BE49-F238E27FC236}">
                <a16:creationId xmlns:a16="http://schemas.microsoft.com/office/drawing/2014/main" id="{ACD48313-864B-48C4-816E-58A2A95123CB}"/>
              </a:ext>
            </a:extLst>
          </p:cNvPr>
          <p:cNvSpPr>
            <a:spLocks xmlns:a="http://schemas.openxmlformats.org/drawingml/2006/main" noGrp="1"/>
          </p:cNvSpPr>
          <p:nvPr/>
        </p:nvSpPr>
        <p:spPr>
          <a:xfrm xmlns:a="http://schemas.openxmlformats.org/drawingml/2006/main">
            <a:off x="952500" y="45339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2D6F78"/>
                </a:solidFill>
                <a:latin typeface="Aptos"/>
                <a:ea typeface="Aptos"/>
                <a:cs typeface="Aptos"/>
              </a:defRPr>
            </a:pPr>
            <a:r>
              <a:rPr sz="825" b="1">
                <a:solidFill>
                  <a:srgbClr val="2D6F78"/>
                </a:solidFill>
                <a:latin typeface="Aptos"/>
                <a:ea typeface="Aptos"/>
                <a:cs typeface="Aptos"/>
              </a:rPr>
              <a:t/>
            </a:r>
          </a:p>
        </p:txBody>
      </p:sp>
      <p:sp>
        <p:nvSpPr>
          <p:cNvPr id="20" name="conclusion-sentence-copy">
            <a:extLst xmlns:a="http://schemas.openxmlformats.org/drawingml/2006/main">
              <a:ext uri="{FF2B5EF4-FFF2-40B4-BE49-F238E27FC236}">
                <a16:creationId xmlns:a16="http://schemas.microsoft.com/office/drawing/2014/main" id="{767F32A9-77DC-441F-9659-0751AD0953FE}"/>
              </a:ext>
            </a:extLst>
          </p:cNvPr>
          <p:cNvSpPr>
            <a:spLocks xmlns:a="http://schemas.openxmlformats.org/drawingml/2006/main" noGrp="1"/>
          </p:cNvSpPr>
          <p:nvPr/>
        </p:nvSpPr>
        <p:spPr>
          <a:xfrm xmlns:a="http://schemas.openxmlformats.org/drawingml/2006/main">
            <a:off x="952500" y="4505325"/>
            <a:ext cx="9620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D2A34"/>
                </a:solidFill>
                <a:latin typeface="Aptos"/>
                <a:ea typeface="Aptos"/>
                <a:cs typeface="Aptos"/>
              </a:defRPr>
            </a:pPr>
            <a:r>
              <a:rPr sz="1500" b="1">
                <a:solidFill>
                  <a:srgbClr val="1D2A34"/>
                </a:solidFill>
                <a:latin typeface="Aptos"/>
                <a:ea typeface="Aptos"/>
                <a:cs typeface="Aptos"/>
              </a:rPr>
              <a:t>The proven claim is precise; broader generalization remains future work.</a:t>
            </a:r>
          </a:p>
        </p:txBody>
      </p:sp>
      <p:sp>
        <p:nvSpPr>
          <p:cNvPr id="21" name="footer-label">
            <a:extLst xmlns:a="http://schemas.openxmlformats.org/drawingml/2006/main">
              <a:ext uri="{FF2B5EF4-FFF2-40B4-BE49-F238E27FC236}">
                <a16:creationId xmlns:a16="http://schemas.microsoft.com/office/drawing/2014/main" id="{58FF69C5-287A-4221-BDB7-019DC995E57E}"/>
              </a:ext>
            </a:extLst>
          </p:cNvPr>
          <p:cNvSpPr>
            <a:spLocks xmlns:a="http://schemas.openxmlformats.org/drawingml/2006/main" noGrp="1"/>
          </p:cNvSpPr>
          <p:nvPr/>
        </p:nvSpPr>
        <p:spPr>
          <a:xfrm xmlns:a="http://schemas.openxmlformats.org/drawingml/2006/main">
            <a:off x="685800" y="64389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586671"/>
                </a:solidFill>
                <a:latin typeface="Aptos"/>
                <a:ea typeface="Aptos"/>
                <a:cs typeface="Aptos"/>
              </a:defRPr>
            </a:pPr>
            <a:r>
              <a:rPr sz="825" b="1">
                <a:solidFill>
                  <a:srgbClr val="586671"/>
                </a:solidFill>
                <a:latin typeface="Aptos"/>
                <a:ea typeface="Aptos"/>
                <a:cs typeface="Aptos"/>
              </a:rPr>
              <a:t>CORE 15 / 15</a:t>
            </a:r>
          </a:p>
        </p:txBody>
      </p:sp>
      <p:sp>
        <p:nvSpPr>
          <p:cNvPr id="22" name="footer-number">
            <a:extLst xmlns:a="http://schemas.openxmlformats.org/drawingml/2006/main">
              <a:ext uri="{FF2B5EF4-FFF2-40B4-BE49-F238E27FC236}">
                <a16:creationId xmlns:a16="http://schemas.microsoft.com/office/drawing/2014/main" id="{6CD67D9C-F611-4985-8497-AFFD8D9A501E}"/>
              </a:ext>
            </a:extLst>
          </p:cNvPr>
          <p:cNvSpPr>
            <a:spLocks xmlns:a="http://schemas.openxmlformats.org/drawingml/2006/main" noGrp="1"/>
          </p:cNvSpPr>
          <p:nvPr/>
        </p:nvSpPr>
        <p:spPr>
          <a:xfrm xmlns:a="http://schemas.openxmlformats.org/drawingml/2006/main">
            <a:off x="857250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586671"/>
                </a:solidFill>
                <a:latin typeface="Aptos"/>
                <a:ea typeface="Aptos"/>
                <a:cs typeface="Aptos"/>
              </a:defRPr>
            </a:pPr>
            <a:r>
              <a:rPr sz="825" b="1">
                <a:solidFill>
                  <a:srgbClr val="586671"/>
                </a:solidFill>
                <a:latin typeface="Aptos"/>
                <a:ea typeface="Aptos"/>
                <a:cs typeface="Aptos"/>
              </a:rPr>
              <a:t>HYBRID-RAG / MASTER'S THESIS</a:t>
            </a:r>
          </a:p>
        </p:txBody>
      </p:sp>
    </p:spTree>
    <p:extLst>
      <p:ext uri="{BB962C8B-B14F-4D97-AF65-F5344CB8AC3E}">
        <p14:creationId xmlns:p14="http://schemas.microsoft.com/office/powerpoint/2010/main" val="18177258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2026-08-12T13:34:27.0180000Z</dcterms:created>
  <dcterms:modified xsi:type="dcterms:W3CDTF">2026-08-12T13:34:27.0180000Z</dcterms:modified>
</coreProperties>
</file>