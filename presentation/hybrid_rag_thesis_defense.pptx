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ad6db9eff70406d" /><Relationship Type="http://schemas.openxmlformats.org/officeDocument/2006/relationships/extended-properties" Target="/docProps/app.xml" Id="R1d72e3f0a37840df" /><Relationship Type="http://schemas.openxmlformats.org/officeDocument/2006/relationships/officeDocument" Target="/ppt/presentation.xml" Id="R6f021c54b7694dd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eca06f34eeb4228"/>
  </p:sldMasterIdLst>
  <p:notesMasterIdLst>
    <p:notesMasterId xmlns:r="http://schemas.openxmlformats.org/officeDocument/2006/relationships" r:id="R8111ef8b3acd4e68"/>
  </p:notesMasterIdLst>
  <p:sldIdLst>
    <p:sldId xmlns:r="http://schemas.openxmlformats.org/officeDocument/2006/relationships" id="256" r:id="Rcb245a535dd547e2"/>
    <p:sldId xmlns:r="http://schemas.openxmlformats.org/officeDocument/2006/relationships" id="257" r:id="R49e951a1c5dd42db"/>
    <p:sldId xmlns:r="http://schemas.openxmlformats.org/officeDocument/2006/relationships" id="258" r:id="Ra3f1692f823a4fb4"/>
    <p:sldId xmlns:r="http://schemas.openxmlformats.org/officeDocument/2006/relationships" id="259" r:id="Re683ad65721f4de1"/>
    <p:sldId xmlns:r="http://schemas.openxmlformats.org/officeDocument/2006/relationships" id="260" r:id="R70936c792c774ea8"/>
    <p:sldId xmlns:r="http://schemas.openxmlformats.org/officeDocument/2006/relationships" id="261" r:id="Rdbae64f79cbd4747"/>
    <p:sldId xmlns:r="http://schemas.openxmlformats.org/officeDocument/2006/relationships" id="262" r:id="R0d2941eef40749d1"/>
    <p:sldId xmlns:r="http://schemas.openxmlformats.org/officeDocument/2006/relationships" id="263" r:id="Rb1d5759cc4d14e28"/>
    <p:sldId xmlns:r="http://schemas.openxmlformats.org/officeDocument/2006/relationships" id="264" r:id="Rc1ffea82f43046e8"/>
    <p:sldId xmlns:r="http://schemas.openxmlformats.org/officeDocument/2006/relationships" id="265" r:id="R97d2e1502c944041"/>
    <p:sldId xmlns:r="http://schemas.openxmlformats.org/officeDocument/2006/relationships" id="266" r:id="Rb66e5b1d604143bc"/>
    <p:sldId xmlns:r="http://schemas.openxmlformats.org/officeDocument/2006/relationships" id="267" r:id="R664b3fbf8351421b"/>
    <p:sldId xmlns:r="http://schemas.openxmlformats.org/officeDocument/2006/relationships" id="268" r:id="Rfb661b7f6e5d4685"/>
    <p:sldId xmlns:r="http://schemas.openxmlformats.org/officeDocument/2006/relationships" id="269" r:id="Ra7a5054a491b4b83"/>
    <p:sldId xmlns:r="http://schemas.openxmlformats.org/officeDocument/2006/relationships" id="270" r:id="R8b066ed3d4e44c8f"/>
    <p:sldId xmlns:r="http://schemas.openxmlformats.org/officeDocument/2006/relationships" id="271" r:id="R801d9a41fe54491c"/>
    <p:sldId xmlns:r="http://schemas.openxmlformats.org/officeDocument/2006/relationships" id="272" r:id="R65dd3fdfdd734d8a"/>
    <p:sldId xmlns:r="http://schemas.openxmlformats.org/officeDocument/2006/relationships" id="273" r:id="Re069e3fa16974e80"/>
    <p:sldId xmlns:r="http://schemas.openxmlformats.org/officeDocument/2006/relationships" id="274" r:id="R91d4d1624c3a448d"/>
    <p:sldId xmlns:r="http://schemas.openxmlformats.org/officeDocument/2006/relationships" id="275" r:id="Rcc0b8aa52b704cc5"/>
    <p:sldId xmlns:r="http://schemas.openxmlformats.org/officeDocument/2006/relationships" id="276" r:id="R470011e612654bda"/>
    <p:sldId xmlns:r="http://schemas.openxmlformats.org/officeDocument/2006/relationships" id="277" r:id="Rca371e6469134e45"/>
    <p:sldId xmlns:r="http://schemas.openxmlformats.org/officeDocument/2006/relationships" id="278" r:id="R05d399be674443f3"/>
    <p:sldId xmlns:r="http://schemas.openxmlformats.org/officeDocument/2006/relationships" id="279" r:id="R0ed4a26d34124788"/>
    <p:sldId xmlns:r="http://schemas.openxmlformats.org/officeDocument/2006/relationships" id="280" r:id="Rd397470e50a74957"/>
    <p:sldId xmlns:r="http://schemas.openxmlformats.org/officeDocument/2006/relationships" id="281" r:id="R351379a166184e95"/>
    <p:sldId xmlns:r="http://schemas.openxmlformats.org/officeDocument/2006/relationships" id="282" r:id="Ra203abf5bdfd4a06"/>
    <p:sldId xmlns:r="http://schemas.openxmlformats.org/officeDocument/2006/relationships" id="283" r:id="R5d45865caf084c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794617eb5ac43a9" /><Relationship Type="http://schemas.openxmlformats.org/officeDocument/2006/relationships/slideMaster" Target="/ppt/slideMasters/slideMaster1.xml" Id="R5eca06f34eeb4228" /><Relationship Type="http://schemas.openxmlformats.org/officeDocument/2006/relationships/notesMaster" Target="/ppt/notesMasters/notesMaster1.xml" Id="R8111ef8b3acd4e68" /><Relationship Type="http://schemas.openxmlformats.org/officeDocument/2006/relationships/presProps" Target="/ppt/presProps.xml" Id="Reff282b598a04ea2" /><Relationship Type="http://schemas.openxmlformats.org/officeDocument/2006/relationships/tableStyles" Target="/ppt/tableStyles.xml" Id="R3c7a1690c1b045ac" /><Relationship Type="http://schemas.openxmlformats.org/officeDocument/2006/relationships/slide" Target="/ppt/slides/slide1.xml" Id="Rcb245a535dd547e2" /><Relationship Type="http://schemas.openxmlformats.org/officeDocument/2006/relationships/slide" Target="/ppt/slides/slide2.xml" Id="R49e951a1c5dd42db" /><Relationship Type="http://schemas.openxmlformats.org/officeDocument/2006/relationships/slide" Target="/ppt/slides/slide3.xml" Id="Ra3f1692f823a4fb4" /><Relationship Type="http://schemas.openxmlformats.org/officeDocument/2006/relationships/slide" Target="/ppt/slides/slide4.xml" Id="Re683ad65721f4de1" /><Relationship Type="http://schemas.openxmlformats.org/officeDocument/2006/relationships/slide" Target="/ppt/slides/slide5.xml" Id="R70936c792c774ea8" /><Relationship Type="http://schemas.openxmlformats.org/officeDocument/2006/relationships/slide" Target="/ppt/slides/slide6.xml" Id="Rdbae64f79cbd4747" /><Relationship Type="http://schemas.openxmlformats.org/officeDocument/2006/relationships/slide" Target="/ppt/slides/slide7.xml" Id="R0d2941eef40749d1" /><Relationship Type="http://schemas.openxmlformats.org/officeDocument/2006/relationships/slide" Target="/ppt/slides/slide8.xml" Id="Rb1d5759cc4d14e28" /><Relationship Type="http://schemas.openxmlformats.org/officeDocument/2006/relationships/slide" Target="/ppt/slides/slide9.xml" Id="Rc1ffea82f43046e8" /><Relationship Type="http://schemas.openxmlformats.org/officeDocument/2006/relationships/slide" Target="/ppt/slides/slide10.xml" Id="R97d2e1502c944041" /><Relationship Type="http://schemas.openxmlformats.org/officeDocument/2006/relationships/slide" Target="/ppt/slides/slide11.xml" Id="Rb66e5b1d604143bc" /><Relationship Type="http://schemas.openxmlformats.org/officeDocument/2006/relationships/slide" Target="/ppt/slides/slide12.xml" Id="R664b3fbf8351421b" /><Relationship Type="http://schemas.openxmlformats.org/officeDocument/2006/relationships/slide" Target="/ppt/slides/slide13.xml" Id="Rfb661b7f6e5d4685" /><Relationship Type="http://schemas.openxmlformats.org/officeDocument/2006/relationships/slide" Target="/ppt/slides/slide14.xml" Id="Ra7a5054a491b4b83" /><Relationship Type="http://schemas.openxmlformats.org/officeDocument/2006/relationships/slide" Target="/ppt/slides/slide15.xml" Id="R8b066ed3d4e44c8f" /><Relationship Type="http://schemas.openxmlformats.org/officeDocument/2006/relationships/slide" Target="/ppt/slides/slide16.xml" Id="R801d9a41fe54491c" /><Relationship Type="http://schemas.openxmlformats.org/officeDocument/2006/relationships/slide" Target="/ppt/slides/slide17.xml" Id="R65dd3fdfdd734d8a" /><Relationship Type="http://schemas.openxmlformats.org/officeDocument/2006/relationships/slide" Target="/ppt/slides/slide18.xml" Id="Re069e3fa16974e80" /><Relationship Type="http://schemas.openxmlformats.org/officeDocument/2006/relationships/slide" Target="/ppt/slides/slide19.xml" Id="R91d4d1624c3a448d" /><Relationship Type="http://schemas.openxmlformats.org/officeDocument/2006/relationships/slide" Target="/ppt/slides/slide20.xml" Id="Rcc0b8aa52b704cc5" /><Relationship Type="http://schemas.openxmlformats.org/officeDocument/2006/relationships/slide" Target="/ppt/slides/slide21.xml" Id="R470011e612654bda" /><Relationship Type="http://schemas.openxmlformats.org/officeDocument/2006/relationships/slide" Target="/ppt/slides/slide22.xml" Id="Rca371e6469134e45" /><Relationship Type="http://schemas.openxmlformats.org/officeDocument/2006/relationships/slide" Target="/ppt/slides/slide23.xml" Id="R05d399be674443f3" /><Relationship Type="http://schemas.openxmlformats.org/officeDocument/2006/relationships/slide" Target="/ppt/slides/slide24.xml" Id="R0ed4a26d34124788" /><Relationship Type="http://schemas.openxmlformats.org/officeDocument/2006/relationships/slide" Target="/ppt/slides/slide25.xml" Id="Rd397470e50a74957" /><Relationship Type="http://schemas.openxmlformats.org/officeDocument/2006/relationships/slide" Target="/ppt/slides/slide26.xml" Id="R351379a166184e95" /><Relationship Type="http://schemas.openxmlformats.org/officeDocument/2006/relationships/slide" Target="/ppt/slides/slide27.xml" Id="Ra203abf5bdfd4a06" /><Relationship Type="http://schemas.openxmlformats.org/officeDocument/2006/relationships/slide" Target="/ppt/slides/slide28.xml" Id="R5d45865caf084c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f2679992dd5406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9611a96b31e44b8" /><Relationship Type="http://schemas.openxmlformats.org/officeDocument/2006/relationships/notesMaster" Target="/ppt/notesMasters/notesMaster1.xml" Id="R20d9c578047c45e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f4692595f384386" /><Relationship Type="http://schemas.openxmlformats.org/officeDocument/2006/relationships/notesMaster" Target="/ppt/notesMasters/notesMaster1.xml" Id="Ree632edbefed49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af2be111f854f8a" /><Relationship Type="http://schemas.openxmlformats.org/officeDocument/2006/relationships/notesMaster" Target="/ppt/notesMasters/notesMaster1.xml" Id="Rdc737580270046c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c3779591d2a4948" /><Relationship Type="http://schemas.openxmlformats.org/officeDocument/2006/relationships/notesMaster" Target="/ppt/notesMasters/notesMaster1.xml" Id="Rcd33953c66144fa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90cb88922cd439b" /><Relationship Type="http://schemas.openxmlformats.org/officeDocument/2006/relationships/notesMaster" Target="/ppt/notesMasters/notesMaster1.xml" Id="Rc0b60da649f844b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8d6722c9ff35484f" /><Relationship Type="http://schemas.openxmlformats.org/officeDocument/2006/relationships/notesMaster" Target="/ppt/notesMasters/notesMaster1.xml" Id="R415941e810064a5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661e6210377429a" /><Relationship Type="http://schemas.openxmlformats.org/officeDocument/2006/relationships/notesMaster" Target="/ppt/notesMasters/notesMaster1.xml" Id="R6cb07eb84d50428f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05d289ee57504849" /><Relationship Type="http://schemas.openxmlformats.org/officeDocument/2006/relationships/notesMaster" Target="/ppt/notesMasters/notesMaster1.xml" Id="R9ad4540771814e3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40aea36843d34bf2" /><Relationship Type="http://schemas.openxmlformats.org/officeDocument/2006/relationships/notesMaster" Target="/ppt/notesMasters/notesMaster1.xml" Id="R122b8dfa8ed943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92cbb8065654abc" /><Relationship Type="http://schemas.openxmlformats.org/officeDocument/2006/relationships/notesMaster" Target="/ppt/notesMasters/notesMaster1.xml" Id="R798b32a71c6a4c5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0bf76e8071b24caf" /><Relationship Type="http://schemas.openxmlformats.org/officeDocument/2006/relationships/notesMaster" Target="/ppt/notesMasters/notesMaster1.xml" Id="R2cd6a4e2ffae403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7cc898b390584c16" /><Relationship Type="http://schemas.openxmlformats.org/officeDocument/2006/relationships/notesMaster" Target="/ppt/notesMasters/notesMaster1.xml" Id="Rb50c8d5c28cf4f81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a07f5a99447469c" /><Relationship Type="http://schemas.openxmlformats.org/officeDocument/2006/relationships/notesMaster" Target="/ppt/notesMasters/notesMaster1.xml" Id="R25d6e9be749f41d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2c7eb9861254cc1" /><Relationship Type="http://schemas.openxmlformats.org/officeDocument/2006/relationships/notesMaster" Target="/ppt/notesMasters/notesMaster1.xml" Id="Rbf8e4fe0e71647b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fa6e9f3768d74ef0" /><Relationship Type="http://schemas.openxmlformats.org/officeDocument/2006/relationships/notesMaster" Target="/ppt/notesMasters/notesMaster1.xml" Id="Rdee2bae07122474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00ab8cc655114254" /><Relationship Type="http://schemas.openxmlformats.org/officeDocument/2006/relationships/notesMaster" Target="/ppt/notesMasters/notesMaster1.xml" Id="Rdbe5879c37aa486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57e4e23b465b4096" /><Relationship Type="http://schemas.openxmlformats.org/officeDocument/2006/relationships/notesMaster" Target="/ppt/notesMasters/notesMaster1.xml" Id="R2c51a973ec784738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0600b45e8e24782" /><Relationship Type="http://schemas.openxmlformats.org/officeDocument/2006/relationships/notesMaster" Target="/ppt/notesMasters/notesMaster1.xml" Id="R93652436277e4d11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fd36aba7251458e" /><Relationship Type="http://schemas.openxmlformats.org/officeDocument/2006/relationships/notesMaster" Target="/ppt/notesMasters/notesMaster1.xml" Id="Rae7014813b6a4de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95f65fbaf0f48ee" /><Relationship Type="http://schemas.openxmlformats.org/officeDocument/2006/relationships/notesMaster" Target="/ppt/notesMasters/notesMaster1.xml" Id="Rb539b7195cc84097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950284e78a464cf8" /><Relationship Type="http://schemas.openxmlformats.org/officeDocument/2006/relationships/notesMaster" Target="/ppt/notesMasters/notesMaster1.xml" Id="Rbfae2cdc6d1346b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55930c579bec4f51" /><Relationship Type="http://schemas.openxmlformats.org/officeDocument/2006/relationships/notesMaster" Target="/ppt/notesMasters/notesMaster1.xml" Id="R9d594e36916b42f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43ed7cdaa8e8447a" /><Relationship Type="http://schemas.openxmlformats.org/officeDocument/2006/relationships/notesMaster" Target="/ppt/notesMasters/notesMaster1.xml" Id="R8cf5ba434b234dcd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01c6b7be4cc45a9" /><Relationship Type="http://schemas.openxmlformats.org/officeDocument/2006/relationships/notesMaster" Target="/ppt/notesMasters/notesMaster1.xml" Id="R80729900b49a4819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a8233e0ce434d41" /><Relationship Type="http://schemas.openxmlformats.org/officeDocument/2006/relationships/notesMaster" Target="/ppt/notesMasters/notesMaster1.xml" Id="R3c90f488216545a2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ddc2031d75a94698" /><Relationship Type="http://schemas.openxmlformats.org/officeDocument/2006/relationships/notesMaster" Target="/ppt/notesMasters/notesMaster1.xml" Id="Re67d56854a9d4672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a3f3faf467934187" /><Relationship Type="http://schemas.openxmlformats.org/officeDocument/2006/relationships/notesMaster" Target="/ppt/notesMasters/notesMaster1.xml" Id="Rbe85a517fa1447a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457aa1f772e42d1" /><Relationship Type="http://schemas.openxmlformats.org/officeDocument/2006/relationships/notesMaster" Target="/ppt/notesMasters/notesMaster1.xml" Id="R413ce4185d1e4a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tên đầy đủ của luận văn, ba thành phần Graph, Vector và Provenance, cùng tên tác giả và supervisor.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Bài toán là tìm đúng code để trả lời câu hỏi về một repository.</a:t>
            </a:r>
          </a:p>
          <a:p xmlns:a="http://schemas.openxmlformats.org/drawingml/2006/main">
            <a:r>
              <a:t>- Vector search tìm phần code gần nghĩa; graph giữ quan hệ giữa các phần code; provenance giúp kiểm tra evidence.</a:t>
            </a:r>
          </a:p>
          <a:p xmlns:a="http://schemas.openxmlformats.org/drawingml/2006/main">
            <a:r>
              <a:t>- Đóng góp là một hệ thống Hybrid-RAG local và auditable, không claim phát minh một retrieval algorithm hoàn toàn mới.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Trước khi nói solution, cần chỉ ra vì sao code question không thể chỉ dùng semantic similarity.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doc/thesis@78e5bd8:docs/thesis_report_en.tex; Thesis_decuong_updated_28Apr.pdf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một câu hỏi về execution sequence của Checkout, bên phải là hai nhu cầu Meaning và Structure.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Meaning giúp tìm source liên quan, ví dụ payment.py.</a:t>
            </a:r>
          </a:p>
          <a:p xmlns:a="http://schemas.openxmlformats.org/drawingml/2006/main">
            <a:r>
              <a:t>- Structure cho biết function nào call, define hoặc import function nào.</a:t>
            </a:r>
          </a:p>
          <a:p xmlns:a="http://schemas.openxmlformats.org/drawingml/2006/main">
            <a:r>
              <a:t>- Khi evidence nằm ở nhiều file, chỉ tìm đoạn text giống câu hỏi là chưa đủ; câu trả lời còn phải trace được về source.</a:t>
            </a:r>
          </a:p>
          <a:p xmlns:a="http://schemas.openxmlformats.org/drawingml/2006/main">
            <a:r>
              <a:t>- Checkout chỉ là fixture để minh họa. Benchmark dùng một pinned Python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Từ problem này, thesis đặt ra ba nhóm câu hỏi cần đo.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presentation/hybrid_rag_thesis_showcase.html; thesis snapshot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ba research questions được chia thành Answer quality, Efficiency và Evidence strength.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RQ1 đo Faithfulness, Answer Relevancy và Answer Correctness.</a:t>
            </a:r>
          </a:p>
          <a:p xmlns:a="http://schemas.openxmlformats.org/drawingml/2006/main">
            <a:r>
              <a:t>- RQ2 đo retrieval latency, generation latency và token footprint.</a:t>
            </a:r>
          </a:p>
          <a:p xmlns:a="http://schemas.openxmlformats.org/drawingml/2006/main">
            <a:r>
              <a:t>- RQ3 dùng paired differences và 95% confidence intervals để quyết định claim mạnh đến đâu.</a:t>
            </a:r>
          </a:p>
          <a:p xmlns:a="http://schemas.openxmlformats.org/drawingml/2006/main">
            <a:r>
              <a:t>- Mean tốt hơn chưa đủ; phải nhìn cả uncertainty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Trước khi xem hệ thống, cần nói rõ phạm vi nào đã được đo và phạm vi nào chưa được đo.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ba cột Controlled, Measured, Not tested và một dòng positioning với BM25, CodeBERT/GraphCodeBERT, Microsoft GraphRAG.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Vector-only và Hybrid dùng cùng source snapshot, câu hỏi, model, judge và số repeats.</a:t>
            </a:r>
          </a:p>
          <a:p xmlns:a="http://schemas.openxmlformats.org/drawingml/2006/main">
            <a:r>
              <a:t>- Thực nghiệm chính chỉ có một pinned Python repository và 30 source-reviewed references.</a:t>
            </a:r>
          </a:p>
          <a:p xmlns:a="http://schemas.openxmlformats.org/drawingml/2006/main">
            <a:r>
              <a:t>- Các hệ thống related work chỉ dùng để positioning; chúng chưa phải experimental baselines trong thesis.</a:t>
            </a:r>
          </a:p>
          <a:p xmlns:a="http://schemas.openxmlformats.org/drawingml/2006/main">
            <a:r>
              <a:t>- Claim hợp lệ là tốt hơn trên paired workload này, không phải tốt hơn mọi RAG system.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Với boundary đó, bây giờ đi vào cách system tạo hai searchable views từ source code.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doc/thesis@78e5bd8:docs/thesis_report_en.tex; eval/gold/llama_index_core_answer_quality_v1.json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Python source đi qua Tree-sitter một lần rồi tách song song sang FalkorDB và Qdrant, sau đó cùng giữ provenance.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Tree-sitter tạo AST và source spans.</a:t>
            </a:r>
          </a:p>
          <a:p xmlns:a="http://schemas.openxmlformats.org/drawingml/2006/main">
            <a:r>
              <a:t>- FalkorDB giữ nodes cùng các edge DEFINES, CALLS, IMPORTS.</a:t>
            </a:r>
          </a:p>
          <a:p xmlns:a="http://schemas.openxmlformats.org/drawingml/2006/main">
            <a:r>
              <a:t>- Qdrant giữ source chunks và 768-dimensional embeddings.</a:t>
            </a:r>
          </a:p>
          <a:p xmlns:a="http://schemas.openxmlformats.org/drawingml/2006/main">
            <a:r>
              <a:t>- Hai stores không feed nối tiếp nhau; chúng là hai views của cùng parsed source và dùng chung identity trail.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Slide tiếp theo zoom vào đúng hai file Checkout để thấy AST biến thành dữ liệu gì.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src/hybrid_rag/ingestion/parser.py; src/hybrid_rag/ingestion/pipeline.py;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code checkout.py ở trái, Tree-sitter AST ở giữa, graph facts và searchable source ở phải.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Parser nhận ra Module, Class, Function và các Call nodes như _validate, _total, payment.charge.</a:t>
            </a:r>
          </a:p>
          <a:p xmlns:a="http://schemas.openxmlformats.org/drawingml/2006/main">
            <a:r>
              <a:t>- Nhánh graph tạo facts như Checkout DEFINES checkout và checkout CALLS _validate.</a:t>
            </a:r>
          </a:p>
          <a:p xmlns:a="http://schemas.openxmlformats.org/drawingml/2006/main">
            <a:r>
              <a:t>- Nhánh vector giữ source text, file_path, node_id và embedding để semantic search.</a:t>
            </a:r>
          </a:p>
          <a:p xmlns:a="http://schemas.openxmlformats.org/drawingml/2006/main">
            <a:r>
              <a:t>- Một source span vì vậy có cả structural view và semantic view.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AST mới chỉ tạo call stubs; bước sau quyết định stub nào đủ rõ để thành edge thật.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presentation/hybrid_rag_demo_scenario.md; src/hybrid_rag/ingestion/parser.py; src/hybrid_rag/ingestion/pipeline.py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các call stubs đi qua ba mức tìm target, sau đó tách thành Unique target hoặc Ambiguous.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Resolver thử same class, same module, rồi candidate lookup trong import hoặc graph scope.</a:t>
            </a:r>
          </a:p>
          <a:p xmlns:a="http://schemas.openxmlformats.org/drawingml/2006/main">
            <a:r>
              <a:t>- Chỉ khi có đúng một target thì system tạo CALLS edge.</a:t>
            </a:r>
          </a:p>
          <a:p xmlns:a="http://schemas.openxmlformats.org/drawingml/2006/main">
            <a:r>
              <a:t>- _validate và _total resolve rõ; payment.charge và logger.info vẫn được giữ là stubs nếu chưa đủ chắc.</a:t>
            </a:r>
          </a:p>
          <a:p xmlns:a="http://schemas.openxmlformats.org/drawingml/2006/main">
            <a:r>
              <a:t>- Thiết kế này ưu tiên precision và giữ uncertainty visible thay vì invent edge.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Sau khi index đã có hai views, query analyzer sẽ chọn đường search phù hợp với từng loại câu hỏi.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src/hybrid_rag/ingestion/entity_resolver.py; tests/unit/test_entity_resolver.py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Question + signals ở trái dẫn đến ba path ngang hàng: Exact link, Local behavior và Whole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Relation word cộng symbol rõ thì graph-first theo exact-link path.</a:t>
            </a:r>
          </a:p>
          <a:p xmlns:a="http://schemas.openxmlformats.org/drawingml/2006/main">
            <a:r>
              <a:t>- Behavior hoặc execution sequence dùng graph và related source text, sau đó fuse bằng RRF.</a:t>
            </a:r>
          </a:p>
          <a:p xmlns:a="http://schemas.openxmlformats.org/drawingml/2006/main">
            <a:r>
              <a:t>- Architecture hoặc overview dùng directory communities và summaries.</a:t>
            </a:r>
          </a:p>
          <a:p xmlns:a="http://schemas.openxmlformats.org/drawingml/2006/main">
            <a:r>
              <a:t>- Câu hỏi Checkout sequence trong ví dụ đi path 2; các path khác không cần chạy thừa.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Đi lần lượt qua ba path, bắt đầu với exact-link.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src/hybrid_rag/retrieval/query_analyzer.py; src/hybrid_rag/retrieval/hybrid_retriever.py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relation + symbol đi vào FalkorDB lookup, rồi trả resolved links hoặc fallback khi graph evidence yếu.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Exact-link dùng khi question hỏi rõ quan hệ, ví dụ what calls _total.</a:t>
            </a:r>
          </a:p>
          <a:p xmlns:a="http://schemas.openxmlformats.org/drawingml/2006/main">
            <a:r>
              <a:t>- Lookup được giới hạn trong repository scope.</a:t>
            </a:r>
          </a:p>
          <a:p xmlns:a="http://schemas.openxmlformats.org/drawingml/2006/main">
            <a:r>
              <a:t>- Nếu graph link đủ rõ thì dùng graph evidence trực tiếp.</a:t>
            </a:r>
          </a:p>
          <a:p xmlns:a="http://schemas.openxmlformats.org/drawingml/2006/main">
            <a:r>
              <a:t>- Related text chỉ là fallback khi graph thiếu hoặc yếu, không phải bước mặc định đầu tiên.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Với câu hỏi cần giải thích behavior, một graph lookup đơn lẻ chưa đủ nên system dùng path thứ hai.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src/hybrid_rag/retrieval/query_analyzer.py; src/hybrid_rag/retrieval/hybrid_retriever.py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Checkout sequence chạy graph retrieval và vector retrieval song song, hai ranking gặp nhau ở RRF rồi thành context.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Graph trả explicit links và unresolved stubs như _validate, _total.</a:t>
            </a:r>
          </a:p>
          <a:p xmlns:a="http://schemas.openxmlformats.org/drawingml/2006/main">
            <a:r>
              <a:t>- Vector trả source chunks liên quan như checkout.py và payment.py.</a:t>
            </a:r>
          </a:p>
          <a:p xmlns:a="http://schemas.openxmlformats.org/drawingml/2006/main">
            <a:r>
              <a:t>- RRF kết hợp rank positions; ContextAssembler deduplicate, giữ provenance và tôn trọng token budget.</a:t>
            </a:r>
          </a:p>
          <a:p xmlns:a="http://schemas.openxmlformats.org/drawingml/2006/main">
            <a:r>
              <a:t>- Đây là path chính cho câu hỏi cần giải thích flow hoặc function behavior.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Path thứ ba dành cho câu hỏi kiến trúc hoặc toàn repository.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src/hybrid_rag/retrieval/hybrid_retriever.py; src/hybrid_rag/retrieval/context_assembler.py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Code nodes được nhóm thành Directory groups, tạo Local summaries rồi dùng cho Global retrieval.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Whole-repository path dùng khi câu hỏi hỏi architecture hoặc overview.</a:t>
            </a:r>
          </a:p>
          <a:p xmlns:a="http://schemas.openxmlformats.org/drawingml/2006/main">
            <a:r>
              <a:t>- Implementation hiện tại group deterministic theo repository và directory.</a:t>
            </a:r>
          </a:p>
          <a:p xmlns:a="http://schemas.openxmlformats.org/drawingml/2006/main">
            <a:r>
              <a:t>- Ollama tạo local architectural summaries, sau đó global retriever lấy community context.</a:t>
            </a:r>
          </a:p>
          <a:p xmlns:a="http://schemas.openxmlformats.org/drawingml/2006/main">
            <a:r>
              <a:t>- Không nên gọi đây là Louvain clustering vì cách đó chưa được triển khai hoặc benchmark trong workload này.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Quay lại local-behavior path để giải thích rõ bước RRF đang kết hợp hai ranking như thế nào.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src/hybrid_rag/graph/community_builder.py; src/hybrid_rag/retrieval/global_retriever.py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graph rank và vector rank có thứ tự riêng, RRF đứng giữa, bên phải là context cuối gửi cho Ollama.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Raw score của graph và vector không cùng scale, nên system không cộng trực tiếp.</a:t>
            </a:r>
          </a:p>
          <a:p xmlns:a="http://schemas.openxmlformats.org/drawingml/2006/main">
            <a:r>
              <a:t>- RRF dùng rank position để tạo một fused ranking.</a:t>
            </a:r>
          </a:p>
          <a:p xmlns:a="http://schemas.openxmlformats.org/drawingml/2006/main">
            <a:r>
              <a:t>- ContextAssembler lấy fused top-k, deduplicate theo base node, giữ best evidence và cắt theo token budget.</a:t>
            </a:r>
          </a:p>
          <a:p xmlns:a="http://schemas.openxmlformats.org/drawingml/2006/main">
            <a:r>
              <a:t>- Fuse ranking và assemble context là hai bước khác nhau.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Câu hỏi tự nhiên là vì sao chọn RRF thay vì CombSUM, Borda hoặc reranker.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src/hybrid_rag/retrieval/rrf.py; src/hybrid_rag/retrieval/context_assembler.py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bốn lựa chọn fusion gồm CombSUM, Borda, Reranker và RRF; RRF được highlight.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CombSUM cần calibrate raw score scales.</a:t>
            </a:r>
          </a:p>
          <a:p xmlns:a="http://schemas.openxmlformats.org/drawingml/2006/main">
            <a:r>
              <a:t>- Borda cũng dùng rank voting nhưng ít retrieval-specific hơn.</a:t>
            </a:r>
          </a:p>
          <a:p xmlns:a="http://schemas.openxmlformats.org/drawingml/2006/main">
            <a:r>
              <a:t>- Learned reranker có thể mạnh hơn nhưng thêm model inference, latency và dependency.</a:t>
            </a:r>
          </a:p>
          <a:p xmlns:a="http://schemas.openxmlformats.org/drawingml/2006/main">
            <a:r>
              <a:t>- RRF nhẹ, deterministic và chỉ cần rank positions nên phù hợp prototype local.</a:t>
            </a:r>
          </a:p>
          <a:p xmlns:a="http://schemas.openxmlformats.org/drawingml/2006/main">
            <a:r>
              <a:t>- Đây là design rationale, không phải benchmark chứng minh RRF tốt nhất; k bằng 60 chưa được tune.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Sau retrieval, phần tiếp theo giải thích cách index được update mà không tạo empty-index window.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src/hybrid_rag/retrieval/rrf.py; Cormack et al. 2009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năm bước update từ Validate, Prepare, Publish, Clean stale records đến Finalize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Validate và prepare hoàn toàn trước khi mutate stores.</a:t>
            </a:r>
          </a:p>
          <a:p xmlns:a="http://schemas.openxmlformats.org/drawingml/2006/main">
            <a:r>
              <a:t>- Graph records và vectors mới được upsert trước.</a:t>
            </a:r>
          </a:p>
          <a:p xmlns:a="http://schemas.openxmlformats.org/drawingml/2006/main">
            <a:r>
              <a:t>- Stale records của run cũ chỉ bị xóa sau đó để tránh index bị rỗng.</a:t>
            </a:r>
          </a:p>
          <a:p xmlns:a="http://schemas.openxmlformats.org/drawingml/2006/main">
            <a:r>
              <a:t>- Metadata và cache generation chỉ finalize ở cuối.</a:t>
            </a:r>
          </a:p>
          <a:p xmlns:a="http://schemas.openxmlformats.org/drawingml/2006/main">
            <a:r>
              <a:t>- FalkorDB và Qdrant không có một shared transaction, nên partial publish vẫn có thể xảy 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Slide sau dùng run A và run B để nhìn update order cụ thể hơn.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src/hybrid_rag/ingestion/pipeline.py; src/hybrid_rag/utils/cache.py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source artifact và digest tạo index run B, preflight kiểm tra identity trước evaluation.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Re-indexing chuyển hai stores từ run A sang run B.</a:t>
            </a:r>
          </a:p>
          <a:p xmlns:a="http://schemas.openxmlformats.org/drawingml/2006/main">
            <a:r>
              <a:t>- Source digest, schema và embedding model tạo nên identity cần khớp.</a:t>
            </a:r>
          </a:p>
          <a:p xmlns:a="http://schemas.openxmlformats.org/drawingml/2006/main">
            <a:r>
              <a:t>- Run B được upsert trước stale cleanup để tránh empty-index window.</a:t>
            </a:r>
          </a:p>
          <a:p xmlns:a="http://schemas.openxmlformats.org/drawingml/2006/main">
            <a:r>
              <a:t>- Đây chưa phải atomic cross-store cutover; mismatch ở preflight thì evaluation phải abort.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Vì không có shared transaction, cần nói rõ state nào còn lại khi từng bước fail.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src/hybrid_rag/ingestion/pipeline.py; src/hybrid_rag/vector/qdrant_store.py; src/hybrid_rag/eval/preflight.py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một failure contract mô tả state sau validation, preparation, publish hoặc cache failure.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Validation hoặc preparation fail thì run A còn nguyên.</a:t>
            </a:r>
          </a:p>
          <a:p xmlns:a="http://schemas.openxmlformats.org/drawingml/2006/main">
            <a:r>
              <a:t>- Publish fail có thể để partial state vì hai stores không rollback chung.</a:t>
            </a:r>
          </a:p>
          <a:p xmlns:a="http://schemas.openxmlformats.org/drawingml/2006/main">
            <a:r>
              <a:t>- Cache failure cho phép query chạy uncached thay vì làm toàn hệ thống dừng.</a:t>
            </a:r>
          </a:p>
          <a:p xmlns:a="http://schemas.openxmlformats.org/drawingml/2006/main">
            <a:r>
              <a:t>- Retry hoặc rebuild được làm explicit và observable; không claim rollback tự động.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Từ system mechanism chuyển sang cách thiết kế benchmark và đơn vị thống kê.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src/hybrid_rag/ingestion/pipeline.py; src/hybrid_rag/utils/cache.py; src/hybrid_rag/eval/preflight.py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30 questions chạy cùng câu ở hai modes, ba repeats mỗi mode, tạo 180 rows rồi rút về 30 paired deltas và 10,000 bootstrap samples.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- 180 rows là raw records để audit, không phải 180 independent samples.</a:t>
            </a:r>
          </a:p>
          <a:p xmlns:a="http://schemas.openxmlformats.org/drawingml/2006/main">
            <a:r>
              <a:t>- Statistical unit là question.</a:t>
            </a:r>
          </a:p>
          <a:p xmlns:a="http://schemas.openxmlformats.org/drawingml/2006/main">
            <a:r>
              <a:t>- Mỗi question tạo một Hybrid minus Vector delta sau khi average repeats theo mode.</a:t>
            </a:r>
          </a:p>
          <a:p xmlns:a="http://schemas.openxmlformats.org/drawingml/2006/main">
            <a:r>
              <a:t>- Paired bootstrap resample 30 question-level deltas để tạo 95% confidence interval.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Trước khi chạy benchmark, provenance gate phải đảm bảo gold, graph và vector cùng identity.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eval/gold/llama_index_core_answer_quality_v1.json; results/answer_quality_benchmark_schema3.json; doc/thesis@78e5bd8:scripts/analyze_answer_quality_statistics.py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Gold dataset, FalkorDB metadata và Qdrant metadata cùng đi vào Compare identities, rồi tách Match hoặc Mismatch.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Source, index run, schema và embedding model phải khớp.</a:t>
            </a:r>
          </a:p>
          <a:p xmlns:a="http://schemas.openxmlformats.org/drawingml/2006/main">
            <a:r>
              <a:t>- Match thì benchmark mới được chạy.</a:t>
            </a:r>
          </a:p>
          <a:p xmlns:a="http://schemas.openxmlformats.org/drawingml/2006/main">
            <a:r>
              <a:t>- Mismatch thì stop và rebuild; không publish score từ stale hoặc mixed identity.</a:t>
            </a:r>
          </a:p>
          <a:p xmlns:a="http://schemas.openxmlformats.org/drawingml/2006/main">
            <a:r>
              <a:t>- Gate này bảo vệ tính reproducible của benchmark, không trực tiếp làm answer tốt hơn.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Identity đúng vẫn chưa có nghĩa automated evaluation tương đương human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src/hybrid_rag/eval/preflight.py; src/hybrid_rag/eval/answer_quality.py; scripts/run_answer_quality_benchmark.py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toàn bộ 180 records có expected-source hit, nhưng slide nhấn mạnh giới hạn của bằng chứng tự động.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source_hit bằng 1 chỉ có nghĩa retrieval lấy được ít nhất một expected source file.</a:t>
            </a:r>
          </a:p>
          <a:p xmlns:a="http://schemas.openxmlformats.org/drawingml/2006/main">
            <a:r>
              <a:t>- Nó không tự chứng minh answer đúng và không phải citation accuracy do human chấm.</a:t>
            </a:r>
          </a:p>
          <a:p xmlns:a="http://schemas.openxmlformats.org/drawingml/2006/main">
            <a:r>
              <a:t>- Quality scores do local judge model tạo; reference answers được source-review trong project.</a:t>
            </a:r>
          </a:p>
          <a:p xmlns:a="http://schemas.openxmlformats.org/drawingml/2006/main">
            <a:r>
              <a:t>- Kết quả có thể audit và chạy lại, nhưng chưa phải independent human accuracy.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Slide sau zoom vào cách paired 95% interval được tính.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eval/gold/llama_index_core_answer_quality_v1.json; results/answer_quality_benchmark_schema3.json; src/hybrid_rag/eval/answer_quality.py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bốn bước Average repeats, Keep the pair, Resample deltas và Build the range.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Với từng metric, average ba repeats cho mỗi question và mode.</a:t>
            </a:r>
          </a:p>
          <a:p xmlns:a="http://schemas.openxmlformats.org/drawingml/2006/main">
            <a:r>
              <a:t>- Giữ cùng question thành một cặp rồi tính Hybrid mean minus Vector mean.</a:t>
            </a:r>
          </a:p>
          <a:p xmlns:a="http://schemas.openxmlformats.org/drawingml/2006/main">
            <a:r>
              <a:t>- Mỗi bootstrap sample rút 30 deltas có replacement; một question có thể xuất hiện nhiều lần.</a:t>
            </a:r>
          </a:p>
          <a:p xmlns:a="http://schemas.openxmlformats.org/drawingml/2006/main">
            <a:r>
              <a:t>- Lặp 10,000 samples và lấy percentile 2.5 cùng 97.5 của sample means.</a:t>
            </a:r>
          </a:p>
          <a:p xmlns:a="http://schemas.openxmlformats.org/drawingml/2006/main">
            <a:r>
              <a:t>- Resampling unit là paired question delta, không phải individual answer row.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Sau khi biết cách tính interval, bây giờ đọc các result thật.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doc/thesis@78e5bd8:scripts/analyze_answer_quality_statistics.py; doc/thesis@78e5bd8:results/answer_quality_benchmark_statistics.json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bảng mean Vector, mean Hybrid và paired delta kèm 95% CI cho ba answer-quality metrics.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Faithfulness tăng khoảng 0.029 nhưng interval còn chứa zero.</a:t>
            </a:r>
          </a:p>
          <a:p xmlns:a="http://schemas.openxmlformats.org/drawingml/2006/main">
            <a:r>
              <a:t>- Answer Relevancy tăng khoảng 0.079 nhưng lower bound gần như chạm hoặc hơi dưới zero.</a:t>
            </a:r>
          </a:p>
          <a:p xmlns:a="http://schemas.openxmlformats.org/drawingml/2006/main">
            <a:r>
              <a:t>- Answer Correctness tăng 0.046 với CI từ 0.002 đến 0.094.</a:t>
            </a:r>
          </a:p>
          <a:p xmlns:a="http://schemas.openxmlformats.org/drawingml/2006/main">
            <a:r>
              <a:t>- Vì vậy chỉ Correctness có interval hoàn toàn trên zero trong workload này.</a:t>
            </a:r>
          </a:p>
          <a:p xmlns:a="http://schemas.openxmlformats.org/drawingml/2006/main">
            <a:r>
              <a:t>- Đây là automated judge scores, không phải phần trăm human correctness.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Slide tiếp theo chuyển các interval này thành mức độ claim: not clear, borderline và supported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doc/thesis@78e5bd8:results/answer_quality_benchmark_statistics.json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Faithfulness được đánh dấu Not clear, Relevancy là Borderline và Correctness là Supported here.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Mean cao hơn không tự động nghĩa là improvement đáng tin cậy.</a:t>
            </a:r>
          </a:p>
          <a:p xmlns:a="http://schemas.openxmlformats.org/drawingml/2006/main">
            <a:r>
              <a:t>- Faithfulness interval cho phép cả decrease nhỏ lẫn increase lớn, nên inconclusive.</a:t>
            </a:r>
          </a:p>
          <a:p xmlns:a="http://schemas.openxmlformats.org/drawingml/2006/main">
            <a:r>
              <a:t>- Relevancy gần dương nhưng vẫn chạm zero, nên borderline.</a:t>
            </a:r>
          </a:p>
          <a:p xmlns:a="http://schemas.openxmlformats.org/drawingml/2006/main">
            <a:r>
              <a:t>- Correctness có toàn bộ interval trên zero, nên đây là claim mạnh nhất.</a:t>
            </a:r>
          </a:p>
          <a:p xmlns:a="http://schemas.openxmlformats.org/drawingml/2006/main">
            <a:r>
              <a:t>- Uncertainty là giới hạn của evidence hiện có, không phải software defect.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Chất lượng tăng có trade-off gì về thời gian và token?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doc/thesis@78e5bd8:docs/thesis_report_en.tex; doc/thesis@78e5bd8:results/answer_quality_benchmark_statistics.json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bảng retrieval latency, generation latency, prompt tokens và completion tokens cho Vector và Hybrid.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Retrieval tăng từ 134 ms lên 371 ms, delta khoảng 237 ms; interval hoàn toàn dương nên overhead được hỗ trợ.</a:t>
            </a:r>
          </a:p>
          <a:p xmlns:a="http://schemas.openxmlformats.org/drawingml/2006/main">
            <a:r>
              <a:t>- Generation latency giảm ở point estimate nhưng interval chứa zero.</a:t>
            </a:r>
          </a:p>
          <a:p xmlns:a="http://schemas.openxmlformats.org/drawingml/2006/main">
            <a:r>
              <a:t>- Prompt và completion tokens cũng giảm ở point estimate, nhưng intervals chứa zero.</a:t>
            </a:r>
          </a:p>
          <a:p xmlns:a="http://schemas.openxmlformats.org/drawingml/2006/main">
            <a:r>
              <a:t>- Kết luận chắc chắn chỉ là Hybrid tốn thêm retrieval time; chưa chứng minh generation hoặc token efficiency.</a:t>
            </a:r>
          </a:p>
          <a:p xmlns:a="http://schemas.openxmlformats.org/drawingml/2006/main">
            <a:r>
              <a:t>- 371 ms là retrieval latency trong workload này, không phải end-to-end SLA.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Demo tiếp theo chỉ minh họa mechanism, không thay thế aggregate benchmark.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doc/thesis@78e5bd8:results/answer_quality_benchmark_statistics.json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năm bước demo từ check services, hỏi Checkout, xem retrieval evidence, xem answer + sources đến thử Java indexing.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Check FalkorDB, Qdrant và Ollama trước.</a:t>
            </a:r>
          </a:p>
          <a:p xmlns:a="http://schemas.openxmlformats.org/drawingml/2006/main">
            <a:r>
              <a:t>- Dùng một câu hỏi Checkout để quan sát path choice, graph candidates, vector candidates và RRF.</a:t>
            </a:r>
          </a:p>
          <a:p xmlns:a="http://schemas.openxmlformats.org/drawingml/2006/main">
            <a:r>
              <a:t>- Xem answer cùng source paths và năm context items.</a:t>
            </a:r>
          </a:p>
          <a:p xmlns:a="http://schemas.openxmlformats.org/drawingml/2006/main">
            <a:r>
              <a:t>- Java indexing phải trả explicit unsupported-language error.</a:t>
            </a:r>
          </a:p>
          <a:p xmlns:a="http://schemas.openxmlformats.org/drawingml/2006/main">
            <a:r>
              <a:t>- Fixture chỉ minh họa cơ chế; benchmark mới hỗ trợ aggregate claims.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Từ mechanism và evidence, chốt đóng góp thực sự của thesis.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presentation/hybrid_rag_demo_scenario.md; src/hybrid_rag/api/main.py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đóng góp được tách thành Research-facing contribution và System / engineering capabilities.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Thesis không claim phát minh AST parsing, graph retrieval, vector search hoặc RRF.</a:t>
            </a:r>
          </a:p>
          <a:p xmlns:a="http://schemas.openxmlformats.org/drawingml/2006/main">
            <a:r>
              <a:t>- Research-facing contribution là tích hợp query-aware retrieval, repository-scoped graph + vector evidence và provenance-aware evaluation artifacts.</a:t>
            </a:r>
          </a:p>
          <a:p xmlns:a="http://schemas.openxmlformats.org/drawingml/2006/main">
            <a:r>
              <a:t>- Incremental indexing, concurrency, community summaries, exploration portal, MCP và Web UI là implemented capabilities.</a:t>
            </a:r>
          </a:p>
          <a:p xmlns:a="http://schemas.openxmlformats.org/drawingml/2006/main">
            <a:r>
              <a:t>- Giá trị chính là integration và auditability; experiment vẫn deliberately bounded.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Slide detail sau nói rõ các capability mở rộng không tự động trở thành experimental evidence.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repository implementation and evaluation artifacts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các capability ngoài benchmark path gồm incremental indexing, communities, exploration và optional non-code ingestion.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Những phần này đã được implement để prototype hữu dụng hơn.</a:t>
            </a:r>
          </a:p>
          <a:p xmlns:a="http://schemas.openxmlformats.org/drawingml/2006/main">
            <a:r>
              <a:t>- Chúng không được dùng để claim thêm performance hoặc generalization trong thesis.</a:t>
            </a:r>
          </a:p>
          <a:p xmlns:a="http://schemas.openxmlformats.org/drawingml/2006/main">
            <a:r>
              <a:t>- Mỗi capability cần workload và metric riêng trước khi đưa ra research claim rộng hơn.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Quay về kết luận chính với một lợi ích, một chi phí và một boundary rõ ràng.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src/hybrid_rag/ingestion; src/hybrid_rag/graph/community_builder.py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ba ô Quality, Cost và Boundary tóm tắt kết quả cuối.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Trên 30 paired questions, judged Answer Correctness tăng 0.046 với CI từ 0.002 đến 0.094.</a:t>
            </a:r>
          </a:p>
          <a:p xmlns:a="http://schemas.openxmlformats.org/drawingml/2006/main">
            <a:r>
              <a:t>- Retrieval latency tăng khoảng 237 ms với CI từ 208 đến 266 ms.</a:t>
            </a:r>
          </a:p>
          <a:p xmlns:a="http://schemas.openxmlformats.org/drawingml/2006/main">
            <a:r>
              <a:t>- Evidence chỉ đến từ một pinned Python repository, vector-only baseline và automated judge.</a:t>
            </a:r>
          </a:p>
          <a:p xmlns:a="http://schemas.openxmlformats.org/drawingml/2006/main">
            <a:r>
              <a:t>- Kết luận chính xác là Hybrid cải thiện correctness trong workload này nhưng search lâu hơn.</a:t>
            </a:r>
          </a:p>
          <a:p xmlns:a="http://schemas.openxmlformats.org/drawingml/2006/main">
            <a:r>
              <a:t>- Faithfulness, Relevancy và các giảm token/generation chưa có evidence đủ mạnh để claim chắc chắn.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Chuyển tiếp: Kết thúc bằng những experiment còn thiếu để mở rộng claim.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doc/thesis@78e5bd8:docs/thesis_report_en.tex; doc/thesis@78e5bd8:results/answer_quality_benchmark_statistics.json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Slide đang cho thấy: danh sách open evidence gồm human review, nhiều questions hơn, cross-repo workloads, stronger baselines, Java và resource measurements.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Ý cần nói:</a:t>
            </a:r>
          </a:p>
          <a:p xmlns:a="http://schemas.openxmlformats.org/drawingml/2006/main">
            <a:r>
              <a:t>- Cần independent human review để kiểm tra automated judge.</a:t>
            </a:r>
          </a:p>
          <a:p xmlns:a="http://schemas.openxmlformats.org/drawingml/2006/main">
            <a:r>
              <a:t>- Cần nhiều câu hỏi và repository đa dạng hơn để đánh giá generalization.</a:t>
            </a:r>
          </a:p>
          <a:p xmlns:a="http://schemas.openxmlformats.org/drawingml/2006/main">
            <a:r>
              <a:t>- Cần chạy BM25, graph-only, reranker hoặc các stronger baselines thay vì chỉ literature comparison.</a:t>
            </a:r>
          </a:p>
          <a:p xmlns:a="http://schemas.openxmlformats.org/drawingml/2006/main">
            <a:r>
              <a:t>- Java support và CPU, memory, energy measurements vẫn là future experiments.</a:t>
            </a:r>
          </a:p>
          <a:p xmlns:a="http://schemas.openxmlformats.org/drawingml/2006/main">
            <a:r>
              <a:t>- Broader claims chỉ nên được đưa ra sau khi các evidence này được đo.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Kết thúc: Nhắc lại thesis đã chứng minh một bounded claim rõ ràng và sẵn sàng nhận câu hỏi.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 doc/thesis@78e5bd8:docs/thesis_report_en.tex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e28563430d7487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d27a3e063ea4d75" /><Relationship Type="http://schemas.openxmlformats.org/officeDocument/2006/relationships/slideLayout" Target="/ppt/slideLayouts/slideLayout1.xml" Id="R245aae4dbc9744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45aae4dbc9744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9e979b0325436d" /><Relationship Type="http://schemas.openxmlformats.org/officeDocument/2006/relationships/notesSlide" Target="/ppt/notesSlides/notesSlide1.xml" Id="R31e86406cc54489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fefe769cb5499a" /><Relationship Type="http://schemas.openxmlformats.org/officeDocument/2006/relationships/notesSlide" Target="/ppt/notesSlides/notesSlide2.xml" Id="R0923834f68c545a6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0fb71bcd194a18" /><Relationship Type="http://schemas.openxmlformats.org/officeDocument/2006/relationships/notesSlide" Target="/ppt/notesSlides/notesSlide3.xml" Id="Rfa3e60e6d0c34a1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e34eacada4410d" /><Relationship Type="http://schemas.openxmlformats.org/officeDocument/2006/relationships/notesSlide" Target="/ppt/notesSlides/notesSlide4.xml" Id="Rb3f17613902b4a8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8344f54dea4803" /><Relationship Type="http://schemas.openxmlformats.org/officeDocument/2006/relationships/notesSlide" Target="/ppt/notesSlides/notesSlide5.xml" Id="R1116be17ee68444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1e7ceb6c9d943e4" /><Relationship Type="http://schemas.openxmlformats.org/officeDocument/2006/relationships/notesSlide" Target="/ppt/notesSlides/notesSlide6.xml" Id="Rab6c3d3205c5470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12b29222ab47dc" /><Relationship Type="http://schemas.openxmlformats.org/officeDocument/2006/relationships/notesSlide" Target="/ppt/notesSlides/notesSlide7.xml" Id="R61b2b5f1dc4c4ce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ef810b04c7448e" /><Relationship Type="http://schemas.openxmlformats.org/officeDocument/2006/relationships/notesSlide" Target="/ppt/notesSlides/notesSlide8.xml" Id="R84ee1465916e43a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e48515a60f4ee9" /><Relationship Type="http://schemas.openxmlformats.org/officeDocument/2006/relationships/notesSlide" Target="/ppt/notesSlides/notesSlide9.xml" Id="R468cc2debb3f4d0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1689a272184085" /><Relationship Type="http://schemas.openxmlformats.org/officeDocument/2006/relationships/notesSlide" Target="/ppt/notesSlides/notesSlide10.xml" Id="Ra3b0094e7a9a4b04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5092be77b274c47" /><Relationship Type="http://schemas.openxmlformats.org/officeDocument/2006/relationships/notesSlide" Target="/ppt/notesSlides/notesSlide11.xml" Id="R42db755524874da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5b0a564712494b" /><Relationship Type="http://schemas.openxmlformats.org/officeDocument/2006/relationships/notesSlide" Target="/ppt/notesSlides/notesSlide12.xml" Id="Re5d480541046423d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8c172737b3f4f7c" /><Relationship Type="http://schemas.openxmlformats.org/officeDocument/2006/relationships/notesSlide" Target="/ppt/notesSlides/notesSlide13.xml" Id="R3d1968ae191c4a5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70ffa6180640d2" /><Relationship Type="http://schemas.openxmlformats.org/officeDocument/2006/relationships/notesSlide" Target="/ppt/notesSlides/notesSlide14.xml" Id="Raa9792821097415b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2e659ba2bf41a4" /><Relationship Type="http://schemas.openxmlformats.org/officeDocument/2006/relationships/notesSlide" Target="/ppt/notesSlides/notesSlide15.xml" Id="R53b31c6d0df54754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843bf478d494c97" /><Relationship Type="http://schemas.openxmlformats.org/officeDocument/2006/relationships/notesSlide" Target="/ppt/notesSlides/notesSlide16.xml" Id="Re70f399352de4feb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a5ca1416c34c78" /><Relationship Type="http://schemas.openxmlformats.org/officeDocument/2006/relationships/notesSlide" Target="/ppt/notesSlides/notesSlide17.xml" Id="Rfa1074748e3a420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e53fc7cf414bae" /><Relationship Type="http://schemas.openxmlformats.org/officeDocument/2006/relationships/notesSlide" Target="/ppt/notesSlides/notesSlide18.xml" Id="R7824c546912f411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f000a46fda4a60" /><Relationship Type="http://schemas.openxmlformats.org/officeDocument/2006/relationships/notesSlide" Target="/ppt/notesSlides/notesSlide19.xml" Id="R6feb31aaa3bb453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47abb4e75247b1" /><Relationship Type="http://schemas.openxmlformats.org/officeDocument/2006/relationships/notesSlide" Target="/ppt/notesSlides/notesSlide20.xml" Id="R427239c9e34e4037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75656a325ed476a" /><Relationship Type="http://schemas.openxmlformats.org/officeDocument/2006/relationships/notesSlide" Target="/ppt/notesSlides/notesSlide21.xml" Id="R41ded7e6c9d5431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99fc529f514c65" /><Relationship Type="http://schemas.openxmlformats.org/officeDocument/2006/relationships/notesSlide" Target="/ppt/notesSlides/notesSlide22.xml" Id="R8bcbb18f7ce3469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ab77c1b0971440a" /><Relationship Type="http://schemas.openxmlformats.org/officeDocument/2006/relationships/notesSlide" Target="/ppt/notesSlides/notesSlide23.xml" Id="R55f0eaf63d9d418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830b902d474282" /><Relationship Type="http://schemas.openxmlformats.org/officeDocument/2006/relationships/notesSlide" Target="/ppt/notesSlides/notesSlide24.xml" Id="Ra891305427814fe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eb382c3336940fd" /><Relationship Type="http://schemas.openxmlformats.org/officeDocument/2006/relationships/notesSlide" Target="/ppt/notesSlides/notesSlide25.xml" Id="Rf52d16285c5e4fc8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2b50c47d994a88" /><Relationship Type="http://schemas.openxmlformats.org/officeDocument/2006/relationships/notesSlide" Target="/ppt/notesSlides/notesSlide26.xml" Id="Rbcf1d53072534a1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0119c00371f4e21" /><Relationship Type="http://schemas.openxmlformats.org/officeDocument/2006/relationships/notesSlide" Target="/ppt/notesSlides/notesSlide27.xml" Id="Rc5d4670e11444a03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eb0048fe144740" /><Relationship Type="http://schemas.openxmlformats.org/officeDocument/2006/relationships/notesSlide" Target="/ppt/notesSlides/notesSlide28.xml" Id="R1536ad8166294a2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kicker">
            <a:extLst xmlns:a="http://schemas.openxmlformats.org/drawingml/2006/main">
              <a:ext uri="{FF2B5EF4-FFF2-40B4-BE49-F238E27FC236}">
                <a16:creationId xmlns:a16="http://schemas.microsoft.com/office/drawing/2014/main" id="{48B41144-65EE-442A-A6C8-31D2F0111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00100"/>
            <a:ext cx="457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Master's thesis</a:t>
            </a:r>
          </a:p>
        </p:txBody>
      </p:sp>
      <p:sp>
        <p:nvSpPr>
          <p:cNvPr id="2" name="rule">
            <a:extLst xmlns:a="http://schemas.openxmlformats.org/drawingml/2006/main">
              <a:ext uri="{FF2B5EF4-FFF2-40B4-BE49-F238E27FC236}">
                <a16:creationId xmlns:a16="http://schemas.microsoft.com/office/drawing/2014/main" id="{13EC6FEC-7A93-4505-B3D6-AE83692F46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62050"/>
            <a:ext cx="7810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4D4A1356-BAF5-428B-8648-F097B054C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6572250" cy="1600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Research and Development of a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Code Retrieval System Based on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Hybrid-RAG Architecture Combining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Knowledge Graphs and Semantic Search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A3A324A2-9BD9-4007-9808-761538B6B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59055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586671"/>
                </a:solidFill>
                <a:latin typeface="Aptos"/>
                <a:ea typeface="Aptos"/>
                <a:cs typeface="Aptos"/>
              </a:rPr>
              <a:t>Finding the Right Code with Hybrid-RAG</a:t>
            </a:r>
          </a:p>
          <a:p xmlns:a="http://schemas.openxmlformats.org/drawingml/2006/main">
            <a:pPr algn="l">
              <a:buNone/>
              <a:defRPr sz="14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425">
                <a:solidFill>
                  <a:srgbClr val="586671"/>
                </a:solidFill>
                <a:latin typeface="Aptos"/>
                <a:ea typeface="Aptos"/>
                <a:cs typeface="Aptos"/>
              </a:rPr>
              <a:t>A Python code map plus meaning-based search for one repository.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5FDF9A50-EB87-4ABD-B187-6D4BD7735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4953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Tran Tien Duat  ·  Master of Software Engineering  ·  2026</a:t>
            </a:r>
          </a:p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Supervisor: PhD. Doan Xuan Huy Minh</a:t>
            </a:r>
          </a:p>
        </p:txBody>
      </p:sp>
      <p:sp>
        <p:nvSpPr>
          <p:cNvPr id="6" name="hero-surface">
            <a:extLst xmlns:a="http://schemas.openxmlformats.org/drawingml/2006/main">
              <a:ext uri="{FF2B5EF4-FFF2-40B4-BE49-F238E27FC236}">
                <a16:creationId xmlns:a16="http://schemas.microsoft.com/office/drawing/2014/main" id="{DE69E68B-1FE5-4D7B-9CFC-1689B80D7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524000"/>
            <a:ext cx="2857500" cy="2857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7" name="hero-graph">
            <a:extLst xmlns:a="http://schemas.openxmlformats.org/drawingml/2006/main">
              <a:ext uri="{FF2B5EF4-FFF2-40B4-BE49-F238E27FC236}">
                <a16:creationId xmlns:a16="http://schemas.microsoft.com/office/drawing/2014/main" id="{D2D790B4-2F9E-4F45-BF52-AC8EE81A9D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9431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GRAPH</a:t>
            </a:r>
          </a:p>
        </p:txBody>
      </p:sp>
      <p:sp>
        <p:nvSpPr>
          <p:cNvPr id="8" name="hero-plus">
            <a:extLst xmlns:a="http://schemas.openxmlformats.org/drawingml/2006/main">
              <a:ext uri="{FF2B5EF4-FFF2-40B4-BE49-F238E27FC236}">
                <a16:creationId xmlns:a16="http://schemas.microsoft.com/office/drawing/2014/main" id="{DED623D9-C8F5-4936-BF50-4549218E0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18859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+</a:t>
            </a:r>
          </a:p>
        </p:txBody>
      </p:sp>
      <p:sp>
        <p:nvSpPr>
          <p:cNvPr id="9" name="hero-vector">
            <a:extLst xmlns:a="http://schemas.openxmlformats.org/drawingml/2006/main">
              <a:ext uri="{FF2B5EF4-FFF2-40B4-BE49-F238E27FC236}">
                <a16:creationId xmlns:a16="http://schemas.microsoft.com/office/drawing/2014/main" id="{EAC192F2-EF24-486F-8EEA-04B6ECF81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25527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VECTOR</a:t>
            </a:r>
          </a:p>
        </p:txBody>
      </p:sp>
      <p:sp>
        <p:nvSpPr>
          <p:cNvPr id="10" name="hero-line">
            <a:extLst xmlns:a="http://schemas.openxmlformats.org/drawingml/2006/main">
              <a:ext uri="{FF2B5EF4-FFF2-40B4-BE49-F238E27FC236}">
                <a16:creationId xmlns:a16="http://schemas.microsoft.com/office/drawing/2014/main" id="{DCBAD7AD-53C6-4FE1-A9E1-AF1DD984E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143250"/>
            <a:ext cx="1809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9D1D1"/>
            </a:solidFill>
            <a:prstDash val="solid"/>
          </a:ln>
        </p:spPr>
      </p:sp>
      <p:sp>
        <p:nvSpPr>
          <p:cNvPr id="11" name="hero-provenance">
            <a:extLst xmlns:a="http://schemas.openxmlformats.org/drawingml/2006/main">
              <a:ext uri="{FF2B5EF4-FFF2-40B4-BE49-F238E27FC236}">
                <a16:creationId xmlns:a16="http://schemas.microsoft.com/office/drawing/2014/main" id="{E177509F-C8C7-4E63-A4BF-17872E544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429000"/>
            <a:ext cx="2095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PROVENANCE</a:t>
            </a:r>
          </a:p>
        </p:txBody>
      </p:sp>
      <p:sp>
        <p:nvSpPr>
          <p:cNvPr id="12" name="hero-caption">
            <a:extLst xmlns:a="http://schemas.openxmlformats.org/drawingml/2006/main">
              <a:ext uri="{FF2B5EF4-FFF2-40B4-BE49-F238E27FC236}">
                <a16:creationId xmlns:a16="http://schemas.microsoft.com/office/drawing/2014/main" id="{6CD27B35-DA3B-4A31-823F-2D213694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388620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Inspectable evidence</a:t>
            </a:r>
          </a:p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for code questions</a:t>
            </a:r>
          </a:p>
        </p:txBody>
      </p:sp>
      <p:sp>
        <p:nvSpPr>
          <p:cNvPr id="14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C05AA54-642D-47DF-9954-33B807D09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194978235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icker">
            <a:extLst xmlns:a="http://schemas.openxmlformats.org/drawingml/2006/main">
              <a:ext uri="{FF2B5EF4-FFF2-40B4-BE49-F238E27FC236}">
                <a16:creationId xmlns:a16="http://schemas.microsoft.com/office/drawing/2014/main" id="{62E36096-B068-4BDD-BF34-2A19050950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The problem · 02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D60FC39-B3F8-4A80-B171-5091FC78D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D9DE582-A7BE-4C43-BE60-EBCCC8543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The problem: code questions need both meaning and structure.</a:t>
            </a:r>
          </a:p>
        </p:txBody>
      </p:sp>
      <p:sp>
        <p:nvSpPr>
          <p:cNvPr id="4" name="running-case-core-02-label">
            <a:extLst xmlns:a="http://schemas.openxmlformats.org/drawingml/2006/main">
              <a:ext uri="{FF2B5EF4-FFF2-40B4-BE49-F238E27FC236}">
                <a16:creationId xmlns:a16="http://schemas.microsoft.com/office/drawing/2014/main" id="{F482D275-E86F-4766-9260-59645737A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EXAMPLE</a:t>
            </a:r>
          </a:p>
        </p:txBody>
      </p:sp>
      <p:sp>
        <p:nvSpPr>
          <p:cNvPr id="5" name="running-case-core-02-query">
            <a:extLst xmlns:a="http://schemas.openxmlformats.org/drawingml/2006/main">
              <a:ext uri="{FF2B5EF4-FFF2-40B4-BE49-F238E27FC236}">
                <a16:creationId xmlns:a16="http://schemas.microsoft.com/office/drawing/2014/main" id="{5CB410AB-C0EA-4B92-A47C-8C255095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demo_checkout</a:t>
            </a:r>
          </a:p>
        </p:txBody>
      </p:sp>
      <p:sp>
        <p:nvSpPr>
          <p:cNvPr id="6" name="running-case-core-02-stage">
            <a:extLst xmlns:a="http://schemas.openxmlformats.org/drawingml/2006/main">
              <a:ext uri="{FF2B5EF4-FFF2-40B4-BE49-F238E27FC236}">
                <a16:creationId xmlns:a16="http://schemas.microsoft.com/office/drawing/2014/main" id="{1D08AB74-69BF-4763-BD3B-E63734470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two files · one question</a:t>
            </a:r>
          </a:p>
        </p:txBody>
      </p:sp>
      <p:sp>
        <p:nvSpPr>
          <p:cNvPr id="7" name="question-box">
            <a:extLst xmlns:a="http://schemas.openxmlformats.org/drawingml/2006/main">
              <a:ext uri="{FF2B5EF4-FFF2-40B4-BE49-F238E27FC236}">
                <a16:creationId xmlns:a16="http://schemas.microsoft.com/office/drawing/2014/main" id="{1B058F0E-2F4D-42E9-8F81-2036B3E67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762500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question-label">
            <a:extLst xmlns:a="http://schemas.openxmlformats.org/drawingml/2006/main">
              <a:ext uri="{FF2B5EF4-FFF2-40B4-BE49-F238E27FC236}">
                <a16:creationId xmlns:a16="http://schemas.microsoft.com/office/drawing/2014/main" id="{DF92939A-DF3B-41C7-BD1F-B696678E8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2476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QUESTION EXAMPLE</a:t>
            </a:r>
          </a:p>
        </p:txBody>
      </p:sp>
      <p:sp>
        <p:nvSpPr>
          <p:cNvPr id="9" name="question">
            <a:extLst xmlns:a="http://schemas.openxmlformats.org/drawingml/2006/main">
              <a:ext uri="{FF2B5EF4-FFF2-40B4-BE49-F238E27FC236}">
                <a16:creationId xmlns:a16="http://schemas.microsoft.com/office/drawing/2014/main" id="{F17DEA81-8B63-4899-BFAA-9F3CCBB6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67000"/>
            <a:ext cx="390525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When Checkout.checkout runs,</a:t>
            </a:r>
          </a:p>
          <a:p xmlns:a="http://schemas.openxmlformats.org/drawingml/2006/main">
            <a:pPr algn="l">
              <a:buNone/>
              <a:defRPr sz="18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what is the sequence?</a:t>
            </a:r>
          </a:p>
        </p:txBody>
      </p:sp>
      <p:sp>
        <p:nvSpPr>
          <p:cNvPr id="10" name="question-detail">
            <a:extLst xmlns:a="http://schemas.openxmlformats.org/drawingml/2006/main">
              <a:ext uri="{FF2B5EF4-FFF2-40B4-BE49-F238E27FC236}">
                <a16:creationId xmlns:a16="http://schemas.microsoft.com/office/drawing/2014/main" id="{0C4AB64A-F3E9-4F20-A975-1A590F3BA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581400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including logging and payment</a:t>
            </a:r>
          </a:p>
        </p:txBody>
      </p:sp>
      <p:sp>
        <p:nvSpPr>
          <p:cNvPr id="11" name="semantic-box">
            <a:extLst xmlns:a="http://schemas.openxmlformats.org/drawingml/2006/main">
              <a:ext uri="{FF2B5EF4-FFF2-40B4-BE49-F238E27FC236}">
                <a16:creationId xmlns:a16="http://schemas.microsoft.com/office/drawing/2014/main" id="{7F5F2030-F320-44FC-B722-0976591CBE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4762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12" name="semantic-label">
            <a:extLst xmlns:a="http://schemas.openxmlformats.org/drawingml/2006/main">
              <a:ext uri="{FF2B5EF4-FFF2-40B4-BE49-F238E27FC236}">
                <a16:creationId xmlns:a16="http://schemas.microsoft.com/office/drawing/2014/main" id="{650B15C7-E239-42AF-AA7D-BDF37BC19F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17170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MEANING</a:t>
            </a:r>
          </a:p>
        </p:txBody>
      </p:sp>
      <p:sp>
        <p:nvSpPr>
          <p:cNvPr id="13" name="semantic-copy">
            <a:extLst xmlns:a="http://schemas.openxmlformats.org/drawingml/2006/main">
              <a:ext uri="{FF2B5EF4-FFF2-40B4-BE49-F238E27FC236}">
                <a16:creationId xmlns:a16="http://schemas.microsoft.com/office/drawing/2014/main" id="{3D1A484F-752D-4DBC-B9C3-FD5619CE0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2887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D2A34"/>
                </a:solidFill>
                <a:latin typeface="Aptos"/>
                <a:ea typeface="Aptos"/>
                <a:cs typeface="Aptos"/>
              </a:rPr>
              <a:t>Find related code such as payment.py.</a:t>
            </a:r>
          </a:p>
        </p:txBody>
      </p:sp>
      <p:sp>
        <p:nvSpPr>
          <p:cNvPr id="14" name="structural-box">
            <a:extLst xmlns:a="http://schemas.openxmlformats.org/drawingml/2006/main">
              <a:ext uri="{FF2B5EF4-FFF2-40B4-BE49-F238E27FC236}">
                <a16:creationId xmlns:a16="http://schemas.microsoft.com/office/drawing/2014/main" id="{EB47339F-A8DC-4F21-A320-BD8AF7405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048000"/>
            <a:ext cx="4762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15" name="structural-label">
            <a:extLst xmlns:a="http://schemas.openxmlformats.org/drawingml/2006/main">
              <a:ext uri="{FF2B5EF4-FFF2-40B4-BE49-F238E27FC236}">
                <a16:creationId xmlns:a16="http://schemas.microsoft.com/office/drawing/2014/main" id="{B7C5EE66-E503-451B-A1A6-ECC2B01AC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194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STRUCTURE</a:t>
            </a:r>
          </a:p>
        </p:txBody>
      </p:sp>
      <p:sp>
        <p:nvSpPr>
          <p:cNvPr id="16" name="structural-copy">
            <a:extLst xmlns:a="http://schemas.openxmlformats.org/drawingml/2006/main">
              <a:ext uri="{FF2B5EF4-FFF2-40B4-BE49-F238E27FC236}">
                <a16:creationId xmlns:a16="http://schemas.microsoft.com/office/drawing/2014/main" id="{2E8C758A-FC53-493F-827E-A319684F0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76625"/>
            <a:ext cx="4000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D2A34"/>
                </a:solidFill>
                <a:latin typeface="Aptos"/>
                <a:ea typeface="Aptos"/>
                <a:cs typeface="Aptos"/>
              </a:rPr>
              <a:t>Show call, define and import links.</a:t>
            </a:r>
          </a:p>
        </p:txBody>
      </p:sp>
      <p:sp>
        <p:nvSpPr>
          <p:cNvPr id="21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F685993-EF07-4816-A177-D4B0E6E081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7395952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C314425C-8555-4B0B-8C80-069AA690B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Research questions · 03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42873C4A-2490-4A72-BEC3-ED99FD8F5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9090E8A-86C5-424D-890D-076E2F83B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Three questions cover quality, cost and confidence.</a:t>
            </a:r>
          </a:p>
        </p:txBody>
      </p:sp>
      <p:sp>
        <p:nvSpPr>
          <p:cNvPr id="4" name="rq-0">
            <a:extLst xmlns:a="http://schemas.openxmlformats.org/drawingml/2006/main">
              <a:ext uri="{FF2B5EF4-FFF2-40B4-BE49-F238E27FC236}">
                <a16:creationId xmlns:a16="http://schemas.microsoft.com/office/drawing/2014/main" id="{9644CC9B-E7BD-4BED-A5B3-F30A3A2FBE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5" name="rq-label-0">
            <a:extLst xmlns:a="http://schemas.openxmlformats.org/drawingml/2006/main">
              <a:ext uri="{FF2B5EF4-FFF2-40B4-BE49-F238E27FC236}">
                <a16:creationId xmlns:a16="http://schemas.microsoft.com/office/drawing/2014/main" id="{097C70A7-A477-4B2A-98AB-DE033746B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2669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RQ1</a:t>
            </a:r>
          </a:p>
        </p:txBody>
      </p:sp>
      <p:sp>
        <p:nvSpPr>
          <p:cNvPr id="6" name="rq-title-0">
            <a:extLst xmlns:a="http://schemas.openxmlformats.org/drawingml/2006/main">
              <a:ext uri="{FF2B5EF4-FFF2-40B4-BE49-F238E27FC236}">
                <a16:creationId xmlns:a16="http://schemas.microsoft.com/office/drawing/2014/main" id="{127B0716-31D5-4896-8B71-806E1903C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6860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Answer quality</a:t>
            </a:r>
          </a:p>
        </p:txBody>
      </p:sp>
      <p:sp>
        <p:nvSpPr>
          <p:cNvPr id="7" name="rq-copy-0">
            <a:extLst xmlns:a="http://schemas.openxmlformats.org/drawingml/2006/main">
              <a:ext uri="{FF2B5EF4-FFF2-40B4-BE49-F238E27FC236}">
                <a16:creationId xmlns:a16="http://schemas.microsoft.com/office/drawing/2014/main" id="{74C9BE62-5A45-4567-A595-F0F4C3174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429000"/>
            <a:ext cx="2476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Faithfulness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Answer Relevancy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Answer Correctness</a:t>
            </a:r>
          </a:p>
        </p:txBody>
      </p:sp>
      <p:sp>
        <p:nvSpPr>
          <p:cNvPr id="8" name="rq-1">
            <a:extLst xmlns:a="http://schemas.openxmlformats.org/drawingml/2006/main">
              <a:ext uri="{FF2B5EF4-FFF2-40B4-BE49-F238E27FC236}">
                <a16:creationId xmlns:a16="http://schemas.microsoft.com/office/drawing/2014/main" id="{98E44262-2575-43BD-B7FB-1E7AFE2E29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1000" y="200025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6EEF5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9" name="rq-label-1">
            <a:extLst xmlns:a="http://schemas.openxmlformats.org/drawingml/2006/main">
              <a:ext uri="{FF2B5EF4-FFF2-40B4-BE49-F238E27FC236}">
                <a16:creationId xmlns:a16="http://schemas.microsoft.com/office/drawing/2014/main" id="{5F810831-E033-4DBD-A304-81778431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2669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RQ2</a:t>
            </a:r>
          </a:p>
        </p:txBody>
      </p:sp>
      <p:sp>
        <p:nvSpPr>
          <p:cNvPr id="10" name="rq-title-1">
            <a:extLst xmlns:a="http://schemas.openxmlformats.org/drawingml/2006/main">
              <a:ext uri="{FF2B5EF4-FFF2-40B4-BE49-F238E27FC236}">
                <a16:creationId xmlns:a16="http://schemas.microsoft.com/office/drawing/2014/main" id="{AEAA5CE1-14A2-4150-B648-EC0D580CE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26860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Efficiency</a:t>
            </a:r>
          </a:p>
        </p:txBody>
      </p:sp>
      <p:sp>
        <p:nvSpPr>
          <p:cNvPr id="11" name="rq-copy-1">
            <a:extLst xmlns:a="http://schemas.openxmlformats.org/drawingml/2006/main">
              <a:ext uri="{FF2B5EF4-FFF2-40B4-BE49-F238E27FC236}">
                <a16:creationId xmlns:a16="http://schemas.microsoft.com/office/drawing/2014/main" id="{BF154CEC-0642-4D9C-AD33-DCD0BB62F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429000"/>
            <a:ext cx="2476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Retrieval latency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Generation latency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Token footprint</a:t>
            </a:r>
          </a:p>
        </p:txBody>
      </p:sp>
      <p:sp>
        <p:nvSpPr>
          <p:cNvPr id="12" name="rq-2">
            <a:extLst xmlns:a="http://schemas.openxmlformats.org/drawingml/2006/main">
              <a:ext uri="{FF2B5EF4-FFF2-40B4-BE49-F238E27FC236}">
                <a16:creationId xmlns:a16="http://schemas.microsoft.com/office/drawing/2014/main" id="{0B7A61DE-F3F0-498C-920C-7693CEB85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000250"/>
            <a:ext cx="3143250" cy="2476500"/>
          </a:xfrm>
          <a:prstGeom xmlns:a="http://schemas.openxmlformats.org/drawingml/2006/main" prst="roundRect">
            <a:avLst>
              <a:gd name="adj" fmla="val 4615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13" name="rq-label-2">
            <a:extLst xmlns:a="http://schemas.openxmlformats.org/drawingml/2006/main">
              <a:ext uri="{FF2B5EF4-FFF2-40B4-BE49-F238E27FC236}">
                <a16:creationId xmlns:a16="http://schemas.microsoft.com/office/drawing/2014/main" id="{C41BA3D1-918A-49B8-9C6A-E731AAF37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266950"/>
            <a:ext cx="76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RQ3</a:t>
            </a:r>
          </a:p>
        </p:txBody>
      </p:sp>
      <p:sp>
        <p:nvSpPr>
          <p:cNvPr id="14" name="rq-title-2">
            <a:extLst xmlns:a="http://schemas.openxmlformats.org/drawingml/2006/main">
              <a:ext uri="{FF2B5EF4-FFF2-40B4-BE49-F238E27FC236}">
                <a16:creationId xmlns:a16="http://schemas.microsoft.com/office/drawing/2014/main" id="{4DA52830-C973-48ED-B103-90C7EB791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2686050"/>
            <a:ext cx="2571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9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9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Evidence strength</a:t>
            </a:r>
          </a:p>
        </p:txBody>
      </p:sp>
      <p:sp>
        <p:nvSpPr>
          <p:cNvPr id="15" name="rq-copy-2">
            <a:extLst xmlns:a="http://schemas.openxmlformats.org/drawingml/2006/main">
              <a:ext uri="{FF2B5EF4-FFF2-40B4-BE49-F238E27FC236}">
                <a16:creationId xmlns:a16="http://schemas.microsoft.com/office/drawing/2014/main" id="{D60C047D-31A5-4D69-AB51-65292843A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429000"/>
            <a:ext cx="2476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Paired differences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95% confidence intervals</a:t>
            </a:r>
          </a:p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What can be claimed</a:t>
            </a:r>
          </a:p>
        </p:txBody>
      </p:sp>
      <p:sp>
        <p:nvSpPr>
          <p:cNvPr id="2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0CFD207-C930-4E6B-937C-A044B5F01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50653914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CC549816-488B-4367-8F50-2EBEA494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Scope and related work · 04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5E19BEE3-0E18-44CF-A351-73D993270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D0BEC19-E0EA-4C0F-8309-DDEB842A1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We tested one clear, controlled case.</a:t>
            </a:r>
          </a:p>
        </p:txBody>
      </p:sp>
      <p:sp>
        <p:nvSpPr>
          <p:cNvPr id="4" name="scope-0">
            <a:extLst xmlns:a="http://schemas.openxmlformats.org/drawingml/2006/main">
              <a:ext uri="{FF2B5EF4-FFF2-40B4-BE49-F238E27FC236}">
                <a16:creationId xmlns:a16="http://schemas.microsoft.com/office/drawing/2014/main" id="{2FFBCE9F-9582-45BE-B627-68A4316BE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5" name="scope-label-0">
            <a:extLst xmlns:a="http://schemas.openxmlformats.org/drawingml/2006/main">
              <a:ext uri="{FF2B5EF4-FFF2-40B4-BE49-F238E27FC236}">
                <a16:creationId xmlns:a16="http://schemas.microsoft.com/office/drawing/2014/main" id="{2B492B40-E7C7-4819-A2B8-386A1A87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04787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CONTROLLED</a:t>
            </a:r>
          </a:p>
        </p:txBody>
      </p:sp>
      <p:sp>
        <p:nvSpPr>
          <p:cNvPr id="6" name="scope-copy-0">
            <a:extLst xmlns:a="http://schemas.openxmlformats.org/drawingml/2006/main">
              <a:ext uri="{FF2B5EF4-FFF2-40B4-BE49-F238E27FC236}">
                <a16:creationId xmlns:a16="http://schemas.microsoft.com/office/drawing/2014/main" id="{7DE2E2AE-6875-4004-899B-60E2BEDFE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57450"/>
            <a:ext cx="238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One pinned repository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Same questions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Matched models and repeats</a:t>
            </a:r>
          </a:p>
        </p:txBody>
      </p:sp>
      <p:sp>
        <p:nvSpPr>
          <p:cNvPr id="7" name="scope-1">
            <a:extLst xmlns:a="http://schemas.openxmlformats.org/drawingml/2006/main">
              <a:ext uri="{FF2B5EF4-FFF2-40B4-BE49-F238E27FC236}">
                <a16:creationId xmlns:a16="http://schemas.microsoft.com/office/drawing/2014/main" id="{759B3DA6-30A4-4C33-AC2D-D32CDBF5D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180975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8" name="scope-label-1">
            <a:extLst xmlns:a="http://schemas.openxmlformats.org/drawingml/2006/main">
              <a:ext uri="{FF2B5EF4-FFF2-40B4-BE49-F238E27FC236}">
                <a16:creationId xmlns:a16="http://schemas.microsoft.com/office/drawing/2014/main" id="{15E985A8-69C6-4C54-8B8F-5C9E9DDC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04787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MEASURED</a:t>
            </a:r>
          </a:p>
        </p:txBody>
      </p:sp>
      <p:sp>
        <p:nvSpPr>
          <p:cNvPr id="9" name="scope-copy-1">
            <a:extLst xmlns:a="http://schemas.openxmlformats.org/drawingml/2006/main">
              <a:ext uri="{FF2B5EF4-FFF2-40B4-BE49-F238E27FC236}">
                <a16:creationId xmlns:a16="http://schemas.microsoft.com/office/drawing/2014/main" id="{86D7E9BE-0F34-4F92-A103-F3285532C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457450"/>
            <a:ext cx="23812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Python code structure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Vector-only baseline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30 source-reviewed references</a:t>
            </a:r>
          </a:p>
        </p:txBody>
      </p:sp>
      <p:sp>
        <p:nvSpPr>
          <p:cNvPr id="10" name="scope-2">
            <a:extLst xmlns:a="http://schemas.openxmlformats.org/drawingml/2006/main">
              <a:ext uri="{FF2B5EF4-FFF2-40B4-BE49-F238E27FC236}">
                <a16:creationId xmlns:a16="http://schemas.microsoft.com/office/drawing/2014/main" id="{EBFA1AB3-363C-49D4-BAAF-8B974C95A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1809750"/>
            <a:ext cx="285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11" name="scope-label-2">
            <a:extLst xmlns:a="http://schemas.openxmlformats.org/drawingml/2006/main">
              <a:ext uri="{FF2B5EF4-FFF2-40B4-BE49-F238E27FC236}">
                <a16:creationId xmlns:a16="http://schemas.microsoft.com/office/drawing/2014/main" id="{38812386-A222-4C2D-AE52-1BD7696A6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047875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NOT TESTED</a:t>
            </a:r>
          </a:p>
        </p:txBody>
      </p:sp>
      <p:sp>
        <p:nvSpPr>
          <p:cNvPr id="12" name="scope-copy-2">
            <a:extLst xmlns:a="http://schemas.openxmlformats.org/drawingml/2006/main">
              <a:ext uri="{FF2B5EF4-FFF2-40B4-BE49-F238E27FC236}">
                <a16:creationId xmlns:a16="http://schemas.microsoft.com/office/drawing/2014/main" id="{1BFCE269-6732-4AB9-AFC0-DE9833939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457450"/>
            <a:ext cx="2381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Other repositories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Independent human judging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BM25, CodeBERT, GraphRAG</a:t>
            </a:r>
          </a:p>
        </p:txBody>
      </p:sp>
      <p:sp>
        <p:nvSpPr>
          <p:cNvPr id="13" name="scope-rule">
            <a:extLst xmlns:a="http://schemas.openxmlformats.org/drawingml/2006/main">
              <a:ext uri="{FF2B5EF4-FFF2-40B4-BE49-F238E27FC236}">
                <a16:creationId xmlns:a16="http://schemas.microsoft.com/office/drawing/2014/main" id="{E5732004-D83A-4026-9D29-10F031F11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4" name="related-label">
            <a:extLst xmlns:a="http://schemas.openxmlformats.org/drawingml/2006/main">
              <a:ext uri="{FF2B5EF4-FFF2-40B4-BE49-F238E27FC236}">
                <a16:creationId xmlns:a16="http://schemas.microsoft.com/office/drawing/2014/main" id="{72F75CFF-42A2-4C56-9D58-A579C89B9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9575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RELATED-WORK POSITIONING · LITERATURE ONLY</a:t>
            </a:r>
          </a:p>
        </p:txBody>
      </p:sp>
      <p:sp>
        <p:nvSpPr>
          <p:cNvPr id="15" name="related-copy">
            <a:extLst xmlns:a="http://schemas.openxmlformats.org/drawingml/2006/main">
              <a:ext uri="{FF2B5EF4-FFF2-40B4-BE49-F238E27FC236}">
                <a16:creationId xmlns:a16="http://schemas.microsoft.com/office/drawing/2014/main" id="{7D58F684-E12F-40B7-8F86-BB0D6D1D4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00550"/>
            <a:ext cx="1017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86671"/>
                </a:solidFill>
                <a:latin typeface="Aptos"/>
                <a:ea typeface="Aptos"/>
                <a:cs typeface="Aptos"/>
              </a:rPr>
              <a:t>BM25 = lexical matching   ·   CodeBERT/GraphCodeBERT = code representation   ·   Microsoft GraphRAG = corpus-level graph reasoning</a:t>
            </a:r>
          </a:p>
        </p:txBody>
      </p:sp>
      <p:sp>
        <p:nvSpPr>
          <p:cNvPr id="2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63C85B8-C1F3-4214-AD11-DA9178E15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35089312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kicker">
            <a:extLst xmlns:a="http://schemas.openxmlformats.org/drawingml/2006/main">
              <a:ext uri="{FF2B5EF4-FFF2-40B4-BE49-F238E27FC236}">
                <a16:creationId xmlns:a16="http://schemas.microsoft.com/office/drawing/2014/main" id="{277E18F4-E57D-49D0-9270-61D3D454C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Build the index · 05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16CD19D1-F3D0-4D60-89A5-1EDCC5E19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0D0A7B6-CF29-4FC4-97B5-503276EE6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Build one index with two searchable views.</a:t>
            </a:r>
          </a:p>
        </p:txBody>
      </p:sp>
      <p:sp>
        <p:nvSpPr>
          <p:cNvPr id="4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14DAF02-1B1E-4502-9BAB-53EF4B80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47" name="body-overline-left">
            <a:extLst xmlns:a="http://schemas.openxmlformats.org/drawingml/2006/main">
              <a:ext uri="{FF2B5EF4-FFF2-40B4-BE49-F238E27FC236}">
                <a16:creationId xmlns:a16="http://schemas.microsoft.com/office/drawing/2014/main" id="{C9EEDD64-7891-4DB9-B968-ABFDBE491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26F7A"/>
                </a:solidFill>
              </a:defRPr>
            </a:pPr>
            <a:r>
              <a:rPr sz="900" b="1">
                <a:solidFill>
                  <a:srgbClr val="226F7A"/>
                </a:solidFill>
              </a:rPr>
              <a:t>INDEX ONCE</a:t>
            </a:r>
          </a:p>
        </p:txBody>
      </p:sp>
      <p:sp>
        <p:nvSpPr>
          <p:cNvPr id="48" name="body-overline-middle">
            <a:extLst xmlns:a="http://schemas.openxmlformats.org/drawingml/2006/main">
              <a:ext uri="{FF2B5EF4-FFF2-40B4-BE49-F238E27FC236}">
                <a16:creationId xmlns:a16="http://schemas.microsoft.com/office/drawing/2014/main" id="{9F55E4D8-8BED-4F91-B644-192C71594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5735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E735B"/>
                </a:solidFill>
              </a:defRPr>
            </a:pPr>
            <a:r>
              <a:rPr sz="900" b="1">
                <a:solidFill>
                  <a:srgbClr val="3E735B"/>
                </a:solidFill>
              </a:rPr>
              <a:t>demo_checkout</a:t>
            </a:r>
          </a:p>
        </p:txBody>
      </p:sp>
      <p:sp>
        <p:nvSpPr>
          <p:cNvPr id="49" name="body-overline-right">
            <a:extLst xmlns:a="http://schemas.openxmlformats.org/drawingml/2006/main">
              <a:ext uri="{FF2B5EF4-FFF2-40B4-BE49-F238E27FC236}">
                <a16:creationId xmlns:a16="http://schemas.microsoft.com/office/drawing/2014/main" id="{17AA9326-F6EF-4860-8FD1-08A4FC52F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573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45A37"/>
                </a:solidFill>
              </a:defRPr>
            </a:pPr>
            <a:r>
              <a:rPr sz="900" b="1">
                <a:solidFill>
                  <a:srgbClr val="C45A37"/>
                </a:solidFill>
              </a:rPr>
              <a:t>parse once → two views → shared trail</a:t>
            </a:r>
          </a:p>
        </p:txBody>
      </p:sp>
      <p:sp>
        <p:nvSpPr>
          <p:cNvPr id="50" name="s5-source-box">
            <a:extLst xmlns:a="http://schemas.openxmlformats.org/drawingml/2006/main">
              <a:ext uri="{FF2B5EF4-FFF2-40B4-BE49-F238E27FC236}">
                <a16:creationId xmlns:a16="http://schemas.microsoft.com/office/drawing/2014/main" id="{57CD4956-CB1C-496B-875D-BBB198B91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952625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51" name="s5-source-title">
            <a:extLst xmlns:a="http://schemas.openxmlformats.org/drawingml/2006/main">
              <a:ext uri="{FF2B5EF4-FFF2-40B4-BE49-F238E27FC236}">
                <a16:creationId xmlns:a16="http://schemas.microsoft.com/office/drawing/2014/main" id="{E5FC0492-0E4F-4FD2-8CAB-3E750941F1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1571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Python source</a:t>
            </a:r>
          </a:p>
        </p:txBody>
      </p:sp>
      <p:sp>
        <p:nvSpPr>
          <p:cNvPr id="52" name="s5-source-subtitle">
            <a:extLst xmlns:a="http://schemas.openxmlformats.org/drawingml/2006/main">
              <a:ext uri="{FF2B5EF4-FFF2-40B4-BE49-F238E27FC236}">
                <a16:creationId xmlns:a16="http://schemas.microsoft.com/office/drawing/2014/main" id="{7BB18D76-94A6-4BB6-90D0-626C797A5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67050"/>
            <a:ext cx="157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checkout.py · payment.py</a:t>
            </a:r>
          </a:p>
        </p:txBody>
      </p:sp>
      <p:sp>
        <p:nvSpPr>
          <p:cNvPr id="53" name="s5-parser-box">
            <a:extLst xmlns:a="http://schemas.openxmlformats.org/drawingml/2006/main">
              <a:ext uri="{FF2B5EF4-FFF2-40B4-BE49-F238E27FC236}">
                <a16:creationId xmlns:a16="http://schemas.microsoft.com/office/drawing/2014/main" id="{DF2444AF-46CD-44B1-B964-7027E9378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571750"/>
            <a:ext cx="1952625" cy="9144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54" name="s5-parser-title">
            <a:extLst xmlns:a="http://schemas.openxmlformats.org/drawingml/2006/main">
              <a:ext uri="{FF2B5EF4-FFF2-40B4-BE49-F238E27FC236}">
                <a16:creationId xmlns:a16="http://schemas.microsoft.com/office/drawing/2014/main" id="{B40CFD38-AAC3-440E-8C71-B846EC963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43200"/>
            <a:ext cx="1571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Tree-sitter</a:t>
            </a:r>
          </a:p>
        </p:txBody>
      </p:sp>
      <p:sp>
        <p:nvSpPr>
          <p:cNvPr id="55" name="s5-parser-subtitle">
            <a:extLst xmlns:a="http://schemas.openxmlformats.org/drawingml/2006/main">
              <a:ext uri="{FF2B5EF4-FFF2-40B4-BE49-F238E27FC236}">
                <a16:creationId xmlns:a16="http://schemas.microsoft.com/office/drawing/2014/main" id="{4D9850A2-2B5B-43EF-9114-5FC10047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067050"/>
            <a:ext cx="15716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AST + source spans</a:t>
            </a:r>
          </a:p>
        </p:txBody>
      </p:sp>
      <p:sp>
        <p:nvSpPr>
          <p:cNvPr id="56" name="s5-graph-box">
            <a:extLst xmlns:a="http://schemas.openxmlformats.org/drawingml/2006/main">
              <a:ext uri="{FF2B5EF4-FFF2-40B4-BE49-F238E27FC236}">
                <a16:creationId xmlns:a16="http://schemas.microsoft.com/office/drawing/2014/main" id="{5250BFBD-5B5D-4AF8-B11E-11CC0FCBC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00250"/>
            <a:ext cx="23812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57" name="s5-graph-title">
            <a:extLst xmlns:a="http://schemas.openxmlformats.org/drawingml/2006/main">
              <a:ext uri="{FF2B5EF4-FFF2-40B4-BE49-F238E27FC236}">
                <a16:creationId xmlns:a16="http://schemas.microsoft.com/office/drawing/2014/main" id="{E62CC7EA-ABFD-4FDB-B76A-14743D92F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171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FalkorDB</a:t>
            </a:r>
          </a:p>
        </p:txBody>
      </p:sp>
      <p:sp>
        <p:nvSpPr>
          <p:cNvPr id="58" name="s5-graph-subtitle">
            <a:extLst xmlns:a="http://schemas.openxmlformats.org/drawingml/2006/main">
              <a:ext uri="{FF2B5EF4-FFF2-40B4-BE49-F238E27FC236}">
                <a16:creationId xmlns:a16="http://schemas.microsoft.com/office/drawing/2014/main" id="{193616D2-D7B9-4C98-9DCD-7E10F27A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495550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nodes + DEFINES / CALLS / IMPORTS</a:t>
            </a:r>
          </a:p>
        </p:txBody>
      </p:sp>
      <p:sp>
        <p:nvSpPr>
          <p:cNvPr id="59" name="s5-vector-box">
            <a:extLst xmlns:a="http://schemas.openxmlformats.org/drawingml/2006/main">
              <a:ext uri="{FF2B5EF4-FFF2-40B4-BE49-F238E27FC236}">
                <a16:creationId xmlns:a16="http://schemas.microsoft.com/office/drawing/2014/main" id="{1ED8C4C9-7C95-4F89-9247-47E3FB72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381375"/>
            <a:ext cx="238125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60" name="s5-vector-title">
            <a:extLst xmlns:a="http://schemas.openxmlformats.org/drawingml/2006/main">
              <a:ext uri="{FF2B5EF4-FFF2-40B4-BE49-F238E27FC236}">
                <a16:creationId xmlns:a16="http://schemas.microsoft.com/office/drawing/2014/main" id="{AEC616BF-4F0C-41A1-886A-EA9A21534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55282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Qdrant</a:t>
            </a:r>
          </a:p>
        </p:txBody>
      </p:sp>
      <p:sp>
        <p:nvSpPr>
          <p:cNvPr id="61" name="s5-vector-subtitle">
            <a:extLst xmlns:a="http://schemas.openxmlformats.org/drawingml/2006/main">
              <a:ext uri="{FF2B5EF4-FFF2-40B4-BE49-F238E27FC236}">
                <a16:creationId xmlns:a16="http://schemas.microsoft.com/office/drawing/2014/main" id="{AC36A93B-3ACD-4904-9F18-97DE24C22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876675"/>
            <a:ext cx="2000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source chunks + 768-d embeddings</a:t>
            </a:r>
          </a:p>
        </p:txBody>
      </p:sp>
      <p:sp>
        <p:nvSpPr>
          <p:cNvPr id="62" name="s5-provenance-box">
            <a:extLst xmlns:a="http://schemas.openxmlformats.org/drawingml/2006/main">
              <a:ext uri="{FF2B5EF4-FFF2-40B4-BE49-F238E27FC236}">
                <a16:creationId xmlns:a16="http://schemas.microsoft.com/office/drawing/2014/main" id="{C3E4325E-DFC9-4797-82AB-10B995A7B8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86050"/>
            <a:ext cx="1714500" cy="10287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63" name="s5-provenance-title">
            <a:extLst xmlns:a="http://schemas.openxmlformats.org/drawingml/2006/main">
              <a:ext uri="{FF2B5EF4-FFF2-40B4-BE49-F238E27FC236}">
                <a16:creationId xmlns:a16="http://schemas.microsoft.com/office/drawing/2014/main" id="{5656BC14-E0DF-4C1B-8E62-166BF67C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857500"/>
            <a:ext cx="1333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C35"/>
                </a:solidFill>
              </a:defRPr>
            </a:pPr>
            <a:r>
              <a:rPr sz="1425" b="1">
                <a:solidFill>
                  <a:srgbClr val="202C35"/>
                </a:solidFill>
              </a:rPr>
              <a:t>Provenance</a:t>
            </a:r>
          </a:p>
        </p:txBody>
      </p:sp>
      <p:sp>
        <p:nvSpPr>
          <p:cNvPr id="64" name="s5-provenance-subtitle">
            <a:extLst xmlns:a="http://schemas.openxmlformats.org/drawingml/2006/main">
              <a:ext uri="{FF2B5EF4-FFF2-40B4-BE49-F238E27FC236}">
                <a16:creationId xmlns:a16="http://schemas.microsoft.com/office/drawing/2014/main" id="{1E447728-6FCD-47B2-88E1-226645354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181350"/>
            <a:ext cx="1333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source · span · schema · run</a:t>
            </a:r>
          </a:p>
        </p:txBody>
      </p:sp>
      <p:cxnSp>
        <p:nvCxnSpPr>
          <p:cNvPr id="149" name=""/>
          <p:cNvCxnSpPr>
            <a:stCxn xmlns:a="http://schemas.openxmlformats.org/drawingml/2006/main" id="50" idx="3"/>
            <a:endCxn xmlns:a="http://schemas.openxmlformats.org/drawingml/2006/main" id="53" idx="1"/>
          </p:cNvCxnSpPr>
          <p:nvPr/>
        </p:nvCxnSpPr>
        <p:spPr>
          <a:xfrm xmlns:a="http://schemas.openxmlformats.org/drawingml/2006/main">
            <a:off x="2638425" y="3028950"/>
            <a:ext cx="695325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50" name=""/>
          <p:cNvCxnSpPr>
            <a:stCxn xmlns:a="http://schemas.openxmlformats.org/drawingml/2006/main" id="53" idx="3"/>
            <a:endCxn xmlns:a="http://schemas.openxmlformats.org/drawingml/2006/main" id="56" idx="1"/>
          </p:cNvCxnSpPr>
          <p:nvPr/>
        </p:nvCxnSpPr>
        <p:spPr>
          <a:xfrm xmlns:a="http://schemas.openxmlformats.org/drawingml/2006/main" flipV="1">
            <a:off x="5286375" y="2514600"/>
            <a:ext cx="1047750" cy="5143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51" name=""/>
          <p:cNvCxnSpPr>
            <a:stCxn xmlns:a="http://schemas.openxmlformats.org/drawingml/2006/main" id="53" idx="3"/>
            <a:endCxn xmlns:a="http://schemas.openxmlformats.org/drawingml/2006/main" id="59" idx="1"/>
          </p:cNvCxnSpPr>
          <p:nvPr/>
        </p:nvCxnSpPr>
        <p:spPr>
          <a:xfrm xmlns:a="http://schemas.openxmlformats.org/drawingml/2006/main">
            <a:off x="5286375" y="3028950"/>
            <a:ext cx="1047750" cy="8667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52" name=""/>
          <p:cNvCxnSpPr>
            <a:stCxn xmlns:a="http://schemas.openxmlformats.org/drawingml/2006/main" id="56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>
            <a:off x="8715375" y="2514600"/>
            <a:ext cx="809625" cy="6858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53" name=""/>
          <p:cNvCxnSpPr>
            <a:stCxn xmlns:a="http://schemas.openxmlformats.org/drawingml/2006/main" id="59" idx="3"/>
            <a:endCxn xmlns:a="http://schemas.openxmlformats.org/drawingml/2006/main" id="62" idx="1"/>
          </p:cNvCxnSpPr>
          <p:nvPr/>
        </p:nvCxnSpPr>
        <p:spPr>
          <a:xfrm xmlns:a="http://schemas.openxmlformats.org/drawingml/2006/main" flipV="1">
            <a:off x="8715375" y="3200400"/>
            <a:ext cx="809625" cy="6953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sp>
        <p:nvSpPr>
          <p:cNvPr id="70" name="s5-fork">
            <a:extLst xmlns:a="http://schemas.openxmlformats.org/drawingml/2006/main">
              <a:ext uri="{FF2B5EF4-FFF2-40B4-BE49-F238E27FC236}">
                <a16:creationId xmlns:a16="http://schemas.microsoft.com/office/drawing/2014/main" id="{1328E0C4-E643-47EF-A0DF-471C5E6A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67050"/>
            <a:ext cx="95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5D6F7C"/>
                </a:solidFill>
              </a:defRPr>
            </a:pPr>
            <a:r>
              <a:rPr sz="900" b="1">
                <a:solidFill>
                  <a:srgbClr val="5D6F7C"/>
                </a:solidFill>
              </a:rPr>
              <a:t>same parsed</a:t>
            </a:r>
          </a:p>
          <a:p xmlns:a="http://schemas.openxmlformats.org/drawingml/2006/main">
            <a:pPr algn="ctr">
              <a:buNone/>
              <a:defRPr sz="900" b="1">
                <a:solidFill>
                  <a:srgbClr val="5D6F7C"/>
                </a:solidFill>
              </a:defRPr>
            </a:pPr>
            <a:r>
              <a:rPr sz="900" b="1">
                <a:solidFill>
                  <a:srgbClr val="5D6F7C"/>
                </a:solidFill>
              </a:rPr>
              <a:t>source</a:t>
            </a:r>
          </a:p>
        </p:txBody>
      </p:sp>
    </p:spTree>
    <p:extLst>
      <p:ext uri="{BB962C8B-B14F-4D97-AF65-F5344CB8AC3E}">
        <p14:creationId xmlns:p14="http://schemas.microsoft.com/office/powerpoint/2010/main" val="89706534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EAB3FEA0-0B59-4B35-B16D-84C0BC0D6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Build the index · detail · 1 / 2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31B8209F-28B7-491F-8083-6158DFCA4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F5B3DB3-DEA7-4A07-937B-09A5E55B0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Example: two Checkout files become two searchable views.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DBF9B87-4021-4733-A029-9D92C14544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5.1</a:t>
            </a:r>
          </a:p>
        </p:txBody>
      </p:sp>
      <p:sp>
        <p:nvSpPr>
          <p:cNvPr id="15" name="s6-label">
            <a:extLst xmlns:a="http://schemas.openxmlformats.org/drawingml/2006/main">
              <a:ext uri="{FF2B5EF4-FFF2-40B4-BE49-F238E27FC236}">
                <a16:creationId xmlns:a16="http://schemas.microsoft.com/office/drawing/2014/main" id="{AA27A170-0EFD-4C57-872D-4260C924D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CHECKOUT INDEX TRACE</a:t>
            </a:r>
          </a:p>
        </p:txBody>
      </p:sp>
      <p:sp>
        <p:nvSpPr>
          <p:cNvPr id="16" name="s6-code-box">
            <a:extLst xmlns:a="http://schemas.openxmlformats.org/drawingml/2006/main">
              <a:ext uri="{FF2B5EF4-FFF2-40B4-BE49-F238E27FC236}">
                <a16:creationId xmlns:a16="http://schemas.microsoft.com/office/drawing/2014/main" id="{0A9896DC-ED8C-41B1-A4F3-D5D656186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905125" cy="3105150"/>
          </a:xfrm>
          <a:prstGeom xmlns:a="http://schemas.openxmlformats.org/drawingml/2006/main" prst="roundRect">
            <a:avLst>
              <a:gd name="adj" fmla="val 393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17" name="s6-code-title">
            <a:extLst xmlns:a="http://schemas.openxmlformats.org/drawingml/2006/main">
              <a:ext uri="{FF2B5EF4-FFF2-40B4-BE49-F238E27FC236}">
                <a16:creationId xmlns:a16="http://schemas.microsoft.com/office/drawing/2014/main" id="{499BF850-6A8A-400A-BBF5-06E4561F0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343150"/>
            <a:ext cx="2286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6F7A"/>
                </a:solidFill>
              </a:defRPr>
            </a:pPr>
            <a:r>
              <a:rPr sz="1275" b="1">
                <a:solidFill>
                  <a:srgbClr val="226F7A"/>
                </a:solidFill>
              </a:rPr>
              <a:t>checkout.py</a:t>
            </a:r>
          </a:p>
        </p:txBody>
      </p:sp>
      <p:sp>
        <p:nvSpPr>
          <p:cNvPr id="18" name="s6-code">
            <a:extLst xmlns:a="http://schemas.openxmlformats.org/drawingml/2006/main">
              <a:ext uri="{FF2B5EF4-FFF2-40B4-BE49-F238E27FC236}">
                <a16:creationId xmlns:a16="http://schemas.microsoft.com/office/drawing/2014/main" id="{4A5B1AEB-6F11-411A-94D1-282908F68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686050"/>
            <a:ext cx="2286000" cy="2209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class Checkout: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def checkout(self):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self._validate()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total = self._total()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payment.charge(total)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payment.py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def charge(total): ...</a:t>
            </a:r>
          </a:p>
        </p:txBody>
      </p:sp>
      <p:sp>
        <p:nvSpPr>
          <p:cNvPr id="19" name="s6-ast-box">
            <a:extLst xmlns:a="http://schemas.openxmlformats.org/drawingml/2006/main">
              <a:ext uri="{FF2B5EF4-FFF2-40B4-BE49-F238E27FC236}">
                <a16:creationId xmlns:a16="http://schemas.microsoft.com/office/drawing/2014/main" id="{DA244FAD-F0F9-47F4-AD58-855479E99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2428875" cy="3105150"/>
          </a:xfrm>
          <a:prstGeom xmlns:a="http://schemas.openxmlformats.org/drawingml/2006/main" prst="roundRect">
            <a:avLst>
              <a:gd name="adj" fmla="val 4706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0" name="s6-ast-title">
            <a:extLst xmlns:a="http://schemas.openxmlformats.org/drawingml/2006/main">
              <a:ext uri="{FF2B5EF4-FFF2-40B4-BE49-F238E27FC236}">
                <a16:creationId xmlns:a16="http://schemas.microsoft.com/office/drawing/2014/main" id="{7E8E7FC6-D39B-4CE3-8EDC-6517A90DC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3431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45A37"/>
                </a:solidFill>
              </a:defRPr>
            </a:pPr>
            <a:r>
              <a:rPr sz="1275" b="1">
                <a:solidFill>
                  <a:srgbClr val="C45A37"/>
                </a:solidFill>
              </a:rPr>
              <a:t>Tree-sitter AST</a:t>
            </a:r>
          </a:p>
        </p:txBody>
      </p:sp>
      <p:sp>
        <p:nvSpPr>
          <p:cNvPr id="21" name="s6-ast">
            <a:extLst xmlns:a="http://schemas.openxmlformats.org/drawingml/2006/main">
              <a:ext uri="{FF2B5EF4-FFF2-40B4-BE49-F238E27FC236}">
                <a16:creationId xmlns:a16="http://schemas.microsoft.com/office/drawing/2014/main" id="{3744F6C0-947C-4421-90DC-1D1745073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2714625"/>
            <a:ext cx="1857375" cy="1952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Module checkout.py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└─ Class Checkout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└─ Function checkout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  ├─ Call _validate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  ├─ Call _total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      └─ Call payment.charge</a:t>
            </a:r>
          </a:p>
        </p:txBody>
      </p:sp>
      <p:sp>
        <p:nvSpPr>
          <p:cNvPr id="22" name="s6-graph-box">
            <a:extLst xmlns:a="http://schemas.openxmlformats.org/drawingml/2006/main">
              <a:ext uri="{FF2B5EF4-FFF2-40B4-BE49-F238E27FC236}">
                <a16:creationId xmlns:a16="http://schemas.microsoft.com/office/drawing/2014/main" id="{92EA4985-E312-436A-ABB4-DD195B98C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200025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3" name="s6-graph-title">
            <a:extLst xmlns:a="http://schemas.openxmlformats.org/drawingml/2006/main">
              <a:ext uri="{FF2B5EF4-FFF2-40B4-BE49-F238E27FC236}">
                <a16:creationId xmlns:a16="http://schemas.microsoft.com/office/drawing/2014/main" id="{2FD54DFB-B9BD-4916-9487-3493319A4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24790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26F7A"/>
                </a:solidFill>
              </a:defRPr>
            </a:pPr>
            <a:r>
              <a:rPr sz="1275" b="1">
                <a:solidFill>
                  <a:srgbClr val="226F7A"/>
                </a:solidFill>
              </a:rPr>
              <a:t>FalkorDB · graph facts</a:t>
            </a:r>
          </a:p>
        </p:txBody>
      </p:sp>
      <p:sp>
        <p:nvSpPr>
          <p:cNvPr id="24" name="s6-graph">
            <a:extLst xmlns:a="http://schemas.openxmlformats.org/drawingml/2006/main">
              <a:ext uri="{FF2B5EF4-FFF2-40B4-BE49-F238E27FC236}">
                <a16:creationId xmlns:a16="http://schemas.microsoft.com/office/drawing/2014/main" id="{69CCBB70-3E7C-4292-870B-011E01ED2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264795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Checkout DEFINES checkout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checkout CALLS _validate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checkout CALLS _total</a:t>
            </a:r>
          </a:p>
        </p:txBody>
      </p:sp>
      <p:sp>
        <p:nvSpPr>
          <p:cNvPr id="25" name="s6-vector-box">
            <a:extLst xmlns:a="http://schemas.openxmlformats.org/drawingml/2006/main">
              <a:ext uri="{FF2B5EF4-FFF2-40B4-BE49-F238E27FC236}">
                <a16:creationId xmlns:a16="http://schemas.microsoft.com/office/drawing/2014/main" id="{636665E7-0B07-46DE-8892-89A4C4355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0" y="3771900"/>
            <a:ext cx="4095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6" name="s6-vector-title">
            <a:extLst xmlns:a="http://schemas.openxmlformats.org/drawingml/2006/main">
              <a:ext uri="{FF2B5EF4-FFF2-40B4-BE49-F238E27FC236}">
                <a16:creationId xmlns:a16="http://schemas.microsoft.com/office/drawing/2014/main" id="{D8778B1E-13CC-4254-8404-C414747363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0195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45A37"/>
                </a:solidFill>
              </a:defRPr>
            </a:pPr>
            <a:r>
              <a:rPr sz="1275" b="1">
                <a:solidFill>
                  <a:srgbClr val="C45A37"/>
                </a:solidFill>
              </a:rPr>
              <a:t>Qdrant · searchable source</a:t>
            </a:r>
          </a:p>
        </p:txBody>
      </p:sp>
      <p:sp>
        <p:nvSpPr>
          <p:cNvPr id="27" name="s6-vector">
            <a:extLst xmlns:a="http://schemas.openxmlformats.org/drawingml/2006/main">
              <a:ext uri="{FF2B5EF4-FFF2-40B4-BE49-F238E27FC236}">
                <a16:creationId xmlns:a16="http://schemas.microsoft.com/office/drawing/2014/main" id="{39359771-7717-4071-90ED-449C11FAF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67600" y="4419600"/>
            <a:ext cx="3429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chunk: checkout.py#Checkout.checkout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source text + file_path + node_id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202C35"/>
                </a:solidFill>
              </a:defRPr>
            </a:pPr>
            <a:r>
              <a:rPr sz="1200" b="0">
                <a:solidFill>
                  <a:srgbClr val="202C35"/>
                </a:solidFill>
              </a:rPr>
              <a:t>768-d embedding</a:t>
            </a:r>
          </a:p>
        </p:txBody>
      </p:sp>
      <p:cxnSp>
        <p:nvCxnSpPr>
          <p:cNvPr id="91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3590925" y="364807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92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V="1">
            <a:off x="6524625" y="2714625"/>
            <a:ext cx="619125" cy="9334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524625" y="3648075"/>
            <a:ext cx="619125" cy="8382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sp>
        <p:nvSpPr>
          <p:cNvPr id="31" name="body-source">
            <a:extLst xmlns:a="http://schemas.openxmlformats.org/drawingml/2006/main">
              <a:ext uri="{FF2B5EF4-FFF2-40B4-BE49-F238E27FC236}">
                <a16:creationId xmlns:a16="http://schemas.microsoft.com/office/drawing/2014/main" id="{480D9FB6-B1B7-4B04-A9A0-CBDB66637F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Sources: presentation/hybrid_rag_demo_scenario.md; src/hybrid_rag/ingestion/parser.py; src/hybrid_rag/ingestion/pipeline.py</a:t>
            </a:r>
          </a:p>
        </p:txBody>
      </p:sp>
    </p:spTree>
    <p:extLst>
      <p:ext uri="{BB962C8B-B14F-4D97-AF65-F5344CB8AC3E}">
        <p14:creationId xmlns:p14="http://schemas.microsoft.com/office/powerpoint/2010/main" val="52197781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9258CF6A-3923-4CA7-AC09-02DCDCC4C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Build the index · detail · 2 / 2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A1B5025F-99DE-43C1-9553-47A5D0151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D1485BB-17BE-49A0-A9A1-F551AF336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Link only clear calls; keep uncertain calls visible.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7343F8BA-6B05-46D1-B458-BA5D35D0B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5.2</a:t>
            </a:r>
          </a:p>
        </p:txBody>
      </p:sp>
      <p:sp>
        <p:nvSpPr>
          <p:cNvPr id="15" name="s7-label">
            <a:extLst xmlns:a="http://schemas.openxmlformats.org/drawingml/2006/main">
              <a:ext uri="{FF2B5EF4-FFF2-40B4-BE49-F238E27FC236}">
                <a16:creationId xmlns:a16="http://schemas.microsoft.com/office/drawing/2014/main" id="{72AAAC5B-8F56-4EB4-B34B-E8A0AEC1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ENTITY RESOLUTION</a:t>
            </a:r>
          </a:p>
        </p:txBody>
      </p:sp>
      <p:sp>
        <p:nvSpPr>
          <p:cNvPr id="16" name="s7-stubs-box">
            <a:extLst xmlns:a="http://schemas.openxmlformats.org/drawingml/2006/main">
              <a:ext uri="{FF2B5EF4-FFF2-40B4-BE49-F238E27FC236}">
                <a16:creationId xmlns:a16="http://schemas.microsoft.com/office/drawing/2014/main" id="{79367A85-A0B2-4233-86D9-58AADBC95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24765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17" name="s7-stubs-title">
            <a:extLst xmlns:a="http://schemas.openxmlformats.org/drawingml/2006/main">
              <a:ext uri="{FF2B5EF4-FFF2-40B4-BE49-F238E27FC236}">
                <a16:creationId xmlns:a16="http://schemas.microsoft.com/office/drawing/2014/main" id="{9AEC9967-B111-452F-A9E5-9AA1EF185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Call stubs</a:t>
            </a:r>
          </a:p>
        </p:txBody>
      </p:sp>
      <p:sp>
        <p:nvSpPr>
          <p:cNvPr id="18" name="s7-stubs-subtitle">
            <a:extLst xmlns:a="http://schemas.openxmlformats.org/drawingml/2006/main">
              <a:ext uri="{FF2B5EF4-FFF2-40B4-BE49-F238E27FC236}">
                <a16:creationId xmlns:a16="http://schemas.microsoft.com/office/drawing/2014/main" id="{8692DFED-D3C3-4000-9CA4-60E1BBF38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209550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5D6F7C"/>
                </a:solidFill>
              </a:defRPr>
            </a:pPr>
            <a:r>
              <a:rPr sz="1275" b="0">
                <a:solidFill>
                  <a:srgbClr val="5D6F7C"/>
                </a:solidFill>
              </a:rPr>
              <a:t>_validate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D6F7C"/>
                </a:solidFill>
              </a:defRPr>
            </a:pPr>
            <a:r>
              <a:rPr sz="1275" b="0">
                <a:solidFill>
                  <a:srgbClr val="5D6F7C"/>
                </a:solidFill>
              </a:rPr>
              <a:t>_total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D6F7C"/>
                </a:solidFill>
              </a:defRPr>
            </a:pPr>
            <a:r>
              <a:rPr sz="1275" b="0">
                <a:solidFill>
                  <a:srgbClr val="5D6F7C"/>
                </a:solidFill>
              </a:rPr>
              <a:t>payment.charge</a:t>
            </a:r>
          </a:p>
          <a:p xmlns:a="http://schemas.openxmlformats.org/drawingml/2006/main">
            <a:pPr algn="l">
              <a:buNone/>
              <a:defRPr sz="1275" b="0">
                <a:solidFill>
                  <a:srgbClr val="5D6F7C"/>
                </a:solidFill>
              </a:defRPr>
            </a:pPr>
            <a:r>
              <a:rPr sz="1275" b="0">
                <a:solidFill>
                  <a:srgbClr val="5D6F7C"/>
                </a:solidFill>
              </a:rPr>
              <a:t>logger.info</a:t>
            </a:r>
          </a:p>
        </p:txBody>
      </p:sp>
      <p:sp>
        <p:nvSpPr>
          <p:cNvPr id="19" name="s7-class-box">
            <a:extLst xmlns:a="http://schemas.openxmlformats.org/drawingml/2006/main">
              <a:ext uri="{FF2B5EF4-FFF2-40B4-BE49-F238E27FC236}">
                <a16:creationId xmlns:a16="http://schemas.microsoft.com/office/drawing/2014/main" id="{F5166F45-D404-4E33-80DF-D2991FD87D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095500"/>
            <a:ext cx="2143125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0" name="s7-class-title">
            <a:extLst xmlns:a="http://schemas.openxmlformats.org/drawingml/2006/main">
              <a:ext uri="{FF2B5EF4-FFF2-40B4-BE49-F238E27FC236}">
                <a16:creationId xmlns:a16="http://schemas.microsoft.com/office/drawing/2014/main" id="{D971555B-3DDA-4E91-9A59-DF04933B7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669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02C35"/>
                </a:solidFill>
              </a:defRPr>
            </a:pPr>
            <a:r>
              <a:rPr sz="1275" b="1">
                <a:solidFill>
                  <a:srgbClr val="202C35"/>
                </a:solidFill>
              </a:rPr>
              <a:t>1 · Same class</a:t>
            </a:r>
          </a:p>
        </p:txBody>
      </p:sp>
      <p:sp>
        <p:nvSpPr>
          <p:cNvPr id="21" name="s7-class-subtitle">
            <a:extLst xmlns:a="http://schemas.openxmlformats.org/drawingml/2006/main">
              <a:ext uri="{FF2B5EF4-FFF2-40B4-BE49-F238E27FC236}">
                <a16:creationId xmlns:a16="http://schemas.microsoft.com/office/drawing/2014/main" id="{DEC0E159-5F73-487F-867E-5DB80A580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55270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method match</a:t>
            </a:r>
          </a:p>
        </p:txBody>
      </p:sp>
      <p:sp>
        <p:nvSpPr>
          <p:cNvPr id="22" name="s7-module-box">
            <a:extLst xmlns:a="http://schemas.openxmlformats.org/drawingml/2006/main">
              <a:ext uri="{FF2B5EF4-FFF2-40B4-BE49-F238E27FC236}">
                <a16:creationId xmlns:a16="http://schemas.microsoft.com/office/drawing/2014/main" id="{22121E4C-C901-44CF-B403-72480857F4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105150"/>
            <a:ext cx="2143125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3" name="s7-module-title">
            <a:extLst xmlns:a="http://schemas.openxmlformats.org/drawingml/2006/main">
              <a:ext uri="{FF2B5EF4-FFF2-40B4-BE49-F238E27FC236}">
                <a16:creationId xmlns:a16="http://schemas.microsoft.com/office/drawing/2014/main" id="{F7A46769-7998-41A7-831B-B355E6D93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7660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02C35"/>
                </a:solidFill>
              </a:defRPr>
            </a:pPr>
            <a:r>
              <a:rPr sz="1275" b="1">
                <a:solidFill>
                  <a:srgbClr val="202C35"/>
                </a:solidFill>
              </a:rPr>
              <a:t>2 · Same module</a:t>
            </a:r>
          </a:p>
        </p:txBody>
      </p:sp>
      <p:sp>
        <p:nvSpPr>
          <p:cNvPr id="24" name="s7-module-subtitle">
            <a:extLst xmlns:a="http://schemas.openxmlformats.org/drawingml/2006/main">
              <a:ext uri="{FF2B5EF4-FFF2-40B4-BE49-F238E27FC236}">
                <a16:creationId xmlns:a16="http://schemas.microsoft.com/office/drawing/2014/main" id="{BC0BB815-0317-4B5F-BDE3-37F38A0C9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56235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module function</a:t>
            </a:r>
          </a:p>
        </p:txBody>
      </p:sp>
      <p:sp>
        <p:nvSpPr>
          <p:cNvPr id="25" name="s7-candidate-box">
            <a:extLst xmlns:a="http://schemas.openxmlformats.org/drawingml/2006/main">
              <a:ext uri="{FF2B5EF4-FFF2-40B4-BE49-F238E27FC236}">
                <a16:creationId xmlns:a16="http://schemas.microsoft.com/office/drawing/2014/main" id="{7F212C35-368E-43D4-ACF8-7044ABF2FB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114800"/>
            <a:ext cx="2143125" cy="762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6" name="s7-candidate-title">
            <a:extLst xmlns:a="http://schemas.openxmlformats.org/drawingml/2006/main">
              <a:ext uri="{FF2B5EF4-FFF2-40B4-BE49-F238E27FC236}">
                <a16:creationId xmlns:a16="http://schemas.microsoft.com/office/drawing/2014/main" id="{CD8E8F87-9D29-4CBA-A452-D97A8DAFB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286250"/>
            <a:ext cx="1762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202C35"/>
                </a:solidFill>
              </a:defRPr>
            </a:pPr>
            <a:r>
              <a:rPr sz="1275" b="1">
                <a:solidFill>
                  <a:srgbClr val="202C35"/>
                </a:solidFill>
              </a:rPr>
              <a:t>3 · Candidate</a:t>
            </a:r>
          </a:p>
        </p:txBody>
      </p:sp>
      <p:sp>
        <p:nvSpPr>
          <p:cNvPr id="27" name="s7-candidate-subtitle">
            <a:extLst xmlns:a="http://schemas.openxmlformats.org/drawingml/2006/main">
              <a:ext uri="{FF2B5EF4-FFF2-40B4-BE49-F238E27FC236}">
                <a16:creationId xmlns:a16="http://schemas.microsoft.com/office/drawing/2014/main" id="{C9CEA1F8-44A4-49AD-86A6-8E54D05F9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572000"/>
            <a:ext cx="1762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search import / graph scope</a:t>
            </a:r>
          </a:p>
        </p:txBody>
      </p:sp>
      <p:sp>
        <p:nvSpPr>
          <p:cNvPr id="28" name="s7-linked-box">
            <a:extLst xmlns:a="http://schemas.openxmlformats.org/drawingml/2006/main">
              <a:ext uri="{FF2B5EF4-FFF2-40B4-BE49-F238E27FC236}">
                <a16:creationId xmlns:a16="http://schemas.microsoft.com/office/drawing/2014/main" id="{970BA511-2195-442D-A79B-F56510A35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2190750"/>
            <a:ext cx="3429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9" name="s7-linked-title">
            <a:extLst xmlns:a="http://schemas.openxmlformats.org/drawingml/2006/main">
              <a:ext uri="{FF2B5EF4-FFF2-40B4-BE49-F238E27FC236}">
                <a16:creationId xmlns:a16="http://schemas.microsoft.com/office/drawing/2014/main" id="{6F13AF5A-71EA-486B-9033-0D24D1E1C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36220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3E735B"/>
                </a:solidFill>
              </a:defRPr>
            </a:pPr>
            <a:r>
              <a:rPr sz="1500" b="1">
                <a:solidFill>
                  <a:srgbClr val="3E735B"/>
                </a:solidFill>
              </a:rPr>
              <a:t>Unique target → CALLS edge</a:t>
            </a:r>
          </a:p>
        </p:txBody>
      </p:sp>
      <p:sp>
        <p:nvSpPr>
          <p:cNvPr id="30" name="s7-linked-subtitle">
            <a:extLst xmlns:a="http://schemas.openxmlformats.org/drawingml/2006/main">
              <a:ext uri="{FF2B5EF4-FFF2-40B4-BE49-F238E27FC236}">
                <a16:creationId xmlns:a16="http://schemas.microsoft.com/office/drawing/2014/main" id="{178CB78F-D9D8-4FEC-83BD-A9CD0709C8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3367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_validate → Checkout._validate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_total → Checkout._total</a:t>
            </a:r>
          </a:p>
        </p:txBody>
      </p:sp>
      <p:sp>
        <p:nvSpPr>
          <p:cNvPr id="31" name="s7-kept-box">
            <a:extLst xmlns:a="http://schemas.openxmlformats.org/drawingml/2006/main">
              <a:ext uri="{FF2B5EF4-FFF2-40B4-BE49-F238E27FC236}">
                <a16:creationId xmlns:a16="http://schemas.microsoft.com/office/drawing/2014/main" id="{1E628F5C-1B7B-43D9-ADA4-975B7500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733800"/>
            <a:ext cx="342900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F3E0D7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32" name="s7-kept-title">
            <a:extLst xmlns:a="http://schemas.openxmlformats.org/drawingml/2006/main">
              <a:ext uri="{FF2B5EF4-FFF2-40B4-BE49-F238E27FC236}">
                <a16:creationId xmlns:a16="http://schemas.microsoft.com/office/drawing/2014/main" id="{ED5EF3DB-6404-4320-9378-A7ABC4F72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05250"/>
            <a:ext cx="3048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C45A37"/>
                </a:solidFill>
              </a:defRPr>
            </a:pPr>
            <a:r>
              <a:rPr sz="1500" b="1">
                <a:solidFill>
                  <a:srgbClr val="C45A37"/>
                </a:solidFill>
              </a:rPr>
              <a:t>Ambiguous → keep stub</a:t>
            </a:r>
          </a:p>
        </p:txBody>
      </p:sp>
      <p:sp>
        <p:nvSpPr>
          <p:cNvPr id="33" name="s7-kept-subtitle">
            <a:extLst xmlns:a="http://schemas.openxmlformats.org/drawingml/2006/main">
              <a:ext uri="{FF2B5EF4-FFF2-40B4-BE49-F238E27FC236}">
                <a16:creationId xmlns:a16="http://schemas.microsoft.com/office/drawing/2014/main" id="{2065A939-60A6-4EF9-833E-A822AD024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276725"/>
            <a:ext cx="3048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payment.charge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logger.info</a:t>
            </a:r>
          </a:p>
        </p:txBody>
      </p:sp>
      <p:cxnSp>
        <p:nvCxnSpPr>
          <p:cNvPr id="121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3162300" y="2476500"/>
            <a:ext cx="647700" cy="7715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6E808A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19" idx="2"/>
            <a:endCxn xmlns:a="http://schemas.openxmlformats.org/drawingml/2006/main" id="22" idx="0"/>
          </p:cNvCxnSpPr>
          <p:nvPr/>
        </p:nvCxnSpPr>
        <p:spPr>
          <a:xfrm xmlns:a="http://schemas.openxmlformats.org/drawingml/2006/main">
            <a:off x="4881563" y="285750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E808A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22" idx="2"/>
            <a:endCxn xmlns:a="http://schemas.openxmlformats.org/drawingml/2006/main" id="25" idx="0"/>
          </p:cNvCxnSpPr>
          <p:nvPr/>
        </p:nvCxnSpPr>
        <p:spPr>
          <a:xfrm xmlns:a="http://schemas.openxmlformats.org/drawingml/2006/main">
            <a:off x="4881563" y="3867150"/>
            <a:ext cx="0" cy="24765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6E808A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5953125" y="2790825"/>
            <a:ext cx="1285875" cy="17049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25" name=""/>
          <p:cNvCxnSpPr>
            <a:stCxn xmlns:a="http://schemas.openxmlformats.org/drawingml/2006/main" id="25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 flipV="1">
            <a:off x="5953125" y="4333875"/>
            <a:ext cx="1285875" cy="1619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dash"/>
            <a:tailEnd type="triangle" w="sm" len="sm"/>
          </a:ln>
        </p:spPr>
      </p:cxnSp>
      <p:sp>
        <p:nvSpPr>
          <p:cNvPr id="39" name="body-source">
            <a:extLst xmlns:a="http://schemas.openxmlformats.org/drawingml/2006/main">
              <a:ext uri="{FF2B5EF4-FFF2-40B4-BE49-F238E27FC236}">
                <a16:creationId xmlns:a16="http://schemas.microsoft.com/office/drawing/2014/main" id="{83415CF6-18B4-4FB2-8AC4-B19D55617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4292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Sources: src/hybrid_rag/ingestion/entity_resolver.py; tests/unit/test_entity_resolver.py</a:t>
            </a:r>
          </a:p>
        </p:txBody>
      </p:sp>
    </p:spTree>
    <p:extLst>
      <p:ext uri="{BB962C8B-B14F-4D97-AF65-F5344CB8AC3E}">
        <p14:creationId xmlns:p14="http://schemas.microsoft.com/office/powerpoint/2010/main" val="1179758849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">
            <a:extLst xmlns:a="http://schemas.openxmlformats.org/drawingml/2006/main">
              <a:ext uri="{FF2B5EF4-FFF2-40B4-BE49-F238E27FC236}">
                <a16:creationId xmlns:a16="http://schemas.microsoft.com/office/drawing/2014/main" id="{A5868A68-6C20-4E00-8174-4E0A21AA7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Search by question · 06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C929F6AA-2878-4D17-AD99-6A7F4AF20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0A6F030-8517-45DB-81A8-9D9171EB1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The question chooses one of three search paths.</a:t>
            </a:r>
          </a:p>
        </p:txBody>
      </p:sp>
      <p:sp>
        <p:nvSpPr>
          <p:cNvPr id="22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0BC5897-7F28-4CEE-BA19-848A2A198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24" name="body-overline-left">
            <a:extLst xmlns:a="http://schemas.openxmlformats.org/drawingml/2006/main">
              <a:ext uri="{FF2B5EF4-FFF2-40B4-BE49-F238E27FC236}">
                <a16:creationId xmlns:a16="http://schemas.microsoft.com/office/drawing/2014/main" id="{5EBB0E60-DFBF-456C-93DC-F9D37AE7FD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57350"/>
            <a:ext cx="1238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226F7A"/>
                </a:solidFill>
              </a:defRPr>
            </a:pPr>
            <a:r>
              <a:rPr sz="900" b="1">
                <a:solidFill>
                  <a:srgbClr val="226F7A"/>
                </a:solidFill>
              </a:rPr>
              <a:t>ROUTE AT QUERY TIME</a:t>
            </a:r>
          </a:p>
        </p:txBody>
      </p:sp>
      <p:sp>
        <p:nvSpPr>
          <p:cNvPr id="25" name="body-overline-middle">
            <a:extLst xmlns:a="http://schemas.openxmlformats.org/drawingml/2006/main">
              <a:ext uri="{FF2B5EF4-FFF2-40B4-BE49-F238E27FC236}">
                <a16:creationId xmlns:a16="http://schemas.microsoft.com/office/drawing/2014/main" id="{D1A27263-6D37-4604-B9BC-BBAEF155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57350"/>
            <a:ext cx="2762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3E735B"/>
                </a:solidFill>
              </a:defRPr>
            </a:pPr>
            <a:r>
              <a:rPr sz="900" b="1">
                <a:solidFill>
                  <a:srgbClr val="3E735B"/>
                </a:solidFill>
              </a:rPr>
              <a:t>demo_checkout</a:t>
            </a:r>
          </a:p>
        </p:txBody>
      </p:sp>
      <p:sp>
        <p:nvSpPr>
          <p:cNvPr id="26" name="body-overline-right">
            <a:extLst xmlns:a="http://schemas.openxmlformats.org/drawingml/2006/main">
              <a:ext uri="{FF2B5EF4-FFF2-40B4-BE49-F238E27FC236}">
                <a16:creationId xmlns:a16="http://schemas.microsoft.com/office/drawing/2014/main" id="{8062019F-7856-49D1-9007-0DA4E3606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57350"/>
            <a:ext cx="619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C45A37"/>
                </a:solidFill>
              </a:defRPr>
            </a:pPr>
            <a:r>
              <a:rPr sz="900" b="1">
                <a:solidFill>
                  <a:srgbClr val="C45A37"/>
                </a:solidFill>
              </a:rPr>
              <a:t>question signals → one primary path</a:t>
            </a:r>
          </a:p>
        </p:txBody>
      </p:sp>
      <p:sp>
        <p:nvSpPr>
          <p:cNvPr id="27" name="s8-question-box">
            <a:extLst xmlns:a="http://schemas.openxmlformats.org/drawingml/2006/main">
              <a:ext uri="{FF2B5EF4-FFF2-40B4-BE49-F238E27FC236}">
                <a16:creationId xmlns:a16="http://schemas.microsoft.com/office/drawing/2014/main" id="{CB598BDD-F262-4A4A-B7E6-7B25B7A7F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33675"/>
            <a:ext cx="219075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8" name="s8-question-title">
            <a:extLst xmlns:a="http://schemas.openxmlformats.org/drawingml/2006/main">
              <a:ext uri="{FF2B5EF4-FFF2-40B4-BE49-F238E27FC236}">
                <a16:creationId xmlns:a16="http://schemas.microsoft.com/office/drawing/2014/main" id="{4E6B04A4-D4EA-49C8-883B-53D1D0544D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051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Question + signals</a:t>
            </a:r>
          </a:p>
        </p:txBody>
      </p:sp>
      <p:sp>
        <p:nvSpPr>
          <p:cNvPr id="29" name="s8-question-subtitle">
            <a:extLst xmlns:a="http://schemas.openxmlformats.org/drawingml/2006/main">
              <a:ext uri="{FF2B5EF4-FFF2-40B4-BE49-F238E27FC236}">
                <a16:creationId xmlns:a16="http://schemas.microsoft.com/office/drawing/2014/main" id="{CD54A919-A99C-475B-AAB5-0E0FE8D2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62325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relation word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behavior / sequence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whole-repo scope</a:t>
            </a:r>
          </a:p>
        </p:txBody>
      </p:sp>
      <p:sp>
        <p:nvSpPr>
          <p:cNvPr id="30" name="s8-exact-box">
            <a:extLst xmlns:a="http://schemas.openxmlformats.org/drawingml/2006/main">
              <a:ext uri="{FF2B5EF4-FFF2-40B4-BE49-F238E27FC236}">
                <a16:creationId xmlns:a16="http://schemas.microsoft.com/office/drawing/2014/main" id="{86C7457C-0B0A-4958-B592-04EFAE36EC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1952625"/>
            <a:ext cx="31432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31" name="s8-exact-title">
            <a:extLst xmlns:a="http://schemas.openxmlformats.org/drawingml/2006/main">
              <a:ext uri="{FF2B5EF4-FFF2-40B4-BE49-F238E27FC236}">
                <a16:creationId xmlns:a16="http://schemas.microsoft.com/office/drawing/2014/main" id="{51A10A2A-D559-4C6D-A493-9C5A6AF2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240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26F7A"/>
                </a:solidFill>
              </a:defRPr>
            </a:pPr>
            <a:r>
              <a:rPr sz="1425" b="1">
                <a:solidFill>
                  <a:srgbClr val="226F7A"/>
                </a:solidFill>
              </a:rPr>
              <a:t>1 · Exact link</a:t>
            </a:r>
          </a:p>
        </p:txBody>
      </p:sp>
      <p:sp>
        <p:nvSpPr>
          <p:cNvPr id="32" name="s8-exact-subtitle">
            <a:extLst xmlns:a="http://schemas.openxmlformats.org/drawingml/2006/main">
              <a:ext uri="{FF2B5EF4-FFF2-40B4-BE49-F238E27FC236}">
                <a16:creationId xmlns:a16="http://schemas.microsoft.com/office/drawing/2014/main" id="{B14511BB-A220-440F-A8D2-B49BBB39A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447925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clear relation + symbol → graph first</a:t>
            </a:r>
          </a:p>
        </p:txBody>
      </p:sp>
      <p:sp>
        <p:nvSpPr>
          <p:cNvPr id="33" name="s8-local-box">
            <a:extLst xmlns:a="http://schemas.openxmlformats.org/drawingml/2006/main">
              <a:ext uri="{FF2B5EF4-FFF2-40B4-BE49-F238E27FC236}">
                <a16:creationId xmlns:a16="http://schemas.microsoft.com/office/drawing/2014/main" id="{367034C4-2CAE-47E3-8C8F-0C19F9580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095625"/>
            <a:ext cx="31432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34" name="s8-local-title">
            <a:extLst xmlns:a="http://schemas.openxmlformats.org/drawingml/2006/main">
              <a:ext uri="{FF2B5EF4-FFF2-40B4-BE49-F238E27FC236}">
                <a16:creationId xmlns:a16="http://schemas.microsoft.com/office/drawing/2014/main" id="{7434AB2A-14CA-4396-9058-02726796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2670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C45A37"/>
                </a:solidFill>
              </a:defRPr>
            </a:pPr>
            <a:r>
              <a:rPr sz="1425" b="1">
                <a:solidFill>
                  <a:srgbClr val="C45A37"/>
                </a:solidFill>
              </a:rPr>
              <a:t>2 · Local behavior</a:t>
            </a:r>
          </a:p>
        </p:txBody>
      </p:sp>
      <p:sp>
        <p:nvSpPr>
          <p:cNvPr id="35" name="s8-local-subtitle">
            <a:extLst xmlns:a="http://schemas.openxmlformats.org/drawingml/2006/main">
              <a:ext uri="{FF2B5EF4-FFF2-40B4-BE49-F238E27FC236}">
                <a16:creationId xmlns:a16="http://schemas.microsoft.com/office/drawing/2014/main" id="{8216E4EE-28FE-4D6C-BB13-307565D1F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590925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graph + related text → RRF → context</a:t>
            </a:r>
          </a:p>
        </p:txBody>
      </p:sp>
      <p:sp>
        <p:nvSpPr>
          <p:cNvPr id="36" name="s8-global-box">
            <a:extLst xmlns:a="http://schemas.openxmlformats.org/drawingml/2006/main">
              <a:ext uri="{FF2B5EF4-FFF2-40B4-BE49-F238E27FC236}">
                <a16:creationId xmlns:a16="http://schemas.microsoft.com/office/drawing/2014/main" id="{FACE2222-284F-4491-917D-C2F6F9C84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38625"/>
            <a:ext cx="31432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37" name="s8-global-title">
            <a:extLst xmlns:a="http://schemas.openxmlformats.org/drawingml/2006/main">
              <a:ext uri="{FF2B5EF4-FFF2-40B4-BE49-F238E27FC236}">
                <a16:creationId xmlns:a16="http://schemas.microsoft.com/office/drawing/2014/main" id="{46C73059-1ADA-4415-9DD0-EB5159930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4100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3E735B"/>
                </a:solidFill>
              </a:defRPr>
            </a:pPr>
            <a:r>
              <a:rPr sz="1425" b="1">
                <a:solidFill>
                  <a:srgbClr val="3E735B"/>
                </a:solidFill>
              </a:rPr>
              <a:t>3 · Whole repository</a:t>
            </a:r>
          </a:p>
        </p:txBody>
      </p:sp>
      <p:sp>
        <p:nvSpPr>
          <p:cNvPr id="38" name="s8-global-subtitle">
            <a:extLst xmlns:a="http://schemas.openxmlformats.org/drawingml/2006/main">
              <a:ext uri="{FF2B5EF4-FFF2-40B4-BE49-F238E27FC236}">
                <a16:creationId xmlns:a16="http://schemas.microsoft.com/office/drawing/2014/main" id="{6903F972-10BA-4631-9FD7-3818FF47F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33925"/>
            <a:ext cx="27622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directory communities → summaries</a:t>
            </a:r>
          </a:p>
        </p:txBody>
      </p:sp>
      <p:sp>
        <p:nvSpPr>
          <p:cNvPr id="39" name="s8-known-box">
            <a:extLst xmlns:a="http://schemas.openxmlformats.org/drawingml/2006/main">
              <a:ext uri="{FF2B5EF4-FFF2-40B4-BE49-F238E27FC236}">
                <a16:creationId xmlns:a16="http://schemas.microsoft.com/office/drawing/2014/main" id="{4092EE2A-BC01-4DCC-8A5C-72868C373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952625"/>
            <a:ext cx="29527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40" name="s8-known-title">
            <a:extLst xmlns:a="http://schemas.openxmlformats.org/drawingml/2006/main">
              <a:ext uri="{FF2B5EF4-FFF2-40B4-BE49-F238E27FC236}">
                <a16:creationId xmlns:a16="http://schemas.microsoft.com/office/drawing/2014/main" id="{08A2536E-9155-4C8D-AE98-F4CF2B7C3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1240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Known links</a:t>
            </a:r>
          </a:p>
        </p:txBody>
      </p:sp>
      <p:sp>
        <p:nvSpPr>
          <p:cNvPr id="41" name="s8-known-subtitle">
            <a:extLst xmlns:a="http://schemas.openxmlformats.org/drawingml/2006/main">
              <a:ext uri="{FF2B5EF4-FFF2-40B4-BE49-F238E27FC236}">
                <a16:creationId xmlns:a16="http://schemas.microsoft.com/office/drawing/2014/main" id="{0124CB2E-CBEE-4565-AE39-BFCA710DF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4792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deterministic relation evidence</a:t>
            </a:r>
          </a:p>
        </p:txBody>
      </p:sp>
      <p:sp>
        <p:nvSpPr>
          <p:cNvPr id="42" name="s8-bounded-box">
            <a:extLst xmlns:a="http://schemas.openxmlformats.org/drawingml/2006/main">
              <a:ext uri="{FF2B5EF4-FFF2-40B4-BE49-F238E27FC236}">
                <a16:creationId xmlns:a16="http://schemas.microsoft.com/office/drawing/2014/main" id="{5517333D-406F-40A1-ACE3-9AEAF1C9A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095625"/>
            <a:ext cx="29527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43" name="s8-bounded-title">
            <a:extLst xmlns:a="http://schemas.openxmlformats.org/drawingml/2006/main">
              <a:ext uri="{FF2B5EF4-FFF2-40B4-BE49-F238E27FC236}">
                <a16:creationId xmlns:a16="http://schemas.microsoft.com/office/drawing/2014/main" id="{40580995-99CD-4B01-B535-F9E2EF97F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2670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Bounded evidence</a:t>
            </a:r>
          </a:p>
        </p:txBody>
      </p:sp>
      <p:sp>
        <p:nvSpPr>
          <p:cNvPr id="44" name="s8-bounded-subtitle">
            <a:extLst xmlns:a="http://schemas.openxmlformats.org/drawingml/2006/main">
              <a:ext uri="{FF2B5EF4-FFF2-40B4-BE49-F238E27FC236}">
                <a16:creationId xmlns:a16="http://schemas.microsoft.com/office/drawing/2014/main" id="{0EE7BE5C-CA2E-4B16-940C-0A4295C64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092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graph + vector candidates</a:t>
            </a:r>
          </a:p>
        </p:txBody>
      </p:sp>
      <p:sp>
        <p:nvSpPr>
          <p:cNvPr id="45" name="s8-architecture-box">
            <a:extLst xmlns:a="http://schemas.openxmlformats.org/drawingml/2006/main">
              <a:ext uri="{FF2B5EF4-FFF2-40B4-BE49-F238E27FC236}">
                <a16:creationId xmlns:a16="http://schemas.microsoft.com/office/drawing/2014/main" id="{2ACAAE14-2DDE-42B4-852B-D9C828BAB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238625"/>
            <a:ext cx="295275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46" name="s8-architecture-title">
            <a:extLst xmlns:a="http://schemas.openxmlformats.org/drawingml/2006/main">
              <a:ext uri="{FF2B5EF4-FFF2-40B4-BE49-F238E27FC236}">
                <a16:creationId xmlns:a16="http://schemas.microsoft.com/office/drawing/2014/main" id="{256A0B7C-2475-4BD1-989F-3FDD2A420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410075"/>
            <a:ext cx="2571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Architecture context</a:t>
            </a:r>
          </a:p>
        </p:txBody>
      </p:sp>
      <p:sp>
        <p:nvSpPr>
          <p:cNvPr id="47" name="s8-architecture-subtitle">
            <a:extLst xmlns:a="http://schemas.openxmlformats.org/drawingml/2006/main">
              <a:ext uri="{FF2B5EF4-FFF2-40B4-BE49-F238E27FC236}">
                <a16:creationId xmlns:a16="http://schemas.microsoft.com/office/drawing/2014/main" id="{24AF872C-DD25-4044-921E-858548FF7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33925"/>
            <a:ext cx="257175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community summaries</a:t>
            </a:r>
          </a:p>
        </p:txBody>
      </p:sp>
      <p:cxnSp>
        <p:nvCxnSpPr>
          <p:cNvPr id="152" name=""/>
          <p:cNvCxnSpPr>
            <a:stCxn xmlns:a="http://schemas.openxmlformats.org/drawingml/2006/main" id="27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 flipV="1">
            <a:off x="2876550" y="2452688"/>
            <a:ext cx="838200" cy="995363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53" name=""/>
          <p:cNvCxnSpPr>
            <a:stCxn xmlns:a="http://schemas.openxmlformats.org/drawingml/2006/main" id="27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2876550" y="3448050"/>
            <a:ext cx="838200" cy="147638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54" name=""/>
          <p:cNvCxnSpPr>
            <a:stCxn xmlns:a="http://schemas.openxmlformats.org/drawingml/2006/main" id="27" idx="3"/>
            <a:endCxn xmlns:a="http://schemas.openxmlformats.org/drawingml/2006/main" id="36" idx="1"/>
          </p:cNvCxnSpPr>
          <p:nvPr/>
        </p:nvCxnSpPr>
        <p:spPr>
          <a:xfrm xmlns:a="http://schemas.openxmlformats.org/drawingml/2006/main">
            <a:off x="2876550" y="3448050"/>
            <a:ext cx="838200" cy="1290638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55" name=""/>
          <p:cNvCxnSpPr>
            <a:stCxn xmlns:a="http://schemas.openxmlformats.org/drawingml/2006/main" id="30" idx="3"/>
            <a:endCxn xmlns:a="http://schemas.openxmlformats.org/drawingml/2006/main" id="39" idx="1"/>
          </p:cNvCxnSpPr>
          <p:nvPr/>
        </p:nvCxnSpPr>
        <p:spPr>
          <a:xfrm xmlns:a="http://schemas.openxmlformats.org/drawingml/2006/main">
            <a:off x="6858000" y="2452688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56" name=""/>
          <p:cNvCxnSpPr>
            <a:stCxn xmlns:a="http://schemas.openxmlformats.org/drawingml/2006/main" id="33" idx="3"/>
            <a:endCxn xmlns:a="http://schemas.openxmlformats.org/drawingml/2006/main" id="42" idx="1"/>
          </p:cNvCxnSpPr>
          <p:nvPr/>
        </p:nvCxnSpPr>
        <p:spPr>
          <a:xfrm xmlns:a="http://schemas.openxmlformats.org/drawingml/2006/main">
            <a:off x="6858000" y="3595688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57" name=""/>
          <p:cNvCxnSpPr>
            <a:stCxn xmlns:a="http://schemas.openxmlformats.org/drawingml/2006/main" id="36" idx="3"/>
            <a:endCxn xmlns:a="http://schemas.openxmlformats.org/drawingml/2006/main" id="45" idx="1"/>
          </p:cNvCxnSpPr>
          <p:nvPr/>
        </p:nvCxnSpPr>
        <p:spPr>
          <a:xfrm xmlns:a="http://schemas.openxmlformats.org/drawingml/2006/main">
            <a:off x="6858000" y="4738688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72094082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2A30715F-6FD7-4AAF-8CE6-1C42F066D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Exact-link path · detail · 1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B1E78784-F131-4597-AC31-A5769EC17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57B2FFE-EACD-41ED-8C7A-34D7DE5C3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Exact-link questions start from known code relations.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FF73686-E602-4CB4-8E0C-67FA7DD48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6.1</a:t>
            </a:r>
          </a:p>
        </p:txBody>
      </p:sp>
      <p:sp>
        <p:nvSpPr>
          <p:cNvPr id="15" name="s9-label">
            <a:extLst xmlns:a="http://schemas.openxmlformats.org/drawingml/2006/main">
              <a:ext uri="{FF2B5EF4-FFF2-40B4-BE49-F238E27FC236}">
                <a16:creationId xmlns:a16="http://schemas.microsoft.com/office/drawing/2014/main" id="{7E0E0C06-A720-4386-95B0-4681B7634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EXACT-LINK TRACE</a:t>
            </a:r>
          </a:p>
        </p:txBody>
      </p:sp>
      <p:sp>
        <p:nvSpPr>
          <p:cNvPr id="16" name="s9-signal-box">
            <a:extLst xmlns:a="http://schemas.openxmlformats.org/drawingml/2006/main">
              <a:ext uri="{FF2B5EF4-FFF2-40B4-BE49-F238E27FC236}">
                <a16:creationId xmlns:a16="http://schemas.microsoft.com/office/drawing/2014/main" id="{8D917236-C6C8-4E6A-A691-80E461C8D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17" name="s9-signal-title">
            <a:extLst xmlns:a="http://schemas.openxmlformats.org/drawingml/2006/main">
              <a:ext uri="{FF2B5EF4-FFF2-40B4-BE49-F238E27FC236}">
                <a16:creationId xmlns:a16="http://schemas.microsoft.com/office/drawing/2014/main" id="{83F72EBD-F120-4B77-9DBF-C4AA7D8F6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384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Relation + symbol</a:t>
            </a:r>
          </a:p>
        </p:txBody>
      </p:sp>
      <p:sp>
        <p:nvSpPr>
          <p:cNvPr id="18" name="s9-signal-subtitle">
            <a:extLst xmlns:a="http://schemas.openxmlformats.org/drawingml/2006/main">
              <a:ext uri="{FF2B5EF4-FFF2-40B4-BE49-F238E27FC236}">
                <a16:creationId xmlns:a16="http://schemas.microsoft.com/office/drawing/2014/main" id="{69842EFB-0919-47ED-AADC-23C75F4AD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“what calls _total?”</a:t>
            </a:r>
          </a:p>
        </p:txBody>
      </p:sp>
      <p:sp>
        <p:nvSpPr>
          <p:cNvPr id="19" name="s9-lookup-box">
            <a:extLst xmlns:a="http://schemas.openxmlformats.org/drawingml/2006/main">
              <a:ext uri="{FF2B5EF4-FFF2-40B4-BE49-F238E27FC236}">
                <a16:creationId xmlns:a16="http://schemas.microsoft.com/office/drawing/2014/main" id="{4369F711-83B3-4D01-8188-987B68F3B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667000"/>
            <a:ext cx="2286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0" name="s9-lookup-title">
            <a:extLst xmlns:a="http://schemas.openxmlformats.org/drawingml/2006/main">
              <a:ext uri="{FF2B5EF4-FFF2-40B4-BE49-F238E27FC236}">
                <a16:creationId xmlns:a16="http://schemas.microsoft.com/office/drawing/2014/main" id="{1BD61339-6338-41D0-94D6-3AE88C8D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38450"/>
            <a:ext cx="190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FalkorDB lookup</a:t>
            </a:r>
          </a:p>
        </p:txBody>
      </p:sp>
      <p:sp>
        <p:nvSpPr>
          <p:cNvPr id="21" name="s9-lookup-subtitle">
            <a:extLst xmlns:a="http://schemas.openxmlformats.org/drawingml/2006/main">
              <a:ext uri="{FF2B5EF4-FFF2-40B4-BE49-F238E27FC236}">
                <a16:creationId xmlns:a16="http://schemas.microsoft.com/office/drawing/2014/main" id="{F7AEA3B4-2092-4D44-A8F3-F39AE51E0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162300"/>
            <a:ext cx="1905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repository-scoped relation</a:t>
            </a:r>
          </a:p>
        </p:txBody>
      </p:sp>
      <p:sp>
        <p:nvSpPr>
          <p:cNvPr id="22" name="s9-links-box">
            <a:extLst xmlns:a="http://schemas.openxmlformats.org/drawingml/2006/main">
              <a:ext uri="{FF2B5EF4-FFF2-40B4-BE49-F238E27FC236}">
                <a16:creationId xmlns:a16="http://schemas.microsoft.com/office/drawing/2014/main" id="{D4EA3922-251B-48D1-86B2-550817C10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190750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3" name="s9-links-title">
            <a:extLst xmlns:a="http://schemas.openxmlformats.org/drawingml/2006/main">
              <a:ext uri="{FF2B5EF4-FFF2-40B4-BE49-F238E27FC236}">
                <a16:creationId xmlns:a16="http://schemas.microsoft.com/office/drawing/2014/main" id="{2AE910B1-9DBD-4F5F-8830-E518617A6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3622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Resolved links</a:t>
            </a:r>
          </a:p>
        </p:txBody>
      </p:sp>
      <p:sp>
        <p:nvSpPr>
          <p:cNvPr id="24" name="s9-links-subtitle">
            <a:extLst xmlns:a="http://schemas.openxmlformats.org/drawingml/2006/main">
              <a:ext uri="{FF2B5EF4-FFF2-40B4-BE49-F238E27FC236}">
                <a16:creationId xmlns:a16="http://schemas.microsoft.com/office/drawing/2014/main" id="{4193FAA2-E059-4F7C-8C0F-3FA4FE6B1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686050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return graph evidence</a:t>
            </a:r>
          </a:p>
        </p:txBody>
      </p:sp>
      <p:sp>
        <p:nvSpPr>
          <p:cNvPr id="25" name="s9-fallback-box">
            <a:extLst xmlns:a="http://schemas.openxmlformats.org/drawingml/2006/main">
              <a:ext uri="{FF2B5EF4-FFF2-40B4-BE49-F238E27FC236}">
                <a16:creationId xmlns:a16="http://schemas.microsoft.com/office/drawing/2014/main" id="{0F30BFB8-3E75-439F-8D9A-26D824A88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667125"/>
            <a:ext cx="23812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3E0D7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6" name="s9-fallback-title">
            <a:extLst xmlns:a="http://schemas.openxmlformats.org/drawingml/2006/main">
              <a:ext uri="{FF2B5EF4-FFF2-40B4-BE49-F238E27FC236}">
                <a16:creationId xmlns:a16="http://schemas.microsoft.com/office/drawing/2014/main" id="{6FAF1278-B649-4888-9F1E-F56AD7F76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83857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Weak graph evidence</a:t>
            </a:r>
          </a:p>
        </p:txBody>
      </p:sp>
      <p:sp>
        <p:nvSpPr>
          <p:cNvPr id="27" name="s9-fallback-subtitle">
            <a:extLst xmlns:a="http://schemas.openxmlformats.org/drawingml/2006/main">
              <a:ext uri="{FF2B5EF4-FFF2-40B4-BE49-F238E27FC236}">
                <a16:creationId xmlns:a16="http://schemas.microsoft.com/office/drawing/2014/main" id="{170C3E75-2CD6-44F6-80D6-749221EB7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162425"/>
            <a:ext cx="2000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fall back to related text</a:t>
            </a:r>
          </a:p>
        </p:txBody>
      </p:sp>
      <p:sp>
        <p:nvSpPr>
          <p:cNvPr id="28" name="s9-result-box">
            <a:extLst xmlns:a="http://schemas.openxmlformats.org/drawingml/2006/main">
              <a:ext uri="{FF2B5EF4-FFF2-40B4-BE49-F238E27FC236}">
                <a16:creationId xmlns:a16="http://schemas.microsoft.com/office/drawing/2014/main" id="{E7F8C751-82EF-443F-8A4F-296A85818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924175"/>
            <a:ext cx="142875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9" name="s9-result-title">
            <a:extLst xmlns:a="http://schemas.openxmlformats.org/drawingml/2006/main">
              <a:ext uri="{FF2B5EF4-FFF2-40B4-BE49-F238E27FC236}">
                <a16:creationId xmlns:a16="http://schemas.microsoft.com/office/drawing/2014/main" id="{D9DB918B-4A57-4275-A71D-2901F11B3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095625"/>
            <a:ext cx="1047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Evidence</a:t>
            </a:r>
          </a:p>
        </p:txBody>
      </p:sp>
      <p:sp>
        <p:nvSpPr>
          <p:cNvPr id="30" name="s9-result-subtitle">
            <a:extLst xmlns:a="http://schemas.openxmlformats.org/drawingml/2006/main">
              <a:ext uri="{FF2B5EF4-FFF2-40B4-BE49-F238E27FC236}">
                <a16:creationId xmlns:a16="http://schemas.microsoft.com/office/drawing/2014/main" id="{79078FAE-D416-451D-A11B-783FF7C3D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0" y="3419475"/>
            <a:ext cx="1047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links +</a:t>
            </a:r>
          </a:p>
          <a:p xmlns:a="http://schemas.openxmlformats.org/drawingml/2006/main">
            <a:pPr algn="ctr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source</a:t>
            </a:r>
          </a:p>
        </p:txBody>
      </p:sp>
      <p:cxnSp>
        <p:nvCxnSpPr>
          <p:cNvPr id="109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971800" y="3200400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 flipV="1">
            <a:off x="6000750" y="2724150"/>
            <a:ext cx="742950" cy="4762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000750" y="3200400"/>
            <a:ext cx="742950" cy="10001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dash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22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9124950" y="2724150"/>
            <a:ext cx="685800" cy="7334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13" name=""/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9124950" y="3457575"/>
            <a:ext cx="685800" cy="7429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sp>
        <p:nvSpPr>
          <p:cNvPr id="36" name="body-source">
            <a:extLst xmlns:a="http://schemas.openxmlformats.org/drawingml/2006/main">
              <a:ext uri="{FF2B5EF4-FFF2-40B4-BE49-F238E27FC236}">
                <a16:creationId xmlns:a16="http://schemas.microsoft.com/office/drawing/2014/main" id="{7E25B5D2-DB7F-4CA9-87D4-7337A5132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340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Sources: src/hybrid_rag/retrieval/query_analyzer.py; src/hybrid_rag/retrieval/hybrid_retriever.py</a:t>
            </a:r>
          </a:p>
        </p:txBody>
      </p:sp>
    </p:spTree>
    <p:extLst>
      <p:ext uri="{BB962C8B-B14F-4D97-AF65-F5344CB8AC3E}">
        <p14:creationId xmlns:p14="http://schemas.microsoft.com/office/powerpoint/2010/main" val="164308628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F3094892-BB14-4035-9938-F24CC1436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Local-behavior path · detail · 2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A07216B1-C1D4-44AD-88B5-13535836A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2BD5678-7152-4EA0-A898-B2EC89225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Local behavior uses graph links and related source text.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BE93DD6-EFF4-4007-8E3F-CE5418C6C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6.2</a:t>
            </a:r>
          </a:p>
        </p:txBody>
      </p:sp>
      <p:sp>
        <p:nvSpPr>
          <p:cNvPr id="15" name="s10-label">
            <a:extLst xmlns:a="http://schemas.openxmlformats.org/drawingml/2006/main">
              <a:ext uri="{FF2B5EF4-FFF2-40B4-BE49-F238E27FC236}">
                <a16:creationId xmlns:a16="http://schemas.microsoft.com/office/drawing/2014/main" id="{0C358EB9-8B9E-46CD-A812-3A2E9B994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667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LOCAL-BEHAVIOR TRACE</a:t>
            </a:r>
          </a:p>
        </p:txBody>
      </p:sp>
      <p:sp>
        <p:nvSpPr>
          <p:cNvPr id="16" name="s10-question-box">
            <a:extLst xmlns:a="http://schemas.openxmlformats.org/drawingml/2006/main">
              <a:ext uri="{FF2B5EF4-FFF2-40B4-BE49-F238E27FC236}">
                <a16:creationId xmlns:a16="http://schemas.microsoft.com/office/drawing/2014/main" id="{57B4332F-702F-49CF-BD68-DB722B1C7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2333625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17" name="s10-question-title">
            <a:extLst xmlns:a="http://schemas.openxmlformats.org/drawingml/2006/main">
              <a:ext uri="{FF2B5EF4-FFF2-40B4-BE49-F238E27FC236}">
                <a16:creationId xmlns:a16="http://schemas.microsoft.com/office/drawing/2014/main" id="{DFD56A89-233D-4256-A07C-727636864A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3370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C35"/>
                </a:solidFill>
              </a:defRPr>
            </a:pPr>
            <a:r>
              <a:rPr sz="1425" b="1">
                <a:solidFill>
                  <a:srgbClr val="202C35"/>
                </a:solidFill>
              </a:rPr>
              <a:t>Checkout sequence</a:t>
            </a:r>
          </a:p>
        </p:txBody>
      </p:sp>
      <p:sp>
        <p:nvSpPr>
          <p:cNvPr id="18" name="s10-question-subtitle">
            <a:extLst xmlns:a="http://schemas.openxmlformats.org/drawingml/2006/main">
              <a:ext uri="{FF2B5EF4-FFF2-40B4-BE49-F238E27FC236}">
                <a16:creationId xmlns:a16="http://schemas.microsoft.com/office/drawing/2014/main" id="{2C11196B-DAD8-4581-9222-FBF6750A5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57550"/>
            <a:ext cx="19526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behavior question</a:t>
            </a:r>
          </a:p>
        </p:txBody>
      </p:sp>
      <p:sp>
        <p:nvSpPr>
          <p:cNvPr id="19" name="s10-graph-box">
            <a:extLst xmlns:a="http://schemas.openxmlformats.org/drawingml/2006/main">
              <a:ext uri="{FF2B5EF4-FFF2-40B4-BE49-F238E27FC236}">
                <a16:creationId xmlns:a16="http://schemas.microsoft.com/office/drawing/2014/main" id="{6B241711-AD65-4E30-A0C0-358603D07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2095500"/>
            <a:ext cx="2381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0" name="s10-graph-title">
            <a:extLst xmlns:a="http://schemas.openxmlformats.org/drawingml/2006/main">
              <a:ext uri="{FF2B5EF4-FFF2-40B4-BE49-F238E27FC236}">
                <a16:creationId xmlns:a16="http://schemas.microsoft.com/office/drawing/2014/main" id="{079261DC-AA84-4E2B-A2AB-7C0E08401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2669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Graph retrieval</a:t>
            </a:r>
          </a:p>
        </p:txBody>
      </p:sp>
      <p:sp>
        <p:nvSpPr>
          <p:cNvPr id="21" name="s10-graph-subtitle">
            <a:extLst xmlns:a="http://schemas.openxmlformats.org/drawingml/2006/main">
              <a:ext uri="{FF2B5EF4-FFF2-40B4-BE49-F238E27FC236}">
                <a16:creationId xmlns:a16="http://schemas.microsoft.com/office/drawing/2014/main" id="{E74A76C4-335D-47EA-A238-B09405B81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590800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_validate · _total · call stubs</a:t>
            </a:r>
          </a:p>
        </p:txBody>
      </p:sp>
      <p:sp>
        <p:nvSpPr>
          <p:cNvPr id="22" name="s10-vector-box">
            <a:extLst xmlns:a="http://schemas.openxmlformats.org/drawingml/2006/main">
              <a:ext uri="{FF2B5EF4-FFF2-40B4-BE49-F238E27FC236}">
                <a16:creationId xmlns:a16="http://schemas.microsoft.com/office/drawing/2014/main" id="{1423E424-35E4-4E21-981D-D26B35581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57625" y="3667125"/>
            <a:ext cx="238125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3" name="s10-vector-title">
            <a:extLst xmlns:a="http://schemas.openxmlformats.org/drawingml/2006/main">
              <a:ext uri="{FF2B5EF4-FFF2-40B4-BE49-F238E27FC236}">
                <a16:creationId xmlns:a16="http://schemas.microsoft.com/office/drawing/2014/main" id="{B39487FA-D5F9-4694-AF83-6364A311E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3838575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Vector retrieval</a:t>
            </a:r>
          </a:p>
        </p:txBody>
      </p:sp>
      <p:sp>
        <p:nvSpPr>
          <p:cNvPr id="24" name="s10-vector-subtitle">
            <a:extLst xmlns:a="http://schemas.openxmlformats.org/drawingml/2006/main">
              <a:ext uri="{FF2B5EF4-FFF2-40B4-BE49-F238E27FC236}">
                <a16:creationId xmlns:a16="http://schemas.microsoft.com/office/drawing/2014/main" id="{88ADAB29-66EF-4068-BF55-88944A5FF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162425"/>
            <a:ext cx="2000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checkout.py · payment.py</a:t>
            </a:r>
          </a:p>
        </p:txBody>
      </p:sp>
      <p:sp>
        <p:nvSpPr>
          <p:cNvPr id="25" name="s10-rrf-box">
            <a:extLst xmlns:a="http://schemas.openxmlformats.org/drawingml/2006/main">
              <a:ext uri="{FF2B5EF4-FFF2-40B4-BE49-F238E27FC236}">
                <a16:creationId xmlns:a16="http://schemas.microsoft.com/office/drawing/2014/main" id="{9BBBFDF2-9C6F-494D-8565-776507F25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2762250"/>
            <a:ext cx="1762125" cy="1123950"/>
          </a:xfrm>
          <a:prstGeom xmlns:a="http://schemas.openxmlformats.org/drawingml/2006/main" prst="roundRect">
            <a:avLst>
              <a:gd name="adj" fmla="val 10169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6" name="s10-rrf-title">
            <a:extLst xmlns:a="http://schemas.openxmlformats.org/drawingml/2006/main">
              <a:ext uri="{FF2B5EF4-FFF2-40B4-BE49-F238E27FC236}">
                <a16:creationId xmlns:a16="http://schemas.microsoft.com/office/drawing/2014/main" id="{09A388AA-FA0B-44C9-B190-3B0959C8A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933700"/>
            <a:ext cx="13811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E735B"/>
                </a:solidFill>
              </a:defRPr>
            </a:pPr>
            <a:r>
              <a:rPr sz="1800" b="1">
                <a:solidFill>
                  <a:srgbClr val="3E735B"/>
                </a:solidFill>
              </a:rPr>
              <a:t>RRF</a:t>
            </a:r>
          </a:p>
        </p:txBody>
      </p:sp>
      <p:sp>
        <p:nvSpPr>
          <p:cNvPr id="27" name="s10-rrf-subtitle">
            <a:extLst xmlns:a="http://schemas.openxmlformats.org/drawingml/2006/main">
              <a:ext uri="{FF2B5EF4-FFF2-40B4-BE49-F238E27FC236}">
                <a16:creationId xmlns:a16="http://schemas.microsoft.com/office/drawing/2014/main" id="{8699426A-7117-4F05-9DB9-BD6B4879E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3257550"/>
            <a:ext cx="138112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fuse rank positions</a:t>
            </a:r>
          </a:p>
        </p:txBody>
      </p:sp>
      <p:sp>
        <p:nvSpPr>
          <p:cNvPr id="28" name="s10-context-box">
            <a:extLst xmlns:a="http://schemas.openxmlformats.org/drawingml/2006/main">
              <a:ext uri="{FF2B5EF4-FFF2-40B4-BE49-F238E27FC236}">
                <a16:creationId xmlns:a16="http://schemas.microsoft.com/office/drawing/2014/main" id="{E94F199C-2CDF-4D54-8EBD-CC5A36705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381250"/>
            <a:ext cx="1619250" cy="18859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9" name="s10-context-title">
            <a:extLst xmlns:a="http://schemas.openxmlformats.org/drawingml/2006/main">
              <a:ext uri="{FF2B5EF4-FFF2-40B4-BE49-F238E27FC236}">
                <a16:creationId xmlns:a16="http://schemas.microsoft.com/office/drawing/2014/main" id="{F0A4EF1A-6A41-407D-B79F-75B1F65E2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2552700"/>
            <a:ext cx="1238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202C35"/>
                </a:solidFill>
              </a:defRPr>
            </a:pPr>
            <a:r>
              <a:rPr sz="1425" b="1">
                <a:solidFill>
                  <a:srgbClr val="202C35"/>
                </a:solidFill>
              </a:rPr>
              <a:t>Context</a:t>
            </a:r>
          </a:p>
        </p:txBody>
      </p:sp>
      <p:sp>
        <p:nvSpPr>
          <p:cNvPr id="30" name="s10-context-subtitle">
            <a:extLst xmlns:a="http://schemas.openxmlformats.org/drawingml/2006/main">
              <a:ext uri="{FF2B5EF4-FFF2-40B4-BE49-F238E27FC236}">
                <a16:creationId xmlns:a16="http://schemas.microsoft.com/office/drawing/2014/main" id="{4B7CD76F-B76E-4098-BCCA-FF7F3975A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048000"/>
            <a:ext cx="12382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deduplicate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keep provenance</a:t>
            </a:r>
          </a:p>
          <a:p xmlns:a="http://schemas.openxmlformats.org/drawingml/2006/main">
            <a:pPr algn="l">
              <a:buNone/>
              <a:defRPr sz="1125" b="0">
                <a:solidFill>
                  <a:srgbClr val="5D6F7C"/>
                </a:solidFill>
              </a:defRPr>
            </a:pPr>
            <a:r>
              <a:rPr sz="1125" b="0">
                <a:solidFill>
                  <a:srgbClr val="5D6F7C"/>
                </a:solidFill>
              </a:rPr>
              <a:t>respect token budget</a:t>
            </a:r>
          </a:p>
        </p:txBody>
      </p:sp>
      <p:cxnSp>
        <p:nvCxnSpPr>
          <p:cNvPr id="109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 flipV="1">
            <a:off x="3019425" y="2667000"/>
            <a:ext cx="838200" cy="657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10" name=""/>
          <p:cNvCxnSpPr>
            <a:stCxn xmlns:a="http://schemas.openxmlformats.org/drawingml/2006/main" id="16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3019425" y="3324225"/>
            <a:ext cx="838200" cy="914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11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6238875" y="2667000"/>
            <a:ext cx="857250" cy="65722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12" name=""/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6238875" y="3324225"/>
            <a:ext cx="857250" cy="9144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13" name=""/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>
            <a:off x="8858250" y="3324225"/>
            <a:ext cx="7620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sp>
        <p:nvSpPr>
          <p:cNvPr id="36" name="body-source">
            <a:extLst xmlns:a="http://schemas.openxmlformats.org/drawingml/2006/main">
              <a:ext uri="{FF2B5EF4-FFF2-40B4-BE49-F238E27FC236}">
                <a16:creationId xmlns:a16="http://schemas.microsoft.com/office/drawing/2014/main" id="{218F9DEA-CD7B-4494-B650-B96F343915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3340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Sources: src/hybrid_rag/retrieval/hybrid_retriever.py; src/hybrid_rag/retrieval/context_assembler.py</a:t>
            </a:r>
          </a:p>
        </p:txBody>
      </p:sp>
    </p:spTree>
    <p:extLst>
      <p:ext uri="{BB962C8B-B14F-4D97-AF65-F5344CB8AC3E}">
        <p14:creationId xmlns:p14="http://schemas.microsoft.com/office/powerpoint/2010/main" val="35501604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60B6446E-0EF4-4139-94CE-C22F4B640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Whole-repo search · detail · 3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3906C8C-B285-4D1C-BFA2-0E469D9C0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CE894AE-FF15-4F0F-A48A-6D1041DCC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Architecture questions use deterministic directory communities.</a:t>
            </a:r>
          </a:p>
        </p:txBody>
      </p:sp>
      <p:sp>
        <p:nvSpPr>
          <p:cNvPr id="4" name="depth-box-2">
            <a:extLst xmlns:a="http://schemas.openxmlformats.org/drawingml/2006/main">
              <a:ext uri="{FF2B5EF4-FFF2-40B4-BE49-F238E27FC236}">
                <a16:creationId xmlns:a16="http://schemas.microsoft.com/office/drawing/2014/main" id="{4AFAF998-A003-4165-B635-E6E215366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2">
            <a:extLst xmlns:a="http://schemas.openxmlformats.org/drawingml/2006/main">
              <a:ext uri="{FF2B5EF4-FFF2-40B4-BE49-F238E27FC236}">
                <a16:creationId xmlns:a16="http://schemas.microsoft.com/office/drawing/2014/main" id="{4828ADB3-A58D-4860-B97E-5CA8CB65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WHOLE-REPOSITORY OUTPUT</a:t>
            </a:r>
          </a:p>
        </p:txBody>
      </p:sp>
      <p:sp>
        <p:nvSpPr>
          <p:cNvPr id="7" name="depth-rule-2">
            <a:extLst xmlns:a="http://schemas.openxmlformats.org/drawingml/2006/main">
              <a:ext uri="{FF2B5EF4-FFF2-40B4-BE49-F238E27FC236}">
                <a16:creationId xmlns:a16="http://schemas.microsoft.com/office/drawing/2014/main" id="{2CB4E98D-0379-403C-A783-617B3C41B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depth-source-2">
            <a:extLst xmlns:a="http://schemas.openxmlformats.org/drawingml/2006/main">
              <a:ext uri="{FF2B5EF4-FFF2-40B4-BE49-F238E27FC236}">
                <a16:creationId xmlns:a16="http://schemas.microsoft.com/office/drawing/2014/main" id="{1514CADB-E781-4A49-9EDC-B76D59080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/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8BA4A2BA-0425-402D-992B-12696C600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6.3</a:t>
            </a:r>
          </a:p>
        </p:txBody>
      </p:sp>
      <p:sp>
        <p:nvSpPr>
          <p:cNvPr id="16" name="sync-communities-a">
            <a:extLst xmlns:a="http://schemas.openxmlformats.org/drawingml/2006/main">
              <a:ext uri="{FF2B5EF4-FFF2-40B4-BE49-F238E27FC236}">
                <a16:creationId xmlns:a16="http://schemas.microsoft.com/office/drawing/2014/main" id="{E5A9E134-19FA-4D27-88D9-D9E7D8732B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14625"/>
            <a:ext cx="20955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8F0EE"/>
          </a:solidFill>
          <a:ln xmlns:a="http://schemas.openxmlformats.org/drawingml/2006/main" w="14288">
            <a:solidFill>
              <a:srgbClr val="2D6F78"/>
            </a:solidFill>
            <a:prstDash val="solid"/>
          </a:ln>
        </p:spPr>
      </p:sp>
      <p:sp>
        <p:nvSpPr>
          <p:cNvPr id="17" name="sync-communities-a-title">
            <a:extLst xmlns:a="http://schemas.openxmlformats.org/drawingml/2006/main">
              <a:ext uri="{FF2B5EF4-FFF2-40B4-BE49-F238E27FC236}">
                <a16:creationId xmlns:a16="http://schemas.microsoft.com/office/drawing/2014/main" id="{E931B39E-C3D0-4276-9850-E38C30D7C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8384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Code nodes</a:t>
            </a:r>
          </a:p>
        </p:txBody>
      </p:sp>
      <p:sp>
        <p:nvSpPr>
          <p:cNvPr id="18" name="sync-communities-a-subtitle">
            <a:extLst xmlns:a="http://schemas.openxmlformats.org/drawingml/2006/main">
              <a:ext uri="{FF2B5EF4-FFF2-40B4-BE49-F238E27FC236}">
                <a16:creationId xmlns:a16="http://schemas.microsoft.com/office/drawing/2014/main" id="{7986B965-34F5-49C2-88F8-985E2B9E6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0861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repository scoped</a:t>
            </a:r>
          </a:p>
        </p:txBody>
      </p:sp>
      <p:sp>
        <p:nvSpPr>
          <p:cNvPr id="19" name="sync-communities-b">
            <a:extLst xmlns:a="http://schemas.openxmlformats.org/drawingml/2006/main">
              <a:ext uri="{FF2B5EF4-FFF2-40B4-BE49-F238E27FC236}">
                <a16:creationId xmlns:a16="http://schemas.microsoft.com/office/drawing/2014/main" id="{8D24DEAD-044E-4CE5-A4CC-1080F85BA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14625"/>
            <a:ext cx="20955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1D2A34"/>
            </a:solidFill>
            <a:prstDash val="solid"/>
          </a:ln>
        </p:spPr>
      </p:sp>
      <p:sp>
        <p:nvSpPr>
          <p:cNvPr id="20" name="sync-communities-b-title">
            <a:extLst xmlns:a="http://schemas.openxmlformats.org/drawingml/2006/main">
              <a:ext uri="{FF2B5EF4-FFF2-40B4-BE49-F238E27FC236}">
                <a16:creationId xmlns:a16="http://schemas.microsoft.com/office/drawing/2014/main" id="{5C91DB6D-3953-452B-AE95-53B6912A7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8384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Directory groups</a:t>
            </a:r>
          </a:p>
        </p:txBody>
      </p:sp>
      <p:sp>
        <p:nvSpPr>
          <p:cNvPr id="21" name="sync-communities-b-subtitle">
            <a:extLst xmlns:a="http://schemas.openxmlformats.org/drawingml/2006/main">
              <a:ext uri="{FF2B5EF4-FFF2-40B4-BE49-F238E27FC236}">
                <a16:creationId xmlns:a16="http://schemas.microsoft.com/office/drawing/2014/main" id="{2DBF0509-E842-42FA-832F-DDF81AAED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61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deterministic partition</a:t>
            </a:r>
          </a:p>
        </p:txBody>
      </p:sp>
      <p:sp>
        <p:nvSpPr>
          <p:cNvPr id="22" name="sync-communities-c">
            <a:extLst xmlns:a="http://schemas.openxmlformats.org/drawingml/2006/main">
              <a:ext uri="{FF2B5EF4-FFF2-40B4-BE49-F238E27FC236}">
                <a16:creationId xmlns:a16="http://schemas.microsoft.com/office/drawing/2014/main" id="{15CC4BB7-523E-457A-83A7-975448438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2714625"/>
            <a:ext cx="20955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14288">
            <a:solidFill>
              <a:srgbClr val="3D6F58"/>
            </a:solidFill>
            <a:prstDash val="solid"/>
          </a:ln>
        </p:spPr>
      </p:sp>
      <p:sp>
        <p:nvSpPr>
          <p:cNvPr id="23" name="sync-communities-c-title">
            <a:extLst xmlns:a="http://schemas.openxmlformats.org/drawingml/2006/main">
              <a:ext uri="{FF2B5EF4-FFF2-40B4-BE49-F238E27FC236}">
                <a16:creationId xmlns:a16="http://schemas.microsoft.com/office/drawing/2014/main" id="{20ED8ABD-397A-4BD8-AC26-63607E594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384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Local summaries</a:t>
            </a:r>
          </a:p>
        </p:txBody>
      </p:sp>
      <p:sp>
        <p:nvSpPr>
          <p:cNvPr id="24" name="sync-communities-c-subtitle">
            <a:extLst xmlns:a="http://schemas.openxmlformats.org/drawingml/2006/main">
              <a:ext uri="{FF2B5EF4-FFF2-40B4-BE49-F238E27FC236}">
                <a16:creationId xmlns:a16="http://schemas.microsoft.com/office/drawing/2014/main" id="{B024ABAA-BA19-4AE4-854C-B79F09E5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086100"/>
            <a:ext cx="1790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Ollama architectural report</a:t>
            </a:r>
          </a:p>
        </p:txBody>
      </p:sp>
      <p:sp>
        <p:nvSpPr>
          <p:cNvPr id="25" name="sync-communities-d">
            <a:extLst xmlns:a="http://schemas.openxmlformats.org/drawingml/2006/main">
              <a:ext uri="{FF2B5EF4-FFF2-40B4-BE49-F238E27FC236}">
                <a16:creationId xmlns:a16="http://schemas.microsoft.com/office/drawing/2014/main" id="{9DE6889D-E3A7-4E2C-8325-9A11C474A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714625"/>
            <a:ext cx="238125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14288">
            <a:solidFill>
              <a:srgbClr val="3D6F58"/>
            </a:solidFill>
            <a:prstDash val="solid"/>
          </a:ln>
        </p:spPr>
      </p:sp>
      <p:sp>
        <p:nvSpPr>
          <p:cNvPr id="26" name="sync-communities-d-title">
            <a:extLst xmlns:a="http://schemas.openxmlformats.org/drawingml/2006/main">
              <a:ext uri="{FF2B5EF4-FFF2-40B4-BE49-F238E27FC236}">
                <a16:creationId xmlns:a16="http://schemas.microsoft.com/office/drawing/2014/main" id="{F8E3ADE6-B014-4901-AEE8-445B1EEA1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38450"/>
            <a:ext cx="2076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Global retrieval</a:t>
            </a:r>
          </a:p>
        </p:txBody>
      </p:sp>
      <p:sp>
        <p:nvSpPr>
          <p:cNvPr id="27" name="sync-communities-d-subtitle">
            <a:extLst xmlns:a="http://schemas.openxmlformats.org/drawingml/2006/main">
              <a:ext uri="{FF2B5EF4-FFF2-40B4-BE49-F238E27FC236}">
                <a16:creationId xmlns:a16="http://schemas.microsoft.com/office/drawing/2014/main" id="{6EF4698F-3B27-45B8-8EA3-16E50E776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86100"/>
            <a:ext cx="20764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community context</a:t>
            </a:r>
          </a:p>
        </p:txBody>
      </p:sp>
      <p:cxnSp>
        <p:nvCxnSpPr>
          <p:cNvPr id="275" name=""/>
          <p:cNvCxnSpPr>
            <a:stCxn xmlns:a="http://schemas.openxmlformats.org/drawingml/2006/main" id="19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3143250" y="30575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276" name=""/>
          <p:cNvCxnSpPr>
            <a:stCxn xmlns:a="http://schemas.openxmlformats.org/drawingml/2006/main" id="22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5619750" y="30575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277" name=""/>
          <p:cNvCxnSpPr>
            <a:stCxn xmlns:a="http://schemas.openxmlformats.org/drawingml/2006/main" id="25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8096250" y="3057525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sp>
        <p:nvSpPr>
          <p:cNvPr id="31" name="sync-communities-note">
            <a:extLst xmlns:a="http://schemas.openxmlformats.org/drawingml/2006/main">
              <a:ext uri="{FF2B5EF4-FFF2-40B4-BE49-F238E27FC236}">
                <a16:creationId xmlns:a16="http://schemas.microsoft.com/office/drawing/2014/main" id="{77E5B257-2B17-4DDD-B7AB-91A05D86B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67125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repository + directory define identity</a:t>
            </a:r>
          </a:p>
        </p:txBody>
      </p:sp>
    </p:spTree>
    <p:extLst>
      <p:ext uri="{BB962C8B-B14F-4D97-AF65-F5344CB8AC3E}">
        <p14:creationId xmlns:p14="http://schemas.microsoft.com/office/powerpoint/2010/main" val="110847877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kicker">
            <a:extLst xmlns:a="http://schemas.openxmlformats.org/drawingml/2006/main">
              <a:ext uri="{FF2B5EF4-FFF2-40B4-BE49-F238E27FC236}">
                <a16:creationId xmlns:a16="http://schemas.microsoft.com/office/drawing/2014/main" id="{3513B92A-25CE-437B-AA8C-2674C0983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Inside the local-behavior path · 07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06D88AF-296A-4D0E-A44E-A0B548871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9A4AA4E-55B8-4C5C-BB50-89F115801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How the local path combines graph and text results.</a:t>
            </a:r>
          </a:p>
        </p:txBody>
      </p:sp>
      <p:sp>
        <p:nvSpPr>
          <p:cNvPr id="4" name="running-case-core-07-label">
            <a:extLst xmlns:a="http://schemas.openxmlformats.org/drawingml/2006/main">
              <a:ext uri="{FF2B5EF4-FFF2-40B4-BE49-F238E27FC236}">
                <a16:creationId xmlns:a16="http://schemas.microsoft.com/office/drawing/2014/main" id="{52169AC2-3D10-4CCF-8B16-46396E1A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LOCAL-BEHAVIOR PATH</a:t>
            </a:r>
          </a:p>
        </p:txBody>
      </p:sp>
      <p:sp>
        <p:nvSpPr>
          <p:cNvPr id="5" name="running-case-core-07-query">
            <a:extLst xmlns:a="http://schemas.openxmlformats.org/drawingml/2006/main">
              <a:ext uri="{FF2B5EF4-FFF2-40B4-BE49-F238E27FC236}">
                <a16:creationId xmlns:a16="http://schemas.microsoft.com/office/drawing/2014/main" id="{19D77D20-AFF3-43BB-81F4-D89762745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demo_checkout</a:t>
            </a:r>
          </a:p>
        </p:txBody>
      </p:sp>
      <p:sp>
        <p:nvSpPr>
          <p:cNvPr id="6" name="running-case-core-07-stage">
            <a:extLst xmlns:a="http://schemas.openxmlformats.org/drawingml/2006/main">
              <a:ext uri="{FF2B5EF4-FFF2-40B4-BE49-F238E27FC236}">
                <a16:creationId xmlns:a16="http://schemas.microsoft.com/office/drawing/2014/main" id="{A19E8846-AA82-43B2-A07B-25B8DA779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graph + vector → RRF → context</a:t>
            </a:r>
          </a:p>
        </p:txBody>
      </p:sp>
      <p:sp>
        <p:nvSpPr>
          <p:cNvPr id="7" name="graph-rank">
            <a:extLst xmlns:a="http://schemas.openxmlformats.org/drawingml/2006/main">
              <a:ext uri="{FF2B5EF4-FFF2-40B4-BE49-F238E27FC236}">
                <a16:creationId xmlns:a16="http://schemas.microsoft.com/office/drawing/2014/main" id="{C4071337-CBAB-4110-BEA6-FC750515A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476500" cy="12573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8" name="graph-rank-label">
            <a:extLst xmlns:a="http://schemas.openxmlformats.org/drawingml/2006/main">
              <a:ext uri="{FF2B5EF4-FFF2-40B4-BE49-F238E27FC236}">
                <a16:creationId xmlns:a16="http://schemas.microsoft.com/office/drawing/2014/main" id="{2A62AF6A-BECA-4F95-BAE7-CA7279B5D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01930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GRAPH RANK</a:t>
            </a:r>
          </a:p>
        </p:txBody>
      </p:sp>
      <p:sp>
        <p:nvSpPr>
          <p:cNvPr id="9" name="graph-rank-copy">
            <a:extLst xmlns:a="http://schemas.openxmlformats.org/drawingml/2006/main">
              <a:ext uri="{FF2B5EF4-FFF2-40B4-BE49-F238E27FC236}">
                <a16:creationId xmlns:a16="http://schemas.microsoft.com/office/drawing/2014/main" id="{5AB5C8F1-7B88-479C-ADAF-193DE16A9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1714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01  _validate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02  _total</a:t>
            </a:r>
          </a:p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03  charge stub</a:t>
            </a:r>
          </a:p>
        </p:txBody>
      </p:sp>
      <p:sp>
        <p:nvSpPr>
          <p:cNvPr id="10" name="vector-rank">
            <a:extLst xmlns:a="http://schemas.openxmlformats.org/drawingml/2006/main">
              <a:ext uri="{FF2B5EF4-FFF2-40B4-BE49-F238E27FC236}">
                <a16:creationId xmlns:a16="http://schemas.microsoft.com/office/drawing/2014/main" id="{91157A50-42F4-4F73-9976-B2492ED61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2476500" cy="125730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E6EEF5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11" name="vector-rank-label">
            <a:extLst xmlns:a="http://schemas.openxmlformats.org/drawingml/2006/main">
              <a:ext uri="{FF2B5EF4-FFF2-40B4-BE49-F238E27FC236}">
                <a16:creationId xmlns:a16="http://schemas.microsoft.com/office/drawing/2014/main" id="{8952A877-3D1B-4970-A003-56CEC01BD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638550"/>
            <a:ext cx="1714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VECTOR RANK</a:t>
            </a:r>
          </a:p>
        </p:txBody>
      </p:sp>
      <p:sp>
        <p:nvSpPr>
          <p:cNvPr id="12" name="vector-rank-copy">
            <a:extLst xmlns:a="http://schemas.openxmlformats.org/drawingml/2006/main">
              <a:ext uri="{FF2B5EF4-FFF2-40B4-BE49-F238E27FC236}">
                <a16:creationId xmlns:a16="http://schemas.microsoft.com/office/drawing/2014/main" id="{D38B15D9-CE27-42FF-A192-00045F992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62400"/>
            <a:ext cx="2000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D2A34"/>
                </a:solidFill>
                <a:latin typeface="Aptos"/>
                <a:ea typeface="Aptos"/>
                <a:cs typeface="Aptos"/>
              </a:rPr>
              <a:t>01  checkout.py</a:t>
            </a:r>
          </a:p>
          <a:p xmlns:a="http://schemas.openxmlformats.org/drawingml/2006/main">
            <a:pPr algn="l">
              <a:buNone/>
              <a:defRPr sz="1275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D2A34"/>
                </a:solidFill>
                <a:latin typeface="Aptos"/>
                <a:ea typeface="Aptos"/>
                <a:cs typeface="Aptos"/>
              </a:rPr>
              <a:t>02  payment.py</a:t>
            </a:r>
          </a:p>
          <a:p xmlns:a="http://schemas.openxmlformats.org/drawingml/2006/main">
            <a:pPr algn="l">
              <a:buNone/>
              <a:defRPr sz="1275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1D2A34"/>
                </a:solidFill>
                <a:latin typeface="Aptos"/>
                <a:ea typeface="Aptos"/>
                <a:cs typeface="Aptos"/>
              </a:rPr>
              <a:t>03  related chunk</a:t>
            </a:r>
          </a:p>
        </p:txBody>
      </p:sp>
      <p:sp>
        <p:nvSpPr>
          <p:cNvPr id="13" name="graph-to-rrf">
            <a:extLst xmlns:a="http://schemas.openxmlformats.org/drawingml/2006/main">
              <a:ext uri="{FF2B5EF4-FFF2-40B4-BE49-F238E27FC236}">
                <a16:creationId xmlns:a16="http://schemas.microsoft.com/office/drawing/2014/main" id="{83A72BAD-6E31-48DA-BAAD-E8BA9887D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286000"/>
            <a:ext cx="895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D6F78"/>
          </a:solidFill>
          <a:ln xmlns:a="http://schemas.openxmlformats.org/drawingml/2006/main" w="0">
            <a:solidFill>
              <a:srgbClr val="2D6F78"/>
            </a:solidFill>
            <a:prstDash val="solid"/>
          </a:ln>
        </p:spPr>
      </p:sp>
      <p:sp>
        <p:nvSpPr>
          <p:cNvPr id="14" name="vector-to-rrf">
            <a:extLst xmlns:a="http://schemas.openxmlformats.org/drawingml/2006/main">
              <a:ext uri="{FF2B5EF4-FFF2-40B4-BE49-F238E27FC236}">
                <a16:creationId xmlns:a16="http://schemas.microsoft.com/office/drawing/2014/main" id="{1E0B48DB-2E58-43F6-8CCE-03177F4A7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3943350"/>
            <a:ext cx="8953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5" name="rrf-circle">
            <a:extLst xmlns:a="http://schemas.openxmlformats.org/drawingml/2006/main">
              <a:ext uri="{FF2B5EF4-FFF2-40B4-BE49-F238E27FC236}">
                <a16:creationId xmlns:a16="http://schemas.microsoft.com/office/drawing/2014/main" id="{B6CFC149-0595-4E1B-BD5F-A0AE9D118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628900"/>
            <a:ext cx="1238250" cy="1238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6" name="rrf-title">
            <a:extLst xmlns:a="http://schemas.openxmlformats.org/drawingml/2006/main">
              <a:ext uri="{FF2B5EF4-FFF2-40B4-BE49-F238E27FC236}">
                <a16:creationId xmlns:a16="http://schemas.microsoft.com/office/drawing/2014/main" id="{8A6B3A86-6DE6-489E-A12E-F2F1192DC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2952750"/>
            <a:ext cx="952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RRF</a:t>
            </a:r>
          </a:p>
        </p:txBody>
      </p:sp>
      <p:sp>
        <p:nvSpPr>
          <p:cNvPr id="17" name="rrf-subtitle">
            <a:extLst xmlns:a="http://schemas.openxmlformats.org/drawingml/2006/main">
              <a:ext uri="{FF2B5EF4-FFF2-40B4-BE49-F238E27FC236}">
                <a16:creationId xmlns:a16="http://schemas.microsoft.com/office/drawing/2014/main" id="{F2723CC5-AE0C-461B-B045-35658ECB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314700"/>
            <a:ext cx="1047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ctr">
              <a:buNone/>
              <a:defRPr sz="9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900">
                <a:solidFill>
                  <a:srgbClr val="586671"/>
                </a:solidFill>
                <a:latin typeface="Aptos"/>
                <a:ea typeface="Aptos"/>
                <a:cs typeface="Aptos"/>
              </a:rPr>
              <a:t>rank, not score</a:t>
            </a:r>
          </a:p>
        </p:txBody>
      </p:sp>
      <p:sp>
        <p:nvSpPr>
          <p:cNvPr id="18" name="rrf-to-context">
            <a:extLst xmlns:a="http://schemas.openxmlformats.org/drawingml/2006/main">
              <a:ext uri="{FF2B5EF4-FFF2-40B4-BE49-F238E27FC236}">
                <a16:creationId xmlns:a16="http://schemas.microsoft.com/office/drawing/2014/main" id="{2BBD3935-AF9A-4103-919C-EA0CE1A8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3143250"/>
            <a:ext cx="78105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6F58"/>
          </a:solidFill>
          <a:ln xmlns:a="http://schemas.openxmlformats.org/drawingml/2006/main" w="0">
            <a:solidFill>
              <a:srgbClr val="3D6F58"/>
            </a:solidFill>
            <a:prstDash val="solid"/>
          </a:ln>
        </p:spPr>
      </p:sp>
      <p:sp>
        <p:nvSpPr>
          <p:cNvPr id="19" name="context-box">
            <a:extLst xmlns:a="http://schemas.openxmlformats.org/drawingml/2006/main">
              <a:ext uri="{FF2B5EF4-FFF2-40B4-BE49-F238E27FC236}">
                <a16:creationId xmlns:a16="http://schemas.microsoft.com/office/drawing/2014/main" id="{5B6D248B-0E7D-467C-B728-EEC92F69A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809750"/>
            <a:ext cx="3619500" cy="27432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20" name="context-label">
            <a:extLst xmlns:a="http://schemas.openxmlformats.org/drawingml/2006/main">
              <a:ext uri="{FF2B5EF4-FFF2-40B4-BE49-F238E27FC236}">
                <a16:creationId xmlns:a16="http://schemas.microsoft.com/office/drawing/2014/main" id="{23E899A5-64E3-476C-B38A-EAAA162072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05740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CONTEXT TO OLLAMA</a:t>
            </a:r>
          </a:p>
        </p:txBody>
      </p:sp>
      <p:sp>
        <p:nvSpPr>
          <p:cNvPr id="21" name="context-bullet-rule-0">
            <a:extLst xmlns:a="http://schemas.openxmlformats.org/drawingml/2006/main">
              <a:ext uri="{FF2B5EF4-FFF2-40B4-BE49-F238E27FC236}">
                <a16:creationId xmlns:a16="http://schemas.microsoft.com/office/drawing/2014/main" id="{972EEE75-5D6D-4D8A-9241-FF20932CB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571750"/>
            <a:ext cx="28575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2" name="context-bullet-0">
            <a:extLst xmlns:a="http://schemas.openxmlformats.org/drawingml/2006/main">
              <a:ext uri="{FF2B5EF4-FFF2-40B4-BE49-F238E27FC236}">
                <a16:creationId xmlns:a16="http://schemas.microsoft.com/office/drawing/2014/main" id="{13168994-C8A0-4B8A-BEC2-B35C644CF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495550"/>
            <a:ext cx="2705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Fuse top-k 20</a:t>
            </a:r>
          </a:p>
        </p:txBody>
      </p:sp>
      <p:sp>
        <p:nvSpPr>
          <p:cNvPr id="23" name="context-bullet-rule-1">
            <a:extLst xmlns:a="http://schemas.openxmlformats.org/drawingml/2006/main">
              <a:ext uri="{FF2B5EF4-FFF2-40B4-BE49-F238E27FC236}">
                <a16:creationId xmlns:a16="http://schemas.microsoft.com/office/drawing/2014/main" id="{18924DED-27D5-4813-A2B2-68D40CBD7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028950"/>
            <a:ext cx="28575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4" name="context-bullet-1">
            <a:extLst xmlns:a="http://schemas.openxmlformats.org/drawingml/2006/main">
              <a:ext uri="{FF2B5EF4-FFF2-40B4-BE49-F238E27FC236}">
                <a16:creationId xmlns:a16="http://schemas.microsoft.com/office/drawing/2014/main" id="{314E2436-27A9-469B-AEF1-EEE29E9D7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952750"/>
            <a:ext cx="2705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Deduplicate by base node</a:t>
            </a:r>
          </a:p>
        </p:txBody>
      </p:sp>
      <p:sp>
        <p:nvSpPr>
          <p:cNvPr id="25" name="context-bullet-rule-2">
            <a:extLst xmlns:a="http://schemas.openxmlformats.org/drawingml/2006/main">
              <a:ext uri="{FF2B5EF4-FFF2-40B4-BE49-F238E27FC236}">
                <a16:creationId xmlns:a16="http://schemas.microsoft.com/office/drawing/2014/main" id="{62B8B3A8-8770-4C29-8691-0C011D994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486150"/>
            <a:ext cx="28575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6" name="context-bullet-2">
            <a:extLst xmlns:a="http://schemas.openxmlformats.org/drawingml/2006/main">
              <a:ext uri="{FF2B5EF4-FFF2-40B4-BE49-F238E27FC236}">
                <a16:creationId xmlns:a16="http://schemas.microsoft.com/office/drawing/2014/main" id="{1C3B44C5-A8F5-496D-857F-6105F734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409950"/>
            <a:ext cx="2705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Keep best 5 for benchmark</a:t>
            </a:r>
          </a:p>
        </p:txBody>
      </p:sp>
      <p:sp>
        <p:nvSpPr>
          <p:cNvPr id="27" name="context-bullet-rule-3">
            <a:extLst xmlns:a="http://schemas.openxmlformats.org/drawingml/2006/main">
              <a:ext uri="{FF2B5EF4-FFF2-40B4-BE49-F238E27FC236}">
                <a16:creationId xmlns:a16="http://schemas.microsoft.com/office/drawing/2014/main" id="{E72C1F0F-5542-45F4-87A7-FF7CDB48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943350"/>
            <a:ext cx="28575" cy="361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8" name="context-bullet-3">
            <a:extLst xmlns:a="http://schemas.openxmlformats.org/drawingml/2006/main">
              <a:ext uri="{FF2B5EF4-FFF2-40B4-BE49-F238E27FC236}">
                <a16:creationId xmlns:a16="http://schemas.microsoft.com/office/drawing/2014/main" id="{D1E0083F-0AA0-448D-9E1B-F0962B5B8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867150"/>
            <a:ext cx="27051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D2A34"/>
                </a:solidFill>
                <a:latin typeface="Aptos"/>
                <a:ea typeface="Aptos"/>
                <a:cs typeface="Aptos"/>
              </a:rPr>
              <a:t>Respect token budget</a:t>
            </a:r>
          </a:p>
        </p:txBody>
      </p:sp>
      <p:sp>
        <p:nvSpPr>
          <p:cNvPr id="3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18EFDA1-7497-484D-A5FC-DAF16ABA2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305643684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15823A0D-263B-4893-A59F-3393608FF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Why RRF · detail · 1 / 1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20174E00-7449-457E-A921-AAF56BC59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4DAEB2C-742A-4FC9-936B-68D1CD3B0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Why use RRF instead of score fusion or a reranker?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8FE2824-478D-4D6C-8C05-F424AA57B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7.1</a:t>
            </a:r>
          </a:p>
        </p:txBody>
      </p:sp>
      <p:sp>
        <p:nvSpPr>
          <p:cNvPr id="15" name="s13-label">
            <a:extLst xmlns:a="http://schemas.openxmlformats.org/drawingml/2006/main">
              <a:ext uri="{FF2B5EF4-FFF2-40B4-BE49-F238E27FC236}">
                <a16:creationId xmlns:a16="http://schemas.microsoft.com/office/drawing/2014/main" id="{00950A73-F83C-4799-9A08-7B4595496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FUSION OPTIONS</a:t>
            </a:r>
          </a:p>
        </p:txBody>
      </p:sp>
      <p:sp>
        <p:nvSpPr>
          <p:cNvPr id="16" name="s13-0-box">
            <a:extLst xmlns:a="http://schemas.openxmlformats.org/drawingml/2006/main">
              <a:ext uri="{FF2B5EF4-FFF2-40B4-BE49-F238E27FC236}">
                <a16:creationId xmlns:a16="http://schemas.microsoft.com/office/drawing/2014/main" id="{BDC1F81B-D4C5-4738-87BE-F25F7E38F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2333625" cy="238125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17" name="s13-0-title">
            <a:extLst xmlns:a="http://schemas.openxmlformats.org/drawingml/2006/main">
              <a:ext uri="{FF2B5EF4-FFF2-40B4-BE49-F238E27FC236}">
                <a16:creationId xmlns:a16="http://schemas.microsoft.com/office/drawing/2014/main" id="{73471C64-8AD7-4CE1-BF37-806A2CB9F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6220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2C35"/>
                </a:solidFill>
              </a:defRPr>
            </a:pPr>
            <a:r>
              <a:rPr sz="1650" b="1">
                <a:solidFill>
                  <a:srgbClr val="202C35"/>
                </a:solidFill>
              </a:rPr>
              <a:t>CombSUM</a:t>
            </a:r>
          </a:p>
        </p:txBody>
      </p:sp>
      <p:sp>
        <p:nvSpPr>
          <p:cNvPr id="18" name="s13-0-subtitle">
            <a:extLst xmlns:a="http://schemas.openxmlformats.org/drawingml/2006/main">
              <a:ext uri="{FF2B5EF4-FFF2-40B4-BE49-F238E27FC236}">
                <a16:creationId xmlns:a16="http://schemas.microsoft.com/office/drawing/2014/main" id="{4C8E4C5A-EFF4-466D-BA32-51FE1AFE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76550"/>
            <a:ext cx="1952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Adds raw scores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Needs calibrated score scales</a:t>
            </a:r>
          </a:p>
        </p:txBody>
      </p:sp>
      <p:sp>
        <p:nvSpPr>
          <p:cNvPr id="19" name="s13-1-box">
            <a:extLst xmlns:a="http://schemas.openxmlformats.org/drawingml/2006/main">
              <a:ext uri="{FF2B5EF4-FFF2-40B4-BE49-F238E27FC236}">
                <a16:creationId xmlns:a16="http://schemas.microsoft.com/office/drawing/2014/main" id="{CA6B6974-49C5-488B-9C35-A77543D80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2190750"/>
            <a:ext cx="2333625" cy="238125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20" name="s13-1-title">
            <a:extLst xmlns:a="http://schemas.openxmlformats.org/drawingml/2006/main">
              <a:ext uri="{FF2B5EF4-FFF2-40B4-BE49-F238E27FC236}">
                <a16:creationId xmlns:a16="http://schemas.microsoft.com/office/drawing/2014/main" id="{BF4FFB5A-EBF9-4C84-A5BA-3004C8E586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36220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02C35"/>
                </a:solidFill>
              </a:defRPr>
            </a:pPr>
            <a:r>
              <a:rPr sz="1650" b="1">
                <a:solidFill>
                  <a:srgbClr val="202C35"/>
                </a:solidFill>
              </a:rPr>
              <a:t>Borda</a:t>
            </a:r>
          </a:p>
        </p:txBody>
      </p:sp>
      <p:sp>
        <p:nvSpPr>
          <p:cNvPr id="21" name="s13-1-subtitle">
            <a:extLst xmlns:a="http://schemas.openxmlformats.org/drawingml/2006/main">
              <a:ext uri="{FF2B5EF4-FFF2-40B4-BE49-F238E27FC236}">
                <a16:creationId xmlns:a16="http://schemas.microsoft.com/office/drawing/2014/main" id="{9C2F4FF7-D5F3-4B35-9D01-3E825A814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2876550"/>
            <a:ext cx="1952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Rank voting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Simple, but less retrieval-specific</a:t>
            </a:r>
          </a:p>
        </p:txBody>
      </p:sp>
      <p:sp>
        <p:nvSpPr>
          <p:cNvPr id="22" name="s13-2-box">
            <a:extLst xmlns:a="http://schemas.openxmlformats.org/drawingml/2006/main">
              <a:ext uri="{FF2B5EF4-FFF2-40B4-BE49-F238E27FC236}">
                <a16:creationId xmlns:a16="http://schemas.microsoft.com/office/drawing/2014/main" id="{5DC4B04B-95E7-4636-8E58-5C0DA2962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2190750"/>
            <a:ext cx="2333625" cy="238125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F3E0D7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3" name="s13-2-title">
            <a:extLst xmlns:a="http://schemas.openxmlformats.org/drawingml/2006/main">
              <a:ext uri="{FF2B5EF4-FFF2-40B4-BE49-F238E27FC236}">
                <a16:creationId xmlns:a16="http://schemas.microsoft.com/office/drawing/2014/main" id="{05FF0841-C503-418C-8A7D-9F6CA1598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36220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C45A37"/>
                </a:solidFill>
              </a:defRPr>
            </a:pPr>
            <a:r>
              <a:rPr sz="1650" b="1">
                <a:solidFill>
                  <a:srgbClr val="C45A37"/>
                </a:solidFill>
              </a:rPr>
              <a:t>Reranker</a:t>
            </a:r>
          </a:p>
        </p:txBody>
      </p:sp>
      <p:sp>
        <p:nvSpPr>
          <p:cNvPr id="24" name="s13-2-subtitle">
            <a:extLst xmlns:a="http://schemas.openxmlformats.org/drawingml/2006/main">
              <a:ext uri="{FF2B5EF4-FFF2-40B4-BE49-F238E27FC236}">
                <a16:creationId xmlns:a16="http://schemas.microsoft.com/office/drawing/2014/main" id="{9A6E303B-EAD6-4393-931A-9E224B53C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876550"/>
            <a:ext cx="1952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Extra learned model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More latency and model dependency</a:t>
            </a:r>
          </a:p>
        </p:txBody>
      </p:sp>
      <p:sp>
        <p:nvSpPr>
          <p:cNvPr id="25" name="s13-3-box">
            <a:extLst xmlns:a="http://schemas.openxmlformats.org/drawingml/2006/main">
              <a:ext uri="{FF2B5EF4-FFF2-40B4-BE49-F238E27FC236}">
                <a16:creationId xmlns:a16="http://schemas.microsoft.com/office/drawing/2014/main" id="{4C51F0E7-5ACC-4B01-B99A-09B7D75AE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01075" y="2190750"/>
            <a:ext cx="2333625" cy="2381250"/>
          </a:xfrm>
          <a:prstGeom xmlns:a="http://schemas.openxmlformats.org/drawingml/2006/main" prst="roundRect">
            <a:avLst>
              <a:gd name="adj" fmla="val 4898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6" name="s13-3-title">
            <a:extLst xmlns:a="http://schemas.openxmlformats.org/drawingml/2006/main">
              <a:ext uri="{FF2B5EF4-FFF2-40B4-BE49-F238E27FC236}">
                <a16:creationId xmlns:a16="http://schemas.microsoft.com/office/drawing/2014/main" id="{447E7694-A8A6-49B0-867F-3DB9853CD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362200"/>
            <a:ext cx="1952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E735B"/>
                </a:solidFill>
              </a:defRPr>
            </a:pPr>
            <a:r>
              <a:rPr sz="1650" b="1">
                <a:solidFill>
                  <a:srgbClr val="3E735B"/>
                </a:solidFill>
              </a:rPr>
              <a:t>RRF</a:t>
            </a:r>
          </a:p>
        </p:txBody>
      </p:sp>
      <p:sp>
        <p:nvSpPr>
          <p:cNvPr id="27" name="s13-3-subtitle">
            <a:extLst xmlns:a="http://schemas.openxmlformats.org/drawingml/2006/main">
              <a:ext uri="{FF2B5EF4-FFF2-40B4-BE49-F238E27FC236}">
                <a16:creationId xmlns:a16="http://schemas.microsoft.com/office/drawing/2014/main" id="{51D7E5C0-5195-447B-AD06-D1685F62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91575" y="2876550"/>
            <a:ext cx="1952625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Uses rank positions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Lightweight and deterministic</a:t>
            </a:r>
          </a:p>
        </p:txBody>
      </p:sp>
      <p:sp>
        <p:nvSpPr>
          <p:cNvPr id="28" name="body-source">
            <a:extLst xmlns:a="http://schemas.openxmlformats.org/drawingml/2006/main">
              <a:ext uri="{FF2B5EF4-FFF2-40B4-BE49-F238E27FC236}">
                <a16:creationId xmlns:a16="http://schemas.microsoft.com/office/drawing/2014/main" id="{4F830D14-3632-4779-BAD0-4E8025613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4350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Sources: src/hybrid_rag/retrieval/rrf.py; Cormack et al. 2009</a:t>
            </a:r>
          </a:p>
        </p:txBody>
      </p:sp>
    </p:spTree>
    <p:extLst>
      <p:ext uri="{BB962C8B-B14F-4D97-AF65-F5344CB8AC3E}">
        <p14:creationId xmlns:p14="http://schemas.microsoft.com/office/powerpoint/2010/main" val="4348593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kicker">
            <a:extLst xmlns:a="http://schemas.openxmlformats.org/drawingml/2006/main">
              <a:ext uri="{FF2B5EF4-FFF2-40B4-BE49-F238E27FC236}">
                <a16:creationId xmlns:a16="http://schemas.microsoft.com/office/drawing/2014/main" id="{B9021AC0-03DD-4C26-B8DF-880504001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Index update safety · 08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896248EB-82DE-4834-818D-218B495A8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B572E60-374A-490F-B2F1-3CD9C93B2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Prepare first; publish new records before removing old ones.</a:t>
            </a:r>
          </a:p>
        </p:txBody>
      </p:sp>
      <p:sp>
        <p:nvSpPr>
          <p:cNvPr id="4" name="running-case-core-08-label">
            <a:extLst xmlns:a="http://schemas.openxmlformats.org/drawingml/2006/main">
              <a:ext uri="{FF2B5EF4-FFF2-40B4-BE49-F238E27FC236}">
                <a16:creationId xmlns:a16="http://schemas.microsoft.com/office/drawing/2014/main" id="{FFC7C396-6D2D-45E8-821E-DFC925CB7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INDEX LIFECYCLE</a:t>
            </a:r>
          </a:p>
        </p:txBody>
      </p:sp>
      <p:sp>
        <p:nvSpPr>
          <p:cNvPr id="5" name="running-case-core-08-query">
            <a:extLst xmlns:a="http://schemas.openxmlformats.org/drawingml/2006/main">
              <a:ext uri="{FF2B5EF4-FFF2-40B4-BE49-F238E27FC236}">
                <a16:creationId xmlns:a16="http://schemas.microsoft.com/office/drawing/2014/main" id="{9AE17C1C-1B00-4382-BA96-25BEA466C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demo_checkout</a:t>
            </a:r>
          </a:p>
        </p:txBody>
      </p:sp>
      <p:sp>
        <p:nvSpPr>
          <p:cNvPr id="6" name="running-case-core-08-stage">
            <a:extLst xmlns:a="http://schemas.openxmlformats.org/drawingml/2006/main">
              <a:ext uri="{FF2B5EF4-FFF2-40B4-BE49-F238E27FC236}">
                <a16:creationId xmlns:a16="http://schemas.microsoft.com/office/drawing/2014/main" id="{E7A0E3AF-078D-49FD-9C17-28368545A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validate → prepare → publish → finalize</a:t>
            </a:r>
          </a:p>
        </p:txBody>
      </p:sp>
      <p:sp>
        <p:nvSpPr>
          <p:cNvPr id="7" name="gate-0">
            <a:extLst xmlns:a="http://schemas.openxmlformats.org/drawingml/2006/main">
              <a:ext uri="{FF2B5EF4-FFF2-40B4-BE49-F238E27FC236}">
                <a16:creationId xmlns:a16="http://schemas.microsoft.com/office/drawing/2014/main" id="{F86932F4-6640-4CCB-8258-19B978FA8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714500" cy="1714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8" name="gate-num-0">
            <a:extLst xmlns:a="http://schemas.openxmlformats.org/drawingml/2006/main">
              <a:ext uri="{FF2B5EF4-FFF2-40B4-BE49-F238E27FC236}">
                <a16:creationId xmlns:a16="http://schemas.microsoft.com/office/drawing/2014/main" id="{A3200A20-AC48-42B0-8B9E-4B634EA6E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9" name="gate-title-0">
            <a:extLst xmlns:a="http://schemas.openxmlformats.org/drawingml/2006/main">
              <a:ext uri="{FF2B5EF4-FFF2-40B4-BE49-F238E27FC236}">
                <a16:creationId xmlns:a16="http://schemas.microsoft.com/office/drawing/2014/main" id="{72CAE6B7-5D5B-466A-BCCF-1A4B89546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43200"/>
            <a:ext cx="133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Validate first</a:t>
            </a:r>
          </a:p>
        </p:txBody>
      </p:sp>
      <p:sp>
        <p:nvSpPr>
          <p:cNvPr id="10" name="gate-copy-0">
            <a:extLst xmlns:a="http://schemas.openxmlformats.org/drawingml/2006/main">
              <a:ext uri="{FF2B5EF4-FFF2-40B4-BE49-F238E27FC236}">
                <a16:creationId xmlns:a16="http://schemas.microsoft.com/office/drawing/2014/main" id="{CF9470B2-B8F8-4C1D-A3D3-5ECD79E74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95650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86671"/>
                </a:solidFill>
                <a:latin typeface="Aptos"/>
                <a:ea typeface="Aptos"/>
                <a:cs typeface="Aptos"/>
              </a:rPr>
              <a:t>Python + local Ollama</a:t>
            </a:r>
          </a:p>
        </p:txBody>
      </p:sp>
      <p:sp>
        <p:nvSpPr>
          <p:cNvPr id="11" name="gate-arrow-0">
            <a:extLst xmlns:a="http://schemas.openxmlformats.org/drawingml/2006/main">
              <a:ext uri="{FF2B5EF4-FFF2-40B4-BE49-F238E27FC236}">
                <a16:creationId xmlns:a16="http://schemas.microsoft.com/office/drawing/2014/main" id="{6D977018-9F07-41AB-868D-AC727729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98132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2" name="gate-1">
            <a:extLst xmlns:a="http://schemas.openxmlformats.org/drawingml/2006/main">
              <a:ext uri="{FF2B5EF4-FFF2-40B4-BE49-F238E27FC236}">
                <a16:creationId xmlns:a16="http://schemas.microsoft.com/office/drawing/2014/main" id="{831739A5-EE67-4FCF-A37F-E7034C4DC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2190750"/>
            <a:ext cx="1714500" cy="1714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6EEF5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13" name="gate-num-1">
            <a:extLst xmlns:a="http://schemas.openxmlformats.org/drawingml/2006/main">
              <a:ext uri="{FF2B5EF4-FFF2-40B4-BE49-F238E27FC236}">
                <a16:creationId xmlns:a16="http://schemas.microsoft.com/office/drawing/2014/main" id="{FDFA82A8-2DB7-4351-A29F-1D5EA4FB9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3812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gate-title-1">
            <a:extLst xmlns:a="http://schemas.openxmlformats.org/drawingml/2006/main">
              <a:ext uri="{FF2B5EF4-FFF2-40B4-BE49-F238E27FC236}">
                <a16:creationId xmlns:a16="http://schemas.microsoft.com/office/drawing/2014/main" id="{5F760182-716C-4018-8A33-C64C1E79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2743200"/>
            <a:ext cx="133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Prepare in memory</a:t>
            </a:r>
          </a:p>
        </p:txBody>
      </p:sp>
      <p:sp>
        <p:nvSpPr>
          <p:cNvPr id="15" name="gate-copy-1">
            <a:extLst xmlns:a="http://schemas.openxmlformats.org/drawingml/2006/main">
              <a:ext uri="{FF2B5EF4-FFF2-40B4-BE49-F238E27FC236}">
                <a16:creationId xmlns:a16="http://schemas.microsoft.com/office/drawing/2014/main" id="{9120C8A4-FEAA-40D5-A547-ABDE5381B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95650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86671"/>
                </a:solidFill>
                <a:latin typeface="Aptos"/>
                <a:ea typeface="Aptos"/>
                <a:cs typeface="Aptos"/>
              </a:rPr>
              <a:t>parse · resolve · embed</a:t>
            </a:r>
          </a:p>
        </p:txBody>
      </p:sp>
      <p:sp>
        <p:nvSpPr>
          <p:cNvPr id="16" name="gate-arrow-1">
            <a:extLst xmlns:a="http://schemas.openxmlformats.org/drawingml/2006/main">
              <a:ext uri="{FF2B5EF4-FFF2-40B4-BE49-F238E27FC236}">
                <a16:creationId xmlns:a16="http://schemas.microsoft.com/office/drawing/2014/main" id="{FACA5418-2EC5-4424-9618-F5020C6CE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98132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7" name="gate-2">
            <a:extLst xmlns:a="http://schemas.openxmlformats.org/drawingml/2006/main">
              <a:ext uri="{FF2B5EF4-FFF2-40B4-BE49-F238E27FC236}">
                <a16:creationId xmlns:a16="http://schemas.microsoft.com/office/drawing/2014/main" id="{26426522-04A1-48CD-B3EB-B48410185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190750"/>
            <a:ext cx="1714500" cy="1714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18" name="gate-num-2">
            <a:extLst xmlns:a="http://schemas.openxmlformats.org/drawingml/2006/main">
              <a:ext uri="{FF2B5EF4-FFF2-40B4-BE49-F238E27FC236}">
                <a16:creationId xmlns:a16="http://schemas.microsoft.com/office/drawing/2014/main" id="{7DB62BF3-F368-4B9B-9F71-02065A21D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3812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9" name="gate-title-2">
            <a:extLst xmlns:a="http://schemas.openxmlformats.org/drawingml/2006/main">
              <a:ext uri="{FF2B5EF4-FFF2-40B4-BE49-F238E27FC236}">
                <a16:creationId xmlns:a16="http://schemas.microsoft.com/office/drawing/2014/main" id="{BFB6B937-592A-4006-B131-485706B8A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2743200"/>
            <a:ext cx="133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Publish both views</a:t>
            </a:r>
          </a:p>
        </p:txBody>
      </p:sp>
      <p:sp>
        <p:nvSpPr>
          <p:cNvPr id="20" name="gate-copy-2">
            <a:extLst xmlns:a="http://schemas.openxmlformats.org/drawingml/2006/main">
              <a:ext uri="{FF2B5EF4-FFF2-40B4-BE49-F238E27FC236}">
                <a16:creationId xmlns:a16="http://schemas.microsoft.com/office/drawing/2014/main" id="{ADFC1C13-DAEB-4ED2-980E-7A45F216C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295650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86671"/>
                </a:solidFill>
                <a:latin typeface="Aptos"/>
                <a:ea typeface="Aptos"/>
                <a:cs typeface="Aptos"/>
              </a:rPr>
              <a:t>upsert before cleanup</a:t>
            </a:r>
          </a:p>
        </p:txBody>
      </p:sp>
      <p:sp>
        <p:nvSpPr>
          <p:cNvPr id="21" name="gate-arrow-2">
            <a:extLst xmlns:a="http://schemas.openxmlformats.org/drawingml/2006/main">
              <a:ext uri="{FF2B5EF4-FFF2-40B4-BE49-F238E27FC236}">
                <a16:creationId xmlns:a16="http://schemas.microsoft.com/office/drawing/2014/main" id="{DA6851B8-890B-45A1-89E7-E4261A701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98132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22" name="gate-3">
            <a:extLst xmlns:a="http://schemas.openxmlformats.org/drawingml/2006/main">
              <a:ext uri="{FF2B5EF4-FFF2-40B4-BE49-F238E27FC236}">
                <a16:creationId xmlns:a16="http://schemas.microsoft.com/office/drawing/2014/main" id="{AA128941-327F-47DD-B2EA-7B929B29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00850" y="2190750"/>
            <a:ext cx="1714500" cy="1714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23" name="gate-num-3">
            <a:extLst xmlns:a="http://schemas.openxmlformats.org/drawingml/2006/main">
              <a:ext uri="{FF2B5EF4-FFF2-40B4-BE49-F238E27FC236}">
                <a16:creationId xmlns:a16="http://schemas.microsoft.com/office/drawing/2014/main" id="{BAEC216B-D815-417C-88C8-BD2778347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3812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4" name="gate-title-3">
            <a:extLst xmlns:a="http://schemas.openxmlformats.org/drawingml/2006/main">
              <a:ext uri="{FF2B5EF4-FFF2-40B4-BE49-F238E27FC236}">
                <a16:creationId xmlns:a16="http://schemas.microsoft.com/office/drawing/2014/main" id="{F7183480-0163-4690-9B51-0BA5454B5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2743200"/>
            <a:ext cx="133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Clean stale records</a:t>
            </a:r>
          </a:p>
        </p:txBody>
      </p:sp>
      <p:sp>
        <p:nvSpPr>
          <p:cNvPr id="25" name="gate-copy-3">
            <a:extLst xmlns:a="http://schemas.openxmlformats.org/drawingml/2006/main">
              <a:ext uri="{FF2B5EF4-FFF2-40B4-BE49-F238E27FC236}">
                <a16:creationId xmlns:a16="http://schemas.microsoft.com/office/drawing/2014/main" id="{6AAD9C97-743A-4B2C-90C8-8A2FC0789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91350" y="3295650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86671"/>
                </a:solidFill>
                <a:latin typeface="Aptos"/>
                <a:ea typeface="Aptos"/>
                <a:cs typeface="Aptos"/>
              </a:rPr>
              <a:t>old run removed last</a:t>
            </a:r>
          </a:p>
        </p:txBody>
      </p:sp>
      <p:sp>
        <p:nvSpPr>
          <p:cNvPr id="26" name="gate-arrow-3">
            <a:extLst xmlns:a="http://schemas.openxmlformats.org/drawingml/2006/main">
              <a:ext uri="{FF2B5EF4-FFF2-40B4-BE49-F238E27FC236}">
                <a16:creationId xmlns:a16="http://schemas.microsoft.com/office/drawing/2014/main" id="{CD2BCE21-D55F-4EDF-9ED8-3A90C12FD7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3450" y="2981325"/>
            <a:ext cx="228600" cy="1333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27" name="gate-4">
            <a:extLst xmlns:a="http://schemas.openxmlformats.org/drawingml/2006/main">
              <a:ext uri="{FF2B5EF4-FFF2-40B4-BE49-F238E27FC236}">
                <a16:creationId xmlns:a16="http://schemas.microsoft.com/office/drawing/2014/main" id="{DA5ACD8A-FD65-4433-9013-0090A9980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190750"/>
            <a:ext cx="1714500" cy="171450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28" name="gate-num-4">
            <a:extLst xmlns:a="http://schemas.openxmlformats.org/drawingml/2006/main">
              <a:ext uri="{FF2B5EF4-FFF2-40B4-BE49-F238E27FC236}">
                <a16:creationId xmlns:a16="http://schemas.microsoft.com/office/drawing/2014/main" id="{DDF382CB-D495-4141-973E-02AE94B4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381250"/>
            <a:ext cx="38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29" name="gate-title-4">
            <a:extLst xmlns:a="http://schemas.openxmlformats.org/drawingml/2006/main">
              <a:ext uri="{FF2B5EF4-FFF2-40B4-BE49-F238E27FC236}">
                <a16:creationId xmlns:a16="http://schemas.microsoft.com/office/drawing/2014/main" id="{F8E053EB-D941-45D3-8103-262E05481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743200"/>
            <a:ext cx="1333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Finalize identity</a:t>
            </a:r>
          </a:p>
        </p:txBody>
      </p:sp>
      <p:sp>
        <p:nvSpPr>
          <p:cNvPr id="30" name="gate-copy-4">
            <a:extLst xmlns:a="http://schemas.openxmlformats.org/drawingml/2006/main">
              <a:ext uri="{FF2B5EF4-FFF2-40B4-BE49-F238E27FC236}">
                <a16:creationId xmlns:a16="http://schemas.microsoft.com/office/drawing/2014/main" id="{5B0D1DEB-52ED-407D-AB2F-C4829FD08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295650"/>
            <a:ext cx="13335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1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86671"/>
                </a:solidFill>
                <a:latin typeface="Aptos"/>
                <a:ea typeface="Aptos"/>
                <a:cs typeface="Aptos"/>
              </a:rPr>
              <a:t>metadata · cache generation</a:t>
            </a:r>
          </a:p>
        </p:txBody>
      </p:sp>
      <p:sp>
        <p:nvSpPr>
          <p:cNvPr id="35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0A9BDC0-08C8-4F76-A3D2-A65123BAAE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58599052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1012FC1D-05BD-476E-9C31-7C54409B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How index updates work · detail · 1 / 2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3E4746B-8293-4A69-8A76-5069266DD0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F50C8B2-3E69-43FC-87F0-FDE9B0F0F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Re-indexing Checkout moves the stores from run A to run B.</a:t>
            </a:r>
          </a:p>
        </p:txBody>
      </p:sp>
      <p:sp>
        <p:nvSpPr>
          <p:cNvPr id="4" name="depth-box-6">
            <a:extLst xmlns:a="http://schemas.openxmlformats.org/drawingml/2006/main">
              <a:ext uri="{FF2B5EF4-FFF2-40B4-BE49-F238E27FC236}">
                <a16:creationId xmlns:a16="http://schemas.microsoft.com/office/drawing/2014/main" id="{4F484281-E755-4B8F-A294-C77533F98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6">
            <a:extLst xmlns:a="http://schemas.openxmlformats.org/drawingml/2006/main">
              <a:ext uri="{FF2B5EF4-FFF2-40B4-BE49-F238E27FC236}">
                <a16:creationId xmlns:a16="http://schemas.microsoft.com/office/drawing/2014/main" id="{EFAEDCF1-048E-4019-893D-2BEFC594F8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CHECKOUT UPDATE TRACE</a:t>
            </a:r>
          </a:p>
        </p:txBody>
      </p:sp>
      <p:sp>
        <p:nvSpPr>
          <p:cNvPr id="7" name="depth-rule-6">
            <a:extLst xmlns:a="http://schemas.openxmlformats.org/drawingml/2006/main">
              <a:ext uri="{FF2B5EF4-FFF2-40B4-BE49-F238E27FC236}">
                <a16:creationId xmlns:a16="http://schemas.microsoft.com/office/drawing/2014/main" id="{EB2C5242-F911-43C6-BF91-5006D04FD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</p:sp>
      <p:sp>
        <p:nvSpPr>
          <p:cNvPr id="8" name="depth-source-6">
            <a:extLst xmlns:a="http://schemas.openxmlformats.org/drawingml/2006/main">
              <a:ext uri="{FF2B5EF4-FFF2-40B4-BE49-F238E27FC236}">
                <a16:creationId xmlns:a16="http://schemas.microsoft.com/office/drawing/2014/main" id="{24200216-CFE5-4764-BFE5-1A1A5ED0F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Sources: src/hybrid_rag/ingestion/pipeline.py; src/hybrid_rag/vector/qdrant_store.py; src/hybrid_rag/utils/cache.py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176657AC-5B79-47CA-9AB6-EEBE4C83F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8.1</a:t>
            </a:r>
          </a:p>
        </p:txBody>
      </p:sp>
      <p:sp>
        <p:nvSpPr>
          <p:cNvPr id="16" name="sync-provenance-a">
            <a:extLst xmlns:a="http://schemas.openxmlformats.org/drawingml/2006/main">
              <a:ext uri="{FF2B5EF4-FFF2-40B4-BE49-F238E27FC236}">
                <a16:creationId xmlns:a16="http://schemas.microsoft.com/office/drawing/2014/main" id="{E9947252-397F-48A7-B312-C9B2E86F8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14625"/>
            <a:ext cx="171450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8F0EE"/>
          </a:solidFill>
          <a:ln xmlns:a="http://schemas.openxmlformats.org/drawingml/2006/main" w="14288">
            <a:solidFill>
              <a:srgbClr val="2D6F78"/>
            </a:solidFill>
            <a:prstDash val="solid"/>
          </a:ln>
        </p:spPr>
      </p:sp>
      <p:sp>
        <p:nvSpPr>
          <p:cNvPr id="17" name="sync-provenance-a-title">
            <a:extLst xmlns:a="http://schemas.openxmlformats.org/drawingml/2006/main">
              <a:ext uri="{FF2B5EF4-FFF2-40B4-BE49-F238E27FC236}">
                <a16:creationId xmlns:a16="http://schemas.microsoft.com/office/drawing/2014/main" id="{75B3AB74-44AF-4810-82A1-F4D0BB673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838450"/>
            <a:ext cx="1409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Source artifact</a:t>
            </a:r>
          </a:p>
        </p:txBody>
      </p:sp>
      <p:sp>
        <p:nvSpPr>
          <p:cNvPr id="18" name="sync-provenance-a-subtitle">
            <a:extLst xmlns:a="http://schemas.openxmlformats.org/drawingml/2006/main">
              <a:ext uri="{FF2B5EF4-FFF2-40B4-BE49-F238E27FC236}">
                <a16:creationId xmlns:a16="http://schemas.microsoft.com/office/drawing/2014/main" id="{51268F2F-E05F-4985-97CA-7E61E83A1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086100"/>
            <a:ext cx="1409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version + wheel hash</a:t>
            </a:r>
          </a:p>
        </p:txBody>
      </p:sp>
      <p:sp>
        <p:nvSpPr>
          <p:cNvPr id="19" name="sync-provenance-b">
            <a:extLst xmlns:a="http://schemas.openxmlformats.org/drawingml/2006/main">
              <a:ext uri="{FF2B5EF4-FFF2-40B4-BE49-F238E27FC236}">
                <a16:creationId xmlns:a16="http://schemas.microsoft.com/office/drawing/2014/main" id="{299AFE39-CB04-4CCE-80D1-809EDA743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14625"/>
            <a:ext cx="180975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4288">
            <a:solidFill>
              <a:srgbClr val="1D2A34"/>
            </a:solidFill>
            <a:prstDash val="solid"/>
          </a:ln>
        </p:spPr>
      </p:sp>
      <p:sp>
        <p:nvSpPr>
          <p:cNvPr id="20" name="sync-provenance-b-title">
            <a:extLst xmlns:a="http://schemas.openxmlformats.org/drawingml/2006/main">
              <a:ext uri="{FF2B5EF4-FFF2-40B4-BE49-F238E27FC236}">
                <a16:creationId xmlns:a16="http://schemas.microsoft.com/office/drawing/2014/main" id="{9EDA4D83-0619-440A-A412-63AE3690F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838450"/>
            <a:ext cx="150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Source digest</a:t>
            </a:r>
          </a:p>
        </p:txBody>
      </p:sp>
      <p:sp>
        <p:nvSpPr>
          <p:cNvPr id="21" name="sync-provenance-b-subtitle">
            <a:extLst xmlns:a="http://schemas.openxmlformats.org/drawingml/2006/main">
              <a:ext uri="{FF2B5EF4-FFF2-40B4-BE49-F238E27FC236}">
                <a16:creationId xmlns:a16="http://schemas.microsoft.com/office/drawing/2014/main" id="{ABC91EB2-1CAD-4BE2-B988-21AAA90C6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content identity</a:t>
            </a:r>
          </a:p>
        </p:txBody>
      </p:sp>
      <p:sp>
        <p:nvSpPr>
          <p:cNvPr id="22" name="sync-provenance-c">
            <a:extLst xmlns:a="http://schemas.openxmlformats.org/drawingml/2006/main">
              <a:ext uri="{FF2B5EF4-FFF2-40B4-BE49-F238E27FC236}">
                <a16:creationId xmlns:a16="http://schemas.microsoft.com/office/drawing/2014/main" id="{474DF8FD-467A-484C-84B7-62B881CDA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14625"/>
            <a:ext cx="180975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14288">
            <a:solidFill>
              <a:srgbClr val="2D6F78"/>
            </a:solidFill>
            <a:prstDash val="solid"/>
          </a:ln>
        </p:spPr>
      </p:sp>
      <p:sp>
        <p:nvSpPr>
          <p:cNvPr id="23" name="sync-provenance-c-title">
            <a:extLst xmlns:a="http://schemas.openxmlformats.org/drawingml/2006/main">
              <a:ext uri="{FF2B5EF4-FFF2-40B4-BE49-F238E27FC236}">
                <a16:creationId xmlns:a16="http://schemas.microsoft.com/office/drawing/2014/main" id="{53AE2C61-377C-45BE-BA66-6311D090D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2838450"/>
            <a:ext cx="150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Index run</a:t>
            </a:r>
          </a:p>
        </p:txBody>
      </p:sp>
      <p:sp>
        <p:nvSpPr>
          <p:cNvPr id="24" name="sync-provenance-c-subtitle">
            <a:extLst xmlns:a="http://schemas.openxmlformats.org/drawingml/2006/main">
              <a:ext uri="{FF2B5EF4-FFF2-40B4-BE49-F238E27FC236}">
                <a16:creationId xmlns:a16="http://schemas.microsoft.com/office/drawing/2014/main" id="{FDBCFCB5-8278-4348-8EDB-7DEB393B9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30861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graph + vector metadata</a:t>
            </a:r>
          </a:p>
        </p:txBody>
      </p:sp>
      <p:sp>
        <p:nvSpPr>
          <p:cNvPr id="25" name="sync-provenance-d">
            <a:extLst xmlns:a="http://schemas.openxmlformats.org/drawingml/2006/main">
              <a:ext uri="{FF2B5EF4-FFF2-40B4-BE49-F238E27FC236}">
                <a16:creationId xmlns:a16="http://schemas.microsoft.com/office/drawing/2014/main" id="{0C13FA52-648E-4468-A274-4E8D603C9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2714625"/>
            <a:ext cx="1809750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14288">
            <a:solidFill>
              <a:srgbClr val="B65C3C"/>
            </a:solidFill>
            <a:prstDash val="solid"/>
          </a:ln>
        </p:spPr>
      </p:sp>
      <p:sp>
        <p:nvSpPr>
          <p:cNvPr id="26" name="sync-provenance-d-title">
            <a:extLst xmlns:a="http://schemas.openxmlformats.org/drawingml/2006/main">
              <a:ext uri="{FF2B5EF4-FFF2-40B4-BE49-F238E27FC236}">
                <a16:creationId xmlns:a16="http://schemas.microsoft.com/office/drawing/2014/main" id="{9BD9E1E1-2906-4674-BF98-92A6BC06C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838450"/>
            <a:ext cx="1504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Preflight</a:t>
            </a:r>
          </a:p>
        </p:txBody>
      </p:sp>
      <p:sp>
        <p:nvSpPr>
          <p:cNvPr id="27" name="sync-provenance-d-subtitle">
            <a:extLst xmlns:a="http://schemas.openxmlformats.org/drawingml/2006/main">
              <a:ext uri="{FF2B5EF4-FFF2-40B4-BE49-F238E27FC236}">
                <a16:creationId xmlns:a16="http://schemas.microsoft.com/office/drawing/2014/main" id="{C0B49BB0-A760-4350-9CA1-05BD33860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3086100"/>
            <a:ext cx="1504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schema + model match</a:t>
            </a:r>
          </a:p>
        </p:txBody>
      </p:sp>
      <p:sp>
        <p:nvSpPr>
          <p:cNvPr id="28" name="sync-provenance-e">
            <a:extLst xmlns:a="http://schemas.openxmlformats.org/drawingml/2006/main">
              <a:ext uri="{FF2B5EF4-FFF2-40B4-BE49-F238E27FC236}">
                <a16:creationId xmlns:a16="http://schemas.microsoft.com/office/drawing/2014/main" id="{1D1A834A-07FE-4427-B9EC-18FAF5834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14625"/>
            <a:ext cx="1571625" cy="685800"/>
          </a:xfrm>
          <a:prstGeom xmlns:a="http://schemas.openxmlformats.org/drawingml/2006/main" prst="roundRect">
            <a:avLst>
              <a:gd name="adj" fmla="val 9722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14288">
            <a:solidFill>
              <a:srgbClr val="3D6F58"/>
            </a:solidFill>
            <a:prstDash val="solid"/>
          </a:ln>
        </p:spPr>
      </p:sp>
      <p:sp>
        <p:nvSpPr>
          <p:cNvPr id="29" name="sync-provenance-e-title">
            <a:extLst xmlns:a="http://schemas.openxmlformats.org/drawingml/2006/main">
              <a:ext uri="{FF2B5EF4-FFF2-40B4-BE49-F238E27FC236}">
                <a16:creationId xmlns:a16="http://schemas.microsoft.com/office/drawing/2014/main" id="{2FF81D64-F665-48A9-8B81-8EEBB0D16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838450"/>
            <a:ext cx="12668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Evaluation</a:t>
            </a:r>
          </a:p>
        </p:txBody>
      </p:sp>
      <p:sp>
        <p:nvSpPr>
          <p:cNvPr id="30" name="sync-provenance-e-subtitle">
            <a:extLst xmlns:a="http://schemas.openxmlformats.org/drawingml/2006/main">
              <a:ext uri="{FF2B5EF4-FFF2-40B4-BE49-F238E27FC236}">
                <a16:creationId xmlns:a16="http://schemas.microsoft.com/office/drawing/2014/main" id="{3BE2372F-427E-49D4-918C-0E9A471B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3086100"/>
            <a:ext cx="126682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825">
                <a:solidFill>
                  <a:srgbClr val="586671"/>
                </a:solidFill>
              </a:defRPr>
            </a:pPr>
            <a:r>
              <a:rPr sz="825">
                <a:solidFill>
                  <a:srgbClr val="586671"/>
                </a:solidFill>
              </a:rPr>
              <a:t>measure or report</a:t>
            </a:r>
          </a:p>
        </p:txBody>
      </p:sp>
      <p:sp>
        <p:nvSpPr>
          <p:cNvPr id="31" name="sync-provenance-abort">
            <a:extLst xmlns:a="http://schemas.openxmlformats.org/drawingml/2006/main">
              <a:ext uri="{FF2B5EF4-FFF2-40B4-BE49-F238E27FC236}">
                <a16:creationId xmlns:a16="http://schemas.microsoft.com/office/drawing/2014/main" id="{E51DC66E-AFF3-49AB-B92D-342070E8A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6125" y="3667125"/>
            <a:ext cx="2095500" cy="419100"/>
          </a:xfrm>
          <a:prstGeom xmlns:a="http://schemas.openxmlformats.org/drawingml/2006/main" prst="roundRect">
            <a:avLst>
              <a:gd name="adj" fmla="val 15909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14288">
            <a:solidFill>
              <a:srgbClr val="B65C3C"/>
            </a:solidFill>
            <a:prstDash val="solid"/>
          </a:ln>
        </p:spPr>
      </p:sp>
      <p:sp>
        <p:nvSpPr>
          <p:cNvPr id="32" name="sync-provenance-abort-title">
            <a:extLst xmlns:a="http://schemas.openxmlformats.org/drawingml/2006/main">
              <a:ext uri="{FF2B5EF4-FFF2-40B4-BE49-F238E27FC236}">
                <a16:creationId xmlns:a16="http://schemas.microsoft.com/office/drawing/2014/main" id="{F352CBA8-E08E-44A6-9FF2-4B68F34BD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3790950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1D2A34"/>
                </a:solidFill>
              </a:defRPr>
            </a:pPr>
            <a:r>
              <a:rPr sz="1125" b="1">
                <a:solidFill>
                  <a:srgbClr val="1D2A34"/>
                </a:solidFill>
              </a:rPr>
              <a:t>Mismatch → abort</a:t>
            </a:r>
          </a:p>
        </p:txBody>
      </p:sp>
      <p:cxnSp>
        <p:nvCxnSpPr>
          <p:cNvPr id="348" name=""/>
          <p:cNvCxnSpPr>
            <a:stCxn xmlns:a="http://schemas.openxmlformats.org/drawingml/2006/main" id="19" idx="1"/>
            <a:endCxn xmlns:a="http://schemas.openxmlformats.org/drawingml/2006/main" id="16" idx="3"/>
          </p:cNvCxnSpPr>
          <p:nvPr/>
        </p:nvCxnSpPr>
        <p:spPr>
          <a:xfrm xmlns:a="http://schemas.openxmlformats.org/drawingml/2006/main" flipH="1">
            <a:off x="2667000" y="30575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349" name=""/>
          <p:cNvCxnSpPr>
            <a:stCxn xmlns:a="http://schemas.openxmlformats.org/drawingml/2006/main" id="22" idx="1"/>
            <a:endCxn xmlns:a="http://schemas.openxmlformats.org/drawingml/2006/main" id="19" idx="3"/>
          </p:cNvCxnSpPr>
          <p:nvPr/>
        </p:nvCxnSpPr>
        <p:spPr>
          <a:xfrm xmlns:a="http://schemas.openxmlformats.org/drawingml/2006/main" flipH="1">
            <a:off x="4810125" y="30575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350" name=""/>
          <p:cNvCxnSpPr>
            <a:stCxn xmlns:a="http://schemas.openxmlformats.org/drawingml/2006/main" id="25" idx="1"/>
            <a:endCxn xmlns:a="http://schemas.openxmlformats.org/drawingml/2006/main" id="22" idx="3"/>
          </p:cNvCxnSpPr>
          <p:nvPr/>
        </p:nvCxnSpPr>
        <p:spPr>
          <a:xfrm xmlns:a="http://schemas.openxmlformats.org/drawingml/2006/main" flipH="1">
            <a:off x="6953250" y="30575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351" name=""/>
          <p:cNvCxnSpPr>
            <a:stCxn xmlns:a="http://schemas.openxmlformats.org/drawingml/2006/main" id="28" idx="1"/>
            <a:endCxn xmlns:a="http://schemas.openxmlformats.org/drawingml/2006/main" id="25" idx="3"/>
          </p:cNvCxnSpPr>
          <p:nvPr/>
        </p:nvCxnSpPr>
        <p:spPr>
          <a:xfrm xmlns:a="http://schemas.openxmlformats.org/drawingml/2006/main" flipH="1">
            <a:off x="9096375" y="3057525"/>
            <a:ext cx="33337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1808A"/>
            </a:solidFill>
            <a:prstDash val="solid"/>
            <a:headEnd type="triangle" w="sm" len="sm"/>
          </a:ln>
        </p:spPr>
      </p:cxnSp>
      <p:cxnSp>
        <p:nvCxnSpPr>
          <p:cNvPr id="352" name=""/>
          <p:cNvCxnSpPr>
            <a:stCxn xmlns:a="http://schemas.openxmlformats.org/drawingml/2006/main" id="31" idx="0"/>
            <a:endCxn xmlns:a="http://schemas.openxmlformats.org/drawingml/2006/main" id="25" idx="2"/>
          </p:cNvCxnSpPr>
          <p:nvPr/>
        </p:nvCxnSpPr>
        <p:spPr>
          <a:xfrm xmlns:a="http://schemas.openxmlformats.org/drawingml/2006/main" flipH="0" flipV="1">
            <a:off x="8143875" y="3400425"/>
            <a:ext cx="47625" cy="266700"/>
          </a:xfrm>
          <a:prstGeom xmlns:a="http://schemas.openxmlformats.org/drawingml/2006/main" prst="bentConnector4">
            <a:avLst>
              <a:gd name="adj1" fmla="val 0"/>
              <a:gd name="adj2" fmla="val 50000"/>
            </a:avLst>
          </a:prstGeom>
          <a:ln xmlns:a="http://schemas.openxmlformats.org/drawingml/2006/main" w="19050">
            <a:solidFill>
              <a:srgbClr val="B65C3C"/>
            </a:solidFill>
            <a:prstDash val="dash"/>
            <a:head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73319395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E1E0A073-74C1-4E09-8BBE-48E09620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happens when something goes wrong · detail · 2 / 2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6031A689-53B8-4316-AFCA-BF0DB5153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04FEFCF-F147-47F6-A49A-A09925073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Each failure point leaves a visible system state.</a:t>
            </a:r>
          </a:p>
        </p:txBody>
      </p:sp>
      <p:sp>
        <p:nvSpPr>
          <p:cNvPr id="4" name="depth-box-10">
            <a:extLst xmlns:a="http://schemas.openxmlformats.org/drawingml/2006/main">
              <a:ext uri="{FF2B5EF4-FFF2-40B4-BE49-F238E27FC236}">
                <a16:creationId xmlns:a16="http://schemas.microsoft.com/office/drawing/2014/main" id="{47CECFC3-C45B-4EF1-B698-17747B8C1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10">
            <a:extLst xmlns:a="http://schemas.openxmlformats.org/drawingml/2006/main">
              <a:ext uri="{FF2B5EF4-FFF2-40B4-BE49-F238E27FC236}">
                <a16:creationId xmlns:a16="http://schemas.microsoft.com/office/drawing/2014/main" id="{517BA702-B5FA-49CF-A120-591B4B1A6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FAILURE CONTRACTS</a:t>
            </a:r>
          </a:p>
        </p:txBody>
      </p:sp>
      <p:sp>
        <p:nvSpPr>
          <p:cNvPr id="6" name="depth-copy-10">
            <a:extLst xmlns:a="http://schemas.openxmlformats.org/drawingml/2006/main">
              <a:ext uri="{FF2B5EF4-FFF2-40B4-BE49-F238E27FC236}">
                <a16:creationId xmlns:a16="http://schemas.microsoft.com/office/drawing/2014/main" id="{2F4FC7DA-4BF5-475B-8695-C19016EB17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Validation or preparation failure leaves run A; publish failure may leave partial state; cache failure falls back to uncached queries.</a:t>
            </a:r>
          </a:p>
        </p:txBody>
      </p:sp>
      <p:sp>
        <p:nvSpPr>
          <p:cNvPr id="7" name="depth-rule-10">
            <a:extLst xmlns:a="http://schemas.openxmlformats.org/drawingml/2006/main">
              <a:ext uri="{FF2B5EF4-FFF2-40B4-BE49-F238E27FC236}">
                <a16:creationId xmlns:a16="http://schemas.microsoft.com/office/drawing/2014/main" id="{D5374728-74FD-4B83-850C-D43C4DCDD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depth-source-10">
            <a:extLst xmlns:a="http://schemas.openxmlformats.org/drawingml/2006/main">
              <a:ext uri="{FF2B5EF4-FFF2-40B4-BE49-F238E27FC236}">
                <a16:creationId xmlns:a16="http://schemas.microsoft.com/office/drawing/2014/main" id="{B55CA44B-1227-4D15-A726-2C5E916404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Sources: src/hybrid_rag/ingestion/pipeline.py; src/hybrid_rag/utils/cache.py; src/hybrid_rag/eval/preflight.py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854E3D8-0CB4-4757-99CC-6792843705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8.2</a:t>
            </a:r>
          </a:p>
        </p:txBody>
      </p:sp>
    </p:spTree>
    <p:extLst>
      <p:ext uri="{BB962C8B-B14F-4D97-AF65-F5344CB8AC3E}">
        <p14:creationId xmlns:p14="http://schemas.microsoft.com/office/powerpoint/2010/main" val="176543163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kicker">
            <a:extLst xmlns:a="http://schemas.openxmlformats.org/drawingml/2006/main">
              <a:ext uri="{FF2B5EF4-FFF2-40B4-BE49-F238E27FC236}">
                <a16:creationId xmlns:a16="http://schemas.microsoft.com/office/drawing/2014/main" id="{835937C0-B5C6-4FCA-80A0-D0E55EA1E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Paired experimental design · 09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7263EE49-AD85-461A-BD9F-B12453989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22338D0-C987-4864-B2BE-D42B36C54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The statistical unit is the question—not each saved answer.</a:t>
            </a:r>
          </a:p>
        </p:txBody>
      </p:sp>
      <p:sp>
        <p:nvSpPr>
          <p:cNvPr id="4" name="running-case-core-09-label">
            <a:extLst xmlns:a="http://schemas.openxmlformats.org/drawingml/2006/main">
              <a:ext uri="{FF2B5EF4-FFF2-40B4-BE49-F238E27FC236}">
                <a16:creationId xmlns:a16="http://schemas.microsoft.com/office/drawing/2014/main" id="{0E5D6599-4917-4CFD-88D1-D108FBE1B7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CONFIRMATORY WORKLOAD</a:t>
            </a:r>
          </a:p>
        </p:txBody>
      </p:sp>
      <p:sp>
        <p:nvSpPr>
          <p:cNvPr id="5" name="running-case-core-09-query">
            <a:extLst xmlns:a="http://schemas.openxmlformats.org/drawingml/2006/main">
              <a:ext uri="{FF2B5EF4-FFF2-40B4-BE49-F238E27FC236}">
                <a16:creationId xmlns:a16="http://schemas.microsoft.com/office/drawing/2014/main" id="{471422C7-B865-43DB-8371-B93FD9977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llama-index-core</a:t>
            </a:r>
          </a:p>
        </p:txBody>
      </p:sp>
      <p:sp>
        <p:nvSpPr>
          <p:cNvPr id="6" name="running-case-core-09-stage">
            <a:extLst xmlns:a="http://schemas.openxmlformats.org/drawingml/2006/main">
              <a:ext uri="{FF2B5EF4-FFF2-40B4-BE49-F238E27FC236}">
                <a16:creationId xmlns:a16="http://schemas.microsoft.com/office/drawing/2014/main" id="{C3B41396-7ABE-478B-9122-DBDA2EF9F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30 questions → paired 95% CI</a:t>
            </a:r>
          </a:p>
        </p:txBody>
      </p:sp>
      <p:sp>
        <p:nvSpPr>
          <p:cNvPr id="7" name="flow-box-0">
            <a:extLst xmlns:a="http://schemas.openxmlformats.org/drawingml/2006/main">
              <a:ext uri="{FF2B5EF4-FFF2-40B4-BE49-F238E27FC236}">
                <a16:creationId xmlns:a16="http://schemas.microsoft.com/office/drawing/2014/main" id="{638921F1-6D04-4F6E-B09A-0C6CB500A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1905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8" name="flow-title-0">
            <a:extLst xmlns:a="http://schemas.openxmlformats.org/drawingml/2006/main">
              <a:ext uri="{FF2B5EF4-FFF2-40B4-BE49-F238E27FC236}">
                <a16:creationId xmlns:a16="http://schemas.microsoft.com/office/drawing/2014/main" id="{00DF25B7-69DE-4238-831E-7888C7D81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09800"/>
            <a:ext cx="152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30 questions</a:t>
            </a:r>
          </a:p>
        </p:txBody>
      </p:sp>
      <p:sp>
        <p:nvSpPr>
          <p:cNvPr id="9" name="flow-sub-0">
            <a:extLst xmlns:a="http://schemas.openxmlformats.org/drawingml/2006/main">
              <a:ext uri="{FF2B5EF4-FFF2-40B4-BE49-F238E27FC236}">
                <a16:creationId xmlns:a16="http://schemas.microsoft.com/office/drawing/2014/main" id="{CFB4A1A7-ABA3-467C-9E9C-4A3E39BFB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527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586671"/>
                </a:solidFill>
                <a:latin typeface="Aptos"/>
                <a:ea typeface="Aptos"/>
                <a:cs typeface="Aptos"/>
              </a:rPr>
              <a:t>10 / level</a:t>
            </a:r>
          </a:p>
        </p:txBody>
      </p:sp>
      <p:sp>
        <p:nvSpPr>
          <p:cNvPr id="10" name="flow-arrow-1">
            <a:extLst xmlns:a="http://schemas.openxmlformats.org/drawingml/2006/main">
              <a:ext uri="{FF2B5EF4-FFF2-40B4-BE49-F238E27FC236}">
                <a16:creationId xmlns:a16="http://schemas.microsoft.com/office/drawing/2014/main" id="{022AF8FD-4880-4E16-B700-D08B55F4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0" y="23431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1" name="flow-box-1">
            <a:extLst xmlns:a="http://schemas.openxmlformats.org/drawingml/2006/main">
              <a:ext uri="{FF2B5EF4-FFF2-40B4-BE49-F238E27FC236}">
                <a16:creationId xmlns:a16="http://schemas.microsoft.com/office/drawing/2014/main" id="{E751F38A-16AB-4D15-A8B3-F4B8773F8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0002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E6EEF5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12" name="flow-title-1">
            <a:extLst xmlns:a="http://schemas.openxmlformats.org/drawingml/2006/main">
              <a:ext uri="{FF2B5EF4-FFF2-40B4-BE49-F238E27FC236}">
                <a16:creationId xmlns:a16="http://schemas.microsoft.com/office/drawing/2014/main" id="{69C73342-20F7-4669-B99C-CA4BCD6CA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209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Same Q</a:t>
            </a:r>
          </a:p>
        </p:txBody>
      </p:sp>
      <p:sp>
        <p:nvSpPr>
          <p:cNvPr id="13" name="flow-sub-1">
            <a:extLst xmlns:a="http://schemas.openxmlformats.org/drawingml/2006/main">
              <a:ext uri="{FF2B5EF4-FFF2-40B4-BE49-F238E27FC236}">
                <a16:creationId xmlns:a16="http://schemas.microsoft.com/office/drawing/2014/main" id="{B63E4933-ECE9-4324-997D-78E26F8A4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7550" y="25527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86671"/>
                </a:solidFill>
                <a:latin typeface="Aptos"/>
                <a:ea typeface="Aptos"/>
                <a:cs typeface="Aptos"/>
              </a:rPr>
              <a:t>3 runs / mode</a:t>
            </a:r>
          </a:p>
        </p:txBody>
      </p:sp>
      <p:sp>
        <p:nvSpPr>
          <p:cNvPr id="14" name="flow-arrow-2">
            <a:extLst xmlns:a="http://schemas.openxmlformats.org/drawingml/2006/main">
              <a:ext uri="{FF2B5EF4-FFF2-40B4-BE49-F238E27FC236}">
                <a16:creationId xmlns:a16="http://schemas.microsoft.com/office/drawing/2014/main" id="{B5750F3E-D6F0-4298-A755-CF15B4AF6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3431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5" name="flow-box-2">
            <a:extLst xmlns:a="http://schemas.openxmlformats.org/drawingml/2006/main">
              <a:ext uri="{FF2B5EF4-FFF2-40B4-BE49-F238E27FC236}">
                <a16:creationId xmlns:a16="http://schemas.microsoft.com/office/drawing/2014/main" id="{7E76C720-A955-49E4-A6DB-198FE1ABA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2000250"/>
            <a:ext cx="1524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16" name="flow-title-2">
            <a:extLst xmlns:a="http://schemas.openxmlformats.org/drawingml/2006/main">
              <a:ext uri="{FF2B5EF4-FFF2-40B4-BE49-F238E27FC236}">
                <a16:creationId xmlns:a16="http://schemas.microsoft.com/office/drawing/2014/main" id="{13BEAF41-D997-4149-A788-CF619043D8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209800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180 rows</a:t>
            </a:r>
          </a:p>
        </p:txBody>
      </p:sp>
      <p:sp>
        <p:nvSpPr>
          <p:cNvPr id="17" name="flow-sub-2">
            <a:extLst xmlns:a="http://schemas.openxmlformats.org/drawingml/2006/main">
              <a:ext uri="{FF2B5EF4-FFF2-40B4-BE49-F238E27FC236}">
                <a16:creationId xmlns:a16="http://schemas.microsoft.com/office/drawing/2014/main" id="{47AF1F56-4ABB-4826-B31B-C3BD6CEEE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7800" y="2552700"/>
            <a:ext cx="1143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7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750">
                <a:solidFill>
                  <a:srgbClr val="586671"/>
                </a:solidFill>
                <a:latin typeface="Aptos"/>
                <a:ea typeface="Aptos"/>
                <a:cs typeface="Aptos"/>
              </a:rPr>
              <a:t>30 × 2 × 3</a:t>
            </a:r>
          </a:p>
        </p:txBody>
      </p:sp>
      <p:sp>
        <p:nvSpPr>
          <p:cNvPr id="18" name="flow-arrow-3">
            <a:extLst xmlns:a="http://schemas.openxmlformats.org/drawingml/2006/main">
              <a:ext uri="{FF2B5EF4-FFF2-40B4-BE49-F238E27FC236}">
                <a16:creationId xmlns:a16="http://schemas.microsoft.com/office/drawing/2014/main" id="{99E04B89-ECD0-4F72-BD5F-9B7BB4933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343150"/>
            <a:ext cx="285750" cy="1524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19" name="flow-box-3">
            <a:extLst xmlns:a="http://schemas.openxmlformats.org/drawingml/2006/main">
              <a:ext uri="{FF2B5EF4-FFF2-40B4-BE49-F238E27FC236}">
                <a16:creationId xmlns:a16="http://schemas.microsoft.com/office/drawing/2014/main" id="{8B533779-489B-4DD0-B682-E51F5BB9A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000250"/>
            <a:ext cx="200025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DCEBED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20" name="flow-title-3">
            <a:extLst xmlns:a="http://schemas.openxmlformats.org/drawingml/2006/main">
              <a:ext uri="{FF2B5EF4-FFF2-40B4-BE49-F238E27FC236}">
                <a16:creationId xmlns:a16="http://schemas.microsoft.com/office/drawing/2014/main" id="{854C6AE2-33B9-4F46-AF50-0532E607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209800"/>
            <a:ext cx="1619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30 deltas</a:t>
            </a:r>
          </a:p>
        </p:txBody>
      </p:sp>
      <p:sp>
        <p:nvSpPr>
          <p:cNvPr id="21" name="flow-sub-3">
            <a:extLst xmlns:a="http://schemas.openxmlformats.org/drawingml/2006/main">
              <a:ext uri="{FF2B5EF4-FFF2-40B4-BE49-F238E27FC236}">
                <a16:creationId xmlns:a16="http://schemas.microsoft.com/office/drawing/2014/main" id="{DB5758B8-B7A1-414A-BC50-716C23D90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52700"/>
            <a:ext cx="161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586671"/>
                </a:solidFill>
                <a:latin typeface="Aptos"/>
                <a:ea typeface="Aptos"/>
                <a:cs typeface="Aptos"/>
              </a:rPr>
              <a:t>one per question</a:t>
            </a:r>
          </a:p>
        </p:txBody>
      </p:sp>
      <p:sp>
        <p:nvSpPr>
          <p:cNvPr id="22" name="raw-to-pairs">
            <a:extLst xmlns:a="http://schemas.openxmlformats.org/drawingml/2006/main">
              <a:ext uri="{FF2B5EF4-FFF2-40B4-BE49-F238E27FC236}">
                <a16:creationId xmlns:a16="http://schemas.microsoft.com/office/drawing/2014/main" id="{B16306BA-CCE2-4C6B-8CD3-B0C5F3B3E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048000"/>
            <a:ext cx="171450" cy="4953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B65C3C"/>
          </a:solidFill>
          <a:ln xmlns:a="http://schemas.openxmlformats.org/drawingml/2006/main" w="0">
            <a:solidFill>
              <a:srgbClr val="B65C3C"/>
            </a:solidFill>
            <a:prstDash val="solid"/>
          </a:ln>
        </p:spPr>
      </p:sp>
      <p:sp>
        <p:nvSpPr>
          <p:cNvPr id="23" name="paired-means">
            <a:extLst xmlns:a="http://schemas.openxmlformats.org/drawingml/2006/main">
              <a:ext uri="{FF2B5EF4-FFF2-40B4-BE49-F238E27FC236}">
                <a16:creationId xmlns:a16="http://schemas.microsoft.com/office/drawing/2014/main" id="{4A602001-8A28-43C3-ACF5-531CA26AD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714750"/>
            <a:ext cx="285750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24" name="paired-title">
            <a:extLst xmlns:a="http://schemas.openxmlformats.org/drawingml/2006/main">
              <a:ext uri="{FF2B5EF4-FFF2-40B4-BE49-F238E27FC236}">
                <a16:creationId xmlns:a16="http://schemas.microsoft.com/office/drawing/2014/main" id="{DCF45DF4-3E03-4041-A3DC-3A9A52955D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3905250"/>
            <a:ext cx="24765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10,000 samples</a:t>
            </a:r>
          </a:p>
        </p:txBody>
      </p:sp>
      <p:sp>
        <p:nvSpPr>
          <p:cNvPr id="25" name="paired-subtitle">
            <a:extLst xmlns:a="http://schemas.openxmlformats.org/drawingml/2006/main">
              <a:ext uri="{FF2B5EF4-FFF2-40B4-BE49-F238E27FC236}">
                <a16:creationId xmlns:a16="http://schemas.microsoft.com/office/drawing/2014/main" id="{544BFF92-8416-4A83-9602-6D47F24F5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210050"/>
            <a:ext cx="23622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86671"/>
                </a:solidFill>
                <a:latin typeface="Aptos"/>
                <a:ea typeface="Aptos"/>
                <a:cs typeface="Aptos"/>
              </a:rPr>
              <a:t>sample 30 with replacement</a:t>
            </a:r>
          </a:p>
        </p:txBody>
      </p:sp>
      <p:sp>
        <p:nvSpPr>
          <p:cNvPr id="26" name="pairs-to-bootstrap">
            <a:extLst xmlns:a="http://schemas.openxmlformats.org/drawingml/2006/main">
              <a:ext uri="{FF2B5EF4-FFF2-40B4-BE49-F238E27FC236}">
                <a16:creationId xmlns:a16="http://schemas.microsoft.com/office/drawing/2014/main" id="{B183AB22-0BC2-49FC-9451-61A0436AD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4010025"/>
            <a:ext cx="685800" cy="1714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3D6F58"/>
          </a:solidFill>
          <a:ln xmlns:a="http://schemas.openxmlformats.org/drawingml/2006/main" w="0">
            <a:solidFill>
              <a:srgbClr val="3D6F58"/>
            </a:solidFill>
            <a:prstDash val="solid"/>
          </a:ln>
        </p:spPr>
      </p:sp>
      <p:sp>
        <p:nvSpPr>
          <p:cNvPr id="27" name="bootstraps">
            <a:extLst xmlns:a="http://schemas.openxmlformats.org/drawingml/2006/main">
              <a:ext uri="{FF2B5EF4-FFF2-40B4-BE49-F238E27FC236}">
                <a16:creationId xmlns:a16="http://schemas.microsoft.com/office/drawing/2014/main" id="{EF052238-7C76-422B-A41A-403CA2CF1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3714750"/>
            <a:ext cx="2914650" cy="762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28" name="bootstrap-title">
            <a:extLst xmlns:a="http://schemas.openxmlformats.org/drawingml/2006/main">
              <a:ext uri="{FF2B5EF4-FFF2-40B4-BE49-F238E27FC236}">
                <a16:creationId xmlns:a16="http://schemas.microsoft.com/office/drawing/2014/main" id="{FBC90601-10A6-4B12-865F-66FD9A6C3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905250"/>
            <a:ext cx="2571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paired 95% CI</a:t>
            </a:r>
          </a:p>
        </p:txBody>
      </p:sp>
      <p:sp>
        <p:nvSpPr>
          <p:cNvPr id="29" name="bootstrap-subtitle">
            <a:extLst xmlns:a="http://schemas.openxmlformats.org/drawingml/2006/main">
              <a:ext uri="{FF2B5EF4-FFF2-40B4-BE49-F238E27FC236}">
                <a16:creationId xmlns:a16="http://schemas.microsoft.com/office/drawing/2014/main" id="{B363A608-A6AF-4729-AC4D-5AFCE944E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210050"/>
            <a:ext cx="2476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050">
                <a:solidFill>
                  <a:srgbClr val="586671"/>
                </a:solidFill>
                <a:latin typeface="Aptos"/>
                <a:ea typeface="Aptos"/>
                <a:cs typeface="Aptos"/>
              </a:rPr>
              <a:t>2.5th → 97.5th</a:t>
            </a:r>
          </a:p>
        </p:txBody>
      </p:sp>
      <p:sp>
        <p:nvSpPr>
          <p:cNvPr id="30" name="bootstrap-to-ci">
            <a:extLst xmlns:a="http://schemas.openxmlformats.org/drawingml/2006/main">
              <a:ext uri="{FF2B5EF4-FFF2-40B4-BE49-F238E27FC236}">
                <a16:creationId xmlns:a16="http://schemas.microsoft.com/office/drawing/2014/main" id="{C4D81069-C3A5-4E32-A9A5-BF982F16E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4629150"/>
            <a:ext cx="171450" cy="381000"/>
          </a:xfrm>
          <a:prstGeom xmlns:a="http://schemas.openxmlformats.org/drawingml/2006/main" prst="downArrow">
            <a:avLst/>
          </a:prstGeom>
          <a:solidFill xmlns:a="http://schemas.openxmlformats.org/drawingml/2006/main">
            <a:srgbClr val="3D6F58"/>
          </a:solidFill>
          <a:ln xmlns:a="http://schemas.openxmlformats.org/drawingml/2006/main" w="0">
            <a:solidFill>
              <a:srgbClr val="3D6F58"/>
            </a:solidFill>
            <a:prstDash val="solid"/>
          </a:ln>
        </p:spPr>
      </p:sp>
      <p:sp>
        <p:nvSpPr>
          <p:cNvPr id="31" name="ci-box">
            <a:extLst xmlns:a="http://schemas.openxmlformats.org/drawingml/2006/main">
              <a:ext uri="{FF2B5EF4-FFF2-40B4-BE49-F238E27FC236}">
                <a16:creationId xmlns:a16="http://schemas.microsoft.com/office/drawing/2014/main" id="{2515253F-EC15-494B-AC9A-51C27CAEA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19700"/>
            <a:ext cx="29146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32" name="ci-copy">
            <a:extLst xmlns:a="http://schemas.openxmlformats.org/drawingml/2006/main">
              <a:ext uri="{FF2B5EF4-FFF2-40B4-BE49-F238E27FC236}">
                <a16:creationId xmlns:a16="http://schemas.microsoft.com/office/drawing/2014/main" id="{9C6ACF8E-F384-4DE4-97C3-F2C0776D8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34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PAIRING STAYS INTACT</a:t>
            </a:r>
          </a:p>
        </p:txBody>
      </p:sp>
      <p:sp>
        <p:nvSpPr>
          <p:cNvPr id="3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22441DE-C232-488E-B7BB-BC8E07D30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67626893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9B161CEC-C2F4-47CC-A8A2-678B8D5A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Provenance gate · detail · 1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76DFBCD7-E2F2-4E9E-9A18-C0DFDB7A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D04665-1CD1-42A1-AD1A-6509ED5B0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Benchmark runs only when all three identities match.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EC97121-FD4F-45FF-B604-BCA3C92A1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9.1</a:t>
            </a:r>
          </a:p>
        </p:txBody>
      </p:sp>
      <p:sp>
        <p:nvSpPr>
          <p:cNvPr id="15" name="s18-label">
            <a:extLst xmlns:a="http://schemas.openxmlformats.org/drawingml/2006/main">
              <a:ext uri="{FF2B5EF4-FFF2-40B4-BE49-F238E27FC236}">
                <a16:creationId xmlns:a16="http://schemas.microsoft.com/office/drawing/2014/main" id="{B3DDA66D-6E1E-4EA0-96CB-9BBB498F7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2476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PROVENANCE GATE</a:t>
            </a:r>
          </a:p>
        </p:txBody>
      </p:sp>
      <p:sp>
        <p:nvSpPr>
          <p:cNvPr id="16" name="s18-gold-box">
            <a:extLst xmlns:a="http://schemas.openxmlformats.org/drawingml/2006/main">
              <a:ext uri="{FF2B5EF4-FFF2-40B4-BE49-F238E27FC236}">
                <a16:creationId xmlns:a16="http://schemas.microsoft.com/office/drawing/2014/main" id="{B6820AC7-C626-49E3-9FC7-D5FFF1BA2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47875"/>
            <a:ext cx="2667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17" name="s18-gold-title">
            <a:extLst xmlns:a="http://schemas.openxmlformats.org/drawingml/2006/main">
              <a:ext uri="{FF2B5EF4-FFF2-40B4-BE49-F238E27FC236}">
                <a16:creationId xmlns:a16="http://schemas.microsoft.com/office/drawing/2014/main" id="{3F9D87AB-2B8A-408F-8985-30A6D9B9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193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Gold dataset</a:t>
            </a:r>
          </a:p>
        </p:txBody>
      </p:sp>
      <p:sp>
        <p:nvSpPr>
          <p:cNvPr id="18" name="s18-gold-subtitle">
            <a:extLst xmlns:a="http://schemas.openxmlformats.org/drawingml/2006/main">
              <a:ext uri="{FF2B5EF4-FFF2-40B4-BE49-F238E27FC236}">
                <a16:creationId xmlns:a16="http://schemas.microsoft.com/office/drawing/2014/main" id="{443A6E96-EF0C-4DBB-A6FC-A36751278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431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source + expected identity</a:t>
            </a:r>
          </a:p>
        </p:txBody>
      </p:sp>
      <p:sp>
        <p:nvSpPr>
          <p:cNvPr id="19" name="s18-graph-box">
            <a:extLst xmlns:a="http://schemas.openxmlformats.org/drawingml/2006/main">
              <a:ext uri="{FF2B5EF4-FFF2-40B4-BE49-F238E27FC236}">
                <a16:creationId xmlns:a16="http://schemas.microsoft.com/office/drawing/2014/main" id="{62378E5F-B09A-4E4A-B03D-95F85E67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43250"/>
            <a:ext cx="2667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0" name="s18-graph-title">
            <a:extLst xmlns:a="http://schemas.openxmlformats.org/drawingml/2006/main">
              <a:ext uri="{FF2B5EF4-FFF2-40B4-BE49-F238E27FC236}">
                <a16:creationId xmlns:a16="http://schemas.microsoft.com/office/drawing/2014/main" id="{CC8BBD5F-3B86-4F37-A772-AC6B90B68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1470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FalkorDB metadata</a:t>
            </a:r>
          </a:p>
        </p:txBody>
      </p:sp>
      <p:sp>
        <p:nvSpPr>
          <p:cNvPr id="21" name="s18-graph-subtitle">
            <a:extLst xmlns:a="http://schemas.openxmlformats.org/drawingml/2006/main">
              <a:ext uri="{FF2B5EF4-FFF2-40B4-BE49-F238E27FC236}">
                <a16:creationId xmlns:a16="http://schemas.microsoft.com/office/drawing/2014/main" id="{F7D23B6B-DBE3-4CD7-BAFC-FCD93FAE5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source · run · schema</a:t>
            </a:r>
          </a:p>
        </p:txBody>
      </p:sp>
      <p:sp>
        <p:nvSpPr>
          <p:cNvPr id="22" name="s18-vector-box">
            <a:extLst xmlns:a="http://schemas.openxmlformats.org/drawingml/2006/main">
              <a:ext uri="{FF2B5EF4-FFF2-40B4-BE49-F238E27FC236}">
                <a16:creationId xmlns:a16="http://schemas.microsoft.com/office/drawing/2014/main" id="{581D8C33-455B-44D3-B838-65F885286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38625"/>
            <a:ext cx="2667000" cy="876300"/>
          </a:xfrm>
          <a:prstGeom xmlns:a="http://schemas.openxmlformats.org/drawingml/2006/main" prst="roundRect">
            <a:avLst>
              <a:gd name="adj" fmla="val 13043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3" name="s18-vector-title">
            <a:extLst xmlns:a="http://schemas.openxmlformats.org/drawingml/2006/main">
              <a:ext uri="{FF2B5EF4-FFF2-40B4-BE49-F238E27FC236}">
                <a16:creationId xmlns:a16="http://schemas.microsoft.com/office/drawing/2014/main" id="{6D3B7A2E-C929-4B46-A7F6-F1E2672C0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41007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Qdrant metadata</a:t>
            </a:r>
          </a:p>
        </p:txBody>
      </p:sp>
      <p:sp>
        <p:nvSpPr>
          <p:cNvPr id="24" name="s18-vector-subtitle">
            <a:extLst xmlns:a="http://schemas.openxmlformats.org/drawingml/2006/main">
              <a:ext uri="{FF2B5EF4-FFF2-40B4-BE49-F238E27FC236}">
                <a16:creationId xmlns:a16="http://schemas.microsoft.com/office/drawing/2014/main" id="{04CF4F17-797A-4CE9-BCF4-4E6D24E0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733925"/>
            <a:ext cx="2286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5D6F7C"/>
                </a:solidFill>
              </a:defRPr>
            </a:pPr>
            <a:r>
              <a:rPr sz="1050" b="0">
                <a:solidFill>
                  <a:srgbClr val="5D6F7C"/>
                </a:solidFill>
              </a:rPr>
              <a:t>source · run · model</a:t>
            </a:r>
          </a:p>
        </p:txBody>
      </p:sp>
      <p:sp>
        <p:nvSpPr>
          <p:cNvPr id="25" name="s18-gate-box">
            <a:extLst xmlns:a="http://schemas.openxmlformats.org/drawingml/2006/main">
              <a:ext uri="{FF2B5EF4-FFF2-40B4-BE49-F238E27FC236}">
                <a16:creationId xmlns:a16="http://schemas.microsoft.com/office/drawing/2014/main" id="{9B8A2360-87A1-483C-B962-8DFD2D407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857500"/>
            <a:ext cx="2857500" cy="142875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6" name="s18-gate-title">
            <a:extLst xmlns:a="http://schemas.openxmlformats.org/drawingml/2006/main">
              <a:ext uri="{FF2B5EF4-FFF2-40B4-BE49-F238E27FC236}">
                <a16:creationId xmlns:a16="http://schemas.microsoft.com/office/drawing/2014/main" id="{73D774B4-3661-4B23-8C47-C38215703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02895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202C35"/>
                </a:solidFill>
              </a:defRPr>
            </a:pPr>
            <a:r>
              <a:rPr sz="1500" b="1">
                <a:solidFill>
                  <a:srgbClr val="202C35"/>
                </a:solidFill>
              </a:rPr>
              <a:t>Compare identities</a:t>
            </a:r>
          </a:p>
        </p:txBody>
      </p:sp>
      <p:sp>
        <p:nvSpPr>
          <p:cNvPr id="27" name="s18-gate-subtitle">
            <a:extLst xmlns:a="http://schemas.openxmlformats.org/drawingml/2006/main">
              <a:ext uri="{FF2B5EF4-FFF2-40B4-BE49-F238E27FC236}">
                <a16:creationId xmlns:a16="http://schemas.microsoft.com/office/drawing/2014/main" id="{68962174-E21C-45E2-84C3-CBB3FB29F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3486150"/>
            <a:ext cx="2476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source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index run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schema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embedding model</a:t>
            </a:r>
          </a:p>
        </p:txBody>
      </p:sp>
      <p:sp>
        <p:nvSpPr>
          <p:cNvPr id="28" name="s18-match-box">
            <a:extLst xmlns:a="http://schemas.openxmlformats.org/drawingml/2006/main">
              <a:ext uri="{FF2B5EF4-FFF2-40B4-BE49-F238E27FC236}">
                <a16:creationId xmlns:a16="http://schemas.microsoft.com/office/drawing/2014/main" id="{F56B5CFD-B924-4F85-BAB7-89B7BD7F4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238375"/>
            <a:ext cx="2476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9" name="s18-match-title">
            <a:extLst xmlns:a="http://schemas.openxmlformats.org/drawingml/2006/main">
              <a:ext uri="{FF2B5EF4-FFF2-40B4-BE49-F238E27FC236}">
                <a16:creationId xmlns:a16="http://schemas.microsoft.com/office/drawing/2014/main" id="{5D248056-1C6A-4E3B-84D8-24053E111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409825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3E735B"/>
                </a:solidFill>
              </a:defRPr>
            </a:pPr>
            <a:r>
              <a:rPr sz="1650" b="1">
                <a:solidFill>
                  <a:srgbClr val="3E735B"/>
                </a:solidFill>
              </a:rPr>
              <a:t>Match</a:t>
            </a:r>
          </a:p>
        </p:txBody>
      </p:sp>
      <p:sp>
        <p:nvSpPr>
          <p:cNvPr id="30" name="s18-match-subtitle">
            <a:extLst xmlns:a="http://schemas.openxmlformats.org/drawingml/2006/main">
              <a:ext uri="{FF2B5EF4-FFF2-40B4-BE49-F238E27FC236}">
                <a16:creationId xmlns:a16="http://schemas.microsoft.com/office/drawing/2014/main" id="{AAE35552-33C8-440B-854E-72AB1E1BB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733675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run benchmark</a:t>
            </a:r>
          </a:p>
        </p:txBody>
      </p:sp>
      <p:sp>
        <p:nvSpPr>
          <p:cNvPr id="31" name="s18-mismatch-box">
            <a:extLst xmlns:a="http://schemas.openxmlformats.org/drawingml/2006/main">
              <a:ext uri="{FF2B5EF4-FFF2-40B4-BE49-F238E27FC236}">
                <a16:creationId xmlns:a16="http://schemas.microsoft.com/office/drawing/2014/main" id="{E563495C-458C-4AA5-861E-5E3AF9209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905250"/>
            <a:ext cx="2476500" cy="1143000"/>
          </a:xfrm>
          <a:prstGeom xmlns:a="http://schemas.openxmlformats.org/drawingml/2006/main" prst="roundRect">
            <a:avLst>
              <a:gd name="adj" fmla="val 10000"/>
            </a:avLst>
          </a:prstGeom>
          <a:solidFill xmlns:a="http://schemas.openxmlformats.org/drawingml/2006/main">
            <a:srgbClr val="F3E0D7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32" name="s18-mismatch-title">
            <a:extLst xmlns:a="http://schemas.openxmlformats.org/drawingml/2006/main">
              <a:ext uri="{FF2B5EF4-FFF2-40B4-BE49-F238E27FC236}">
                <a16:creationId xmlns:a16="http://schemas.microsoft.com/office/drawing/2014/main" id="{F240E71B-AF9B-4905-BD1D-517A9B272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76700"/>
            <a:ext cx="209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45A37"/>
                </a:solidFill>
              </a:defRPr>
            </a:pPr>
            <a:r>
              <a:rPr sz="1650" b="1">
                <a:solidFill>
                  <a:srgbClr val="C45A37"/>
                </a:solidFill>
              </a:rPr>
              <a:t>Mismatch</a:t>
            </a:r>
          </a:p>
        </p:txBody>
      </p:sp>
      <p:sp>
        <p:nvSpPr>
          <p:cNvPr id="33" name="s18-mismatch-subtitle">
            <a:extLst xmlns:a="http://schemas.openxmlformats.org/drawingml/2006/main">
              <a:ext uri="{FF2B5EF4-FFF2-40B4-BE49-F238E27FC236}">
                <a16:creationId xmlns:a16="http://schemas.microsoft.com/office/drawing/2014/main" id="{8F240B47-0219-4B47-BD7C-DB6C9A857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400550"/>
            <a:ext cx="2095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stop + rebuild</a:t>
            </a:r>
          </a:p>
        </p:txBody>
      </p:sp>
      <p:cxnSp>
        <p:nvCxnSpPr>
          <p:cNvPr id="120" name=""/>
          <p:cNvCxnSpPr>
            <a:stCxn xmlns:a="http://schemas.openxmlformats.org/drawingml/2006/main" id="16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3352800" y="2486025"/>
            <a:ext cx="1123950" cy="108585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6E808A"/>
            </a:solidFill>
            <a:prstDash val="solid"/>
            <a:tailEnd type="triangle" w="sm" len="sm"/>
          </a:ln>
        </p:spPr>
      </p:cxnSp>
      <p:cxnSp>
        <p:nvCxnSpPr>
          <p:cNvPr id="121" name=""/>
          <p:cNvCxnSpPr>
            <a:stCxn xmlns:a="http://schemas.openxmlformats.org/drawingml/2006/main" id="19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3352800" y="3571875"/>
            <a:ext cx="1123950" cy="9525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122" name=""/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 flipV="1">
            <a:off x="3352800" y="3571875"/>
            <a:ext cx="1123950" cy="11049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123" name=""/>
          <p:cNvCxnSpPr>
            <a:stCxn xmlns:a="http://schemas.openxmlformats.org/drawingml/2006/main" id="25" idx="3"/>
            <a:endCxn xmlns:a="http://schemas.openxmlformats.org/drawingml/2006/main" id="28" idx="1"/>
          </p:cNvCxnSpPr>
          <p:nvPr/>
        </p:nvCxnSpPr>
        <p:spPr>
          <a:xfrm xmlns:a="http://schemas.openxmlformats.org/drawingml/2006/main" flipV="1">
            <a:off x="7334250" y="2809875"/>
            <a:ext cx="1238250" cy="762000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cxnSp>
        <p:nvCxnSpPr>
          <p:cNvPr id="124" name=""/>
          <p:cNvCxnSpPr>
            <a:stCxn xmlns:a="http://schemas.openxmlformats.org/drawingml/2006/main" id="25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7334250" y="3571875"/>
            <a:ext cx="1238250" cy="904875"/>
          </a:xfrm>
          <a:prstGeom xmlns:a="http://schemas.openxmlformats.org/drawingml/2006/main" prst="bentConnector3">
            <a:avLst>
              <a:gd name="adj1" fmla="val 50000"/>
            </a:avLst>
          </a:prstGeom>
          <a:ln xmlns:a="http://schemas.openxmlformats.org/drawingml/2006/main" w="20955">
            <a:solidFill>
              <a:srgbClr val="C45A37"/>
            </a:solidFill>
            <a:prstDash val="dash"/>
            <a:tailEnd type="triangle" w="sm" len="sm"/>
          </a:ln>
        </p:spPr>
      </p:cxnSp>
    </p:spTree>
    <p:extLst>
      <p:ext uri="{BB962C8B-B14F-4D97-AF65-F5344CB8AC3E}">
        <p14:creationId xmlns:p14="http://schemas.microsoft.com/office/powerpoint/2010/main" val="135610173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E71BDAD7-04EA-426B-B1AD-244374AE5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the test can prove · detail · 2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1D1C09C7-8839-40C4-8EEA-E322D36E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94839EB-CC16-478C-8F42-4F167D352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25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The evidence is reproducible, but the evaluation remains automated.</a:t>
            </a:r>
          </a:p>
        </p:txBody>
      </p:sp>
      <p:sp>
        <p:nvSpPr>
          <p:cNvPr id="4" name="depth-box-8">
            <a:extLst xmlns:a="http://schemas.openxmlformats.org/drawingml/2006/main">
              <a:ext uri="{FF2B5EF4-FFF2-40B4-BE49-F238E27FC236}">
                <a16:creationId xmlns:a16="http://schemas.microsoft.com/office/drawing/2014/main" id="{19498176-9BBB-4439-8D55-551E9AE21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8">
            <a:extLst xmlns:a="http://schemas.openxmlformats.org/drawingml/2006/main">
              <a:ext uri="{FF2B5EF4-FFF2-40B4-BE49-F238E27FC236}">
                <a16:creationId xmlns:a16="http://schemas.microsoft.com/office/drawing/2014/main" id="{89B06BDC-B83A-4C12-BDB7-8E6894F78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EVIDENCE LIMIT</a:t>
            </a:r>
          </a:p>
        </p:txBody>
      </p:sp>
      <p:sp>
        <p:nvSpPr>
          <p:cNvPr id="6" name="depth-copy-8">
            <a:extLst xmlns:a="http://schemas.openxmlformats.org/drawingml/2006/main">
              <a:ext uri="{FF2B5EF4-FFF2-40B4-BE49-F238E27FC236}">
                <a16:creationId xmlns:a16="http://schemas.microsoft.com/office/drawing/2014/main" id="{8B5B1FB1-C96D-4BAF-80DA-4AD5D97CD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All 180 records retrieved at least one expected source file; an expected-source hit does not guarantee a correct answer.</a:t>
            </a:r>
          </a:p>
        </p:txBody>
      </p:sp>
      <p:sp>
        <p:nvSpPr>
          <p:cNvPr id="7" name="depth-rule-8">
            <a:extLst xmlns:a="http://schemas.openxmlformats.org/drawingml/2006/main">
              <a:ext uri="{FF2B5EF4-FFF2-40B4-BE49-F238E27FC236}">
                <a16:creationId xmlns:a16="http://schemas.microsoft.com/office/drawing/2014/main" id="{213A32D4-2581-4295-93D8-58FD4EB49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depth-source-8">
            <a:extLst xmlns:a="http://schemas.openxmlformats.org/drawingml/2006/main">
              <a:ext uri="{FF2B5EF4-FFF2-40B4-BE49-F238E27FC236}">
                <a16:creationId xmlns:a16="http://schemas.microsoft.com/office/drawing/2014/main" id="{6FF19A57-2E3E-4387-B6E0-3E084AEAC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Sources: gold dataset; benchmark results; answer_quality.py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4ED4FF0-21B0-4BF3-82A3-6F157FB62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9.2</a:t>
            </a:r>
          </a:p>
        </p:txBody>
      </p:sp>
    </p:spTree>
    <p:extLst>
      <p:ext uri="{BB962C8B-B14F-4D97-AF65-F5344CB8AC3E}">
        <p14:creationId xmlns:p14="http://schemas.microsoft.com/office/powerpoint/2010/main" val="1445885122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62828DFC-5CB1-4329-9469-AC55463D1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How we build the 95% range · detail · 3 / 3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26B150C6-EDA9-4835-8F8A-4C5E838648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99253E2-05E0-4A4B-BC09-DE0096BE7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Bootstrap keeps the Vector–Hybrid pairing intact.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40896B32-7C5C-410B-AB95-F06440B27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9.3</a:t>
            </a:r>
          </a:p>
        </p:txBody>
      </p:sp>
      <p:sp>
        <p:nvSpPr>
          <p:cNvPr id="15" name="s20-label">
            <a:extLst xmlns:a="http://schemas.openxmlformats.org/drawingml/2006/main">
              <a:ext uri="{FF2B5EF4-FFF2-40B4-BE49-F238E27FC236}">
                <a16:creationId xmlns:a16="http://schemas.microsoft.com/office/drawing/2014/main" id="{075D6135-C6B2-455D-BA1C-6D2D2026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95450"/>
            <a:ext cx="4000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26F7A"/>
                </a:solidFill>
              </a:defRPr>
            </a:pPr>
            <a:r>
              <a:rPr sz="975" b="1">
                <a:solidFill>
                  <a:srgbClr val="226F7A"/>
                </a:solidFill>
              </a:rPr>
              <a:t>PAIRED BOOTSTRAP · ONE METRIC AT A TIME</a:t>
            </a:r>
          </a:p>
        </p:txBody>
      </p:sp>
      <p:sp>
        <p:nvSpPr>
          <p:cNvPr id="16" name="s20-1-box">
            <a:extLst xmlns:a="http://schemas.openxmlformats.org/drawingml/2006/main">
              <a:ext uri="{FF2B5EF4-FFF2-40B4-BE49-F238E27FC236}">
                <a16:creationId xmlns:a16="http://schemas.microsoft.com/office/drawing/2014/main" id="{4AD4DF3B-81DD-46B5-BBA0-A3D6AD967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33625"/>
            <a:ext cx="22383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13335">
            <a:solidFill>
              <a:srgbClr val="CAD5D7"/>
            </a:solidFill>
            <a:prstDash val="solid"/>
          </a:ln>
        </p:spPr>
      </p:sp>
      <p:sp>
        <p:nvSpPr>
          <p:cNvPr id="17" name="s20-1-title">
            <a:extLst xmlns:a="http://schemas.openxmlformats.org/drawingml/2006/main">
              <a:ext uri="{FF2B5EF4-FFF2-40B4-BE49-F238E27FC236}">
                <a16:creationId xmlns:a16="http://schemas.microsoft.com/office/drawing/2014/main" id="{95C02052-2DE3-46F3-8DFD-B2C5C4998E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505075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1 · Average repeats</a:t>
            </a:r>
          </a:p>
        </p:txBody>
      </p:sp>
      <p:sp>
        <p:nvSpPr>
          <p:cNvPr id="18" name="s20-1-subtitle">
            <a:extLst xmlns:a="http://schemas.openxmlformats.org/drawingml/2006/main">
              <a:ext uri="{FF2B5EF4-FFF2-40B4-BE49-F238E27FC236}">
                <a16:creationId xmlns:a16="http://schemas.microsoft.com/office/drawing/2014/main" id="{442F79BE-E635-4979-B637-78C5D8512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000375"/>
            <a:ext cx="1857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For each question: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mean Vector</a:t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mean Hybrid</a:t>
            </a:r>
          </a:p>
        </p:txBody>
      </p:sp>
      <p:sp>
        <p:nvSpPr>
          <p:cNvPr id="19" name="s20-2-box">
            <a:extLst xmlns:a="http://schemas.openxmlformats.org/drawingml/2006/main">
              <a:ext uri="{FF2B5EF4-FFF2-40B4-BE49-F238E27FC236}">
                <a16:creationId xmlns:a16="http://schemas.microsoft.com/office/drawing/2014/main" id="{D2B83D6C-F7DF-47F9-8288-0963DB199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333625"/>
            <a:ext cx="22383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CECEF"/>
          </a:solidFill>
          <a:ln xmlns:a="http://schemas.openxmlformats.org/drawingml/2006/main" w="13335">
            <a:solidFill>
              <a:srgbClr val="226F7A"/>
            </a:solidFill>
            <a:prstDash val="solid"/>
          </a:ln>
        </p:spPr>
      </p:sp>
      <p:sp>
        <p:nvSpPr>
          <p:cNvPr id="20" name="s20-2-title">
            <a:extLst xmlns:a="http://schemas.openxmlformats.org/drawingml/2006/main">
              <a:ext uri="{FF2B5EF4-FFF2-40B4-BE49-F238E27FC236}">
                <a16:creationId xmlns:a16="http://schemas.microsoft.com/office/drawing/2014/main" id="{F7D7E043-3CAC-4CBC-A8A0-BCEBFD33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2505075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2 · Keep the pair</a:t>
            </a:r>
          </a:p>
        </p:txBody>
      </p:sp>
      <p:sp>
        <p:nvSpPr>
          <p:cNvPr id="21" name="s20-2-subtitle">
            <a:extLst xmlns:a="http://schemas.openxmlformats.org/drawingml/2006/main">
              <a:ext uri="{FF2B5EF4-FFF2-40B4-BE49-F238E27FC236}">
                <a16:creationId xmlns:a16="http://schemas.microsoft.com/office/drawing/2014/main" id="{3A82A425-4E8B-4B98-957E-E732C6630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3000375"/>
            <a:ext cx="1857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dᵢ = mean(Hᵢ) − mean(Vᵢ)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30 questions → 30 deltas</a:t>
            </a:r>
          </a:p>
        </p:txBody>
      </p:sp>
      <p:sp>
        <p:nvSpPr>
          <p:cNvPr id="22" name="s20-3-box">
            <a:extLst xmlns:a="http://schemas.openxmlformats.org/drawingml/2006/main">
              <a:ext uri="{FF2B5EF4-FFF2-40B4-BE49-F238E27FC236}">
                <a16:creationId xmlns:a16="http://schemas.microsoft.com/office/drawing/2014/main" id="{0CB0877F-1143-49D8-AC27-552158A76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333625"/>
            <a:ext cx="22383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5EDF4"/>
          </a:solidFill>
          <a:ln xmlns:a="http://schemas.openxmlformats.org/drawingml/2006/main" w="13335">
            <a:solidFill>
              <a:srgbClr val="C45A37"/>
            </a:solidFill>
            <a:prstDash val="solid"/>
          </a:ln>
        </p:spPr>
      </p:sp>
      <p:sp>
        <p:nvSpPr>
          <p:cNvPr id="23" name="s20-3-title">
            <a:extLst xmlns:a="http://schemas.openxmlformats.org/drawingml/2006/main">
              <a:ext uri="{FF2B5EF4-FFF2-40B4-BE49-F238E27FC236}">
                <a16:creationId xmlns:a16="http://schemas.microsoft.com/office/drawing/2014/main" id="{4EA5A160-AC15-40AB-B16C-BED47F55C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05075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3 · Resample deltas</a:t>
            </a:r>
          </a:p>
        </p:txBody>
      </p:sp>
      <p:sp>
        <p:nvSpPr>
          <p:cNvPr id="24" name="s20-3-subtitle">
            <a:extLst xmlns:a="http://schemas.openxmlformats.org/drawingml/2006/main">
              <a:ext uri="{FF2B5EF4-FFF2-40B4-BE49-F238E27FC236}">
                <a16:creationId xmlns:a16="http://schemas.microsoft.com/office/drawing/2014/main" id="{2DA68703-AB0D-4B76-80EB-9E5E0C179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0375"/>
            <a:ext cx="1857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Draw 30 with replacement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Duplicates are allowed</a:t>
            </a:r>
          </a:p>
        </p:txBody>
      </p:sp>
      <p:sp>
        <p:nvSpPr>
          <p:cNvPr id="25" name="s20-4-box">
            <a:extLst xmlns:a="http://schemas.openxmlformats.org/drawingml/2006/main">
              <a:ext uri="{FF2B5EF4-FFF2-40B4-BE49-F238E27FC236}">
                <a16:creationId xmlns:a16="http://schemas.microsoft.com/office/drawing/2014/main" id="{8F147ECF-9886-4D88-A30D-3587BC22B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2525" y="2333625"/>
            <a:ext cx="2238375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1EEE5"/>
          </a:solidFill>
          <a:ln xmlns:a="http://schemas.openxmlformats.org/drawingml/2006/main" w="13335">
            <a:solidFill>
              <a:srgbClr val="3E735B"/>
            </a:solidFill>
            <a:prstDash val="solid"/>
          </a:ln>
        </p:spPr>
      </p:sp>
      <p:sp>
        <p:nvSpPr>
          <p:cNvPr id="26" name="s20-4-title">
            <a:extLst xmlns:a="http://schemas.openxmlformats.org/drawingml/2006/main">
              <a:ext uri="{FF2B5EF4-FFF2-40B4-BE49-F238E27FC236}">
                <a16:creationId xmlns:a16="http://schemas.microsoft.com/office/drawing/2014/main" id="{338ED664-AD4E-4164-B754-5B9584402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2505075"/>
            <a:ext cx="18573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202C35"/>
                </a:solidFill>
              </a:defRPr>
            </a:pPr>
            <a:r>
              <a:rPr sz="1350" b="1">
                <a:solidFill>
                  <a:srgbClr val="202C35"/>
                </a:solidFill>
              </a:rPr>
              <a:t>4 · Build the range</a:t>
            </a:r>
          </a:p>
        </p:txBody>
      </p:sp>
      <p:sp>
        <p:nvSpPr>
          <p:cNvPr id="27" name="s20-4-subtitle">
            <a:extLst xmlns:a="http://schemas.openxmlformats.org/drawingml/2006/main">
              <a:ext uri="{FF2B5EF4-FFF2-40B4-BE49-F238E27FC236}">
                <a16:creationId xmlns:a16="http://schemas.microsoft.com/office/drawing/2014/main" id="{587FE3FD-F95C-4E44-B6C8-59DB1C63A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63025" y="3000375"/>
            <a:ext cx="18573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10,000 sample means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buNone/>
              <a:defRPr sz="1200" b="0">
                <a:solidFill>
                  <a:srgbClr val="5D6F7C"/>
                </a:solidFill>
              </a:defRPr>
            </a:pPr>
            <a:r>
              <a:rPr sz="1200" b="0">
                <a:solidFill>
                  <a:srgbClr val="5D6F7C"/>
                </a:solidFill>
              </a:rPr>
              <a:t>2.5th → 97.5th percentile</a:t>
            </a:r>
          </a:p>
        </p:txBody>
      </p:sp>
      <p:cxnSp>
        <p:nvCxnSpPr>
          <p:cNvPr id="92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2924175" y="31908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226F7A"/>
            </a:solidFill>
            <a:prstDash val="solid"/>
            <a:tailEnd type="triangle" w="sm" len="sm"/>
          </a:ln>
        </p:spPr>
      </p:cxnSp>
      <p:cxnSp>
        <p:nvCxnSpPr>
          <p:cNvPr id="93" name=""/>
          <p:cNvCxnSpPr>
            <a:stCxn xmlns:a="http://schemas.openxmlformats.org/drawingml/2006/main" id="19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5619750" y="31908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C45A37"/>
            </a:solidFill>
            <a:prstDash val="solid"/>
            <a:tailEnd type="triangle" w="sm" len="sm"/>
          </a:ln>
        </p:spPr>
      </p:cxnSp>
      <p:cxnSp>
        <p:nvCxnSpPr>
          <p:cNvPr id="94" name=""/>
          <p:cNvCxnSpPr>
            <a:stCxn xmlns:a="http://schemas.openxmlformats.org/drawingml/2006/main" id="22" idx="3"/>
            <a:endCxn xmlns:a="http://schemas.openxmlformats.org/drawingml/2006/main" id="25" idx="1"/>
          </p:cNvCxnSpPr>
          <p:nvPr/>
        </p:nvCxnSpPr>
        <p:spPr>
          <a:xfrm xmlns:a="http://schemas.openxmlformats.org/drawingml/2006/main">
            <a:off x="8315325" y="319087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20955">
            <a:solidFill>
              <a:srgbClr val="3E735B"/>
            </a:solidFill>
            <a:prstDash val="solid"/>
            <a:tailEnd type="triangle" w="sm" len="sm"/>
          </a:ln>
        </p:spPr>
      </p:cxnSp>
      <p:sp>
        <p:nvSpPr>
          <p:cNvPr id="31" name="s20-unit">
            <a:extLst xmlns:a="http://schemas.openxmlformats.org/drawingml/2006/main">
              <a:ext uri="{FF2B5EF4-FFF2-40B4-BE49-F238E27FC236}">
                <a16:creationId xmlns:a16="http://schemas.microsoft.com/office/drawing/2014/main" id="{EB319922-7045-48E2-8D76-0E4782336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0" y="4476750"/>
            <a:ext cx="6096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3E735B"/>
                </a:solidFill>
              </a:defRPr>
            </a:pPr>
            <a:r>
              <a:rPr sz="1350" b="1">
                <a:solidFill>
                  <a:srgbClr val="3E735B"/>
                </a:solidFill>
              </a:rPr>
              <a:t>Resampling unit: one question-level Hybrid − Vector delta</a:t>
            </a:r>
          </a:p>
        </p:txBody>
      </p:sp>
      <p:sp>
        <p:nvSpPr>
          <p:cNvPr id="32" name="body-source">
            <a:extLst xmlns:a="http://schemas.openxmlformats.org/drawingml/2006/main">
              <a:ext uri="{FF2B5EF4-FFF2-40B4-BE49-F238E27FC236}">
                <a16:creationId xmlns:a16="http://schemas.microsoft.com/office/drawing/2014/main" id="{851C305E-CBDF-414F-8B25-B29D1DA22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162550"/>
            <a:ext cx="990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5D6F7C"/>
                </a:solidFill>
              </a:defRPr>
            </a:pPr>
            <a:r>
              <a:rPr sz="825" b="0">
                <a:solidFill>
                  <a:srgbClr val="5D6F7C"/>
                </a:solidFill>
              </a:rPr>
              <a:t>Source: doc/thesis@78e5bd8:scripts/analyze_answer_quality_statistics.py</a:t>
            </a:r>
          </a:p>
        </p:txBody>
      </p:sp>
    </p:spTree>
    <p:extLst>
      <p:ext uri="{BB962C8B-B14F-4D97-AF65-F5344CB8AC3E}">
        <p14:creationId xmlns:p14="http://schemas.microsoft.com/office/powerpoint/2010/main" val="33829021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E01B8B95-16DD-4E3A-9EA4-542669121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the test found · 10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4620973C-A782-4D1C-9B00-88F2F6CC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CD0FEFF-7EAC-45ED-9A5E-5AFDDDCA1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Hybrid scores higher on average—but the ranges matter.</a:t>
            </a:r>
          </a:p>
        </p:txBody>
      </p:sp>
      <p:sp>
        <p:nvSpPr>
          <p:cNvPr id="4" name="quality-head-1">
            <a:extLst xmlns:a="http://schemas.openxmlformats.org/drawingml/2006/main">
              <a:ext uri="{FF2B5EF4-FFF2-40B4-BE49-F238E27FC236}">
                <a16:creationId xmlns:a16="http://schemas.microsoft.com/office/drawing/2014/main" id="{EBBD6B84-B395-46E8-BB4B-5BA16336D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66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Metric</a:t>
            </a:r>
          </a:p>
        </p:txBody>
      </p:sp>
      <p:sp>
        <p:nvSpPr>
          <p:cNvPr id="5" name="quality-head-2">
            <a:extLst xmlns:a="http://schemas.openxmlformats.org/drawingml/2006/main">
              <a:ext uri="{FF2B5EF4-FFF2-40B4-BE49-F238E27FC236}">
                <a16:creationId xmlns:a16="http://schemas.microsoft.com/office/drawing/2014/main" id="{71F60EA4-783B-46B2-B203-F3F21FC9D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66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VECTOR MEAN</a:t>
            </a:r>
          </a:p>
        </p:txBody>
      </p:sp>
      <p:sp>
        <p:nvSpPr>
          <p:cNvPr id="6" name="quality-head-3">
            <a:extLst xmlns:a="http://schemas.openxmlformats.org/drawingml/2006/main">
              <a:ext uri="{FF2B5EF4-FFF2-40B4-BE49-F238E27FC236}">
                <a16:creationId xmlns:a16="http://schemas.microsoft.com/office/drawing/2014/main" id="{79CBF916-63B5-466B-8784-EE27A0F0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669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HYBRID MEAN</a:t>
            </a:r>
          </a:p>
        </p:txBody>
      </p:sp>
      <p:sp>
        <p:nvSpPr>
          <p:cNvPr id="7" name="quality-head-4">
            <a:extLst xmlns:a="http://schemas.openxmlformats.org/drawingml/2006/main">
              <a:ext uri="{FF2B5EF4-FFF2-40B4-BE49-F238E27FC236}">
                <a16:creationId xmlns:a16="http://schemas.microsoft.com/office/drawing/2014/main" id="{4379E280-4670-4706-94BE-148015A9B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6690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HYBRID − VECTOR · 95% CI</a:t>
            </a:r>
          </a:p>
        </p:txBody>
      </p:sp>
      <p:sp>
        <p:nvSpPr>
          <p:cNvPr id="8" name="metric-rule-244">
            <a:extLst xmlns:a="http://schemas.openxmlformats.org/drawingml/2006/main">
              <a:ext uri="{FF2B5EF4-FFF2-40B4-BE49-F238E27FC236}">
                <a16:creationId xmlns:a16="http://schemas.microsoft.com/office/drawing/2014/main" id="{0504CA86-7038-4F8A-9408-7DFEDDF2E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9" name="metric-label-244">
            <a:extLst xmlns:a="http://schemas.openxmlformats.org/drawingml/2006/main">
              <a:ext uri="{FF2B5EF4-FFF2-40B4-BE49-F238E27FC236}">
                <a16:creationId xmlns:a16="http://schemas.microsoft.com/office/drawing/2014/main" id="{314A748D-3EE1-4E3F-AC62-70DF531B74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Faithfulness</a:t>
            </a:r>
          </a:p>
        </p:txBody>
      </p:sp>
      <p:sp>
        <p:nvSpPr>
          <p:cNvPr id="10" name="metric-vector-244">
            <a:extLst xmlns:a="http://schemas.openxmlformats.org/drawingml/2006/main">
              <a:ext uri="{FF2B5EF4-FFF2-40B4-BE49-F238E27FC236}">
                <a16:creationId xmlns:a16="http://schemas.microsoft.com/office/drawing/2014/main" id="{7A4331D9-08C1-4DA8-AB3A-928B460B3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324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0.896</a:t>
            </a:r>
          </a:p>
        </p:txBody>
      </p:sp>
      <p:sp>
        <p:nvSpPr>
          <p:cNvPr id="11" name="metric-hybrid-244">
            <a:extLst xmlns:a="http://schemas.openxmlformats.org/drawingml/2006/main">
              <a:ext uri="{FF2B5EF4-FFF2-40B4-BE49-F238E27FC236}">
                <a16:creationId xmlns:a16="http://schemas.microsoft.com/office/drawing/2014/main" id="{B2C0D4F5-63CE-447E-A2A3-D19DA5B9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0.924</a:t>
            </a:r>
          </a:p>
        </p:txBody>
      </p:sp>
      <p:sp>
        <p:nvSpPr>
          <p:cNvPr id="12" name="metric-delta-244">
            <a:extLst xmlns:a="http://schemas.openxmlformats.org/drawingml/2006/main">
              <a:ext uri="{FF2B5EF4-FFF2-40B4-BE49-F238E27FC236}">
                <a16:creationId xmlns:a16="http://schemas.microsoft.com/office/drawing/2014/main" id="{1640F45B-7266-49C2-9647-3B82B8F28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+0.029  ·  [-0.069, 0.115]</a:t>
            </a:r>
          </a:p>
        </p:txBody>
      </p:sp>
      <p:sp>
        <p:nvSpPr>
          <p:cNvPr id="13" name="metric-rule-314">
            <a:extLst xmlns:a="http://schemas.openxmlformats.org/drawingml/2006/main">
              <a:ext uri="{FF2B5EF4-FFF2-40B4-BE49-F238E27FC236}">
                <a16:creationId xmlns:a16="http://schemas.microsoft.com/office/drawing/2014/main" id="{54FE0AA6-0F73-4152-900A-7C7B9EEE1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4" name="metric-label-314">
            <a:extLst xmlns:a="http://schemas.openxmlformats.org/drawingml/2006/main">
              <a:ext uri="{FF2B5EF4-FFF2-40B4-BE49-F238E27FC236}">
                <a16:creationId xmlns:a16="http://schemas.microsoft.com/office/drawing/2014/main" id="{246B9231-BFB6-4300-B67C-8BAEF9C16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990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Answer Relevancy</a:t>
            </a:r>
          </a:p>
        </p:txBody>
      </p:sp>
      <p:sp>
        <p:nvSpPr>
          <p:cNvPr id="15" name="metric-vector-314">
            <a:extLst xmlns:a="http://schemas.openxmlformats.org/drawingml/2006/main">
              <a:ext uri="{FF2B5EF4-FFF2-40B4-BE49-F238E27FC236}">
                <a16:creationId xmlns:a16="http://schemas.microsoft.com/office/drawing/2014/main" id="{79A705EA-3CB1-4757-921C-CF8AB8CAA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990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0.729</a:t>
            </a:r>
          </a:p>
        </p:txBody>
      </p:sp>
      <p:sp>
        <p:nvSpPr>
          <p:cNvPr id="16" name="metric-hybrid-314">
            <a:extLst xmlns:a="http://schemas.openxmlformats.org/drawingml/2006/main">
              <a:ext uri="{FF2B5EF4-FFF2-40B4-BE49-F238E27FC236}">
                <a16:creationId xmlns:a16="http://schemas.microsoft.com/office/drawing/2014/main" id="{CBE8AD03-2536-448C-9037-B25D6796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9908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0.808</a:t>
            </a:r>
          </a:p>
        </p:txBody>
      </p:sp>
      <p:sp>
        <p:nvSpPr>
          <p:cNvPr id="17" name="metric-delta-314">
            <a:extLst xmlns:a="http://schemas.openxmlformats.org/drawingml/2006/main">
              <a:ext uri="{FF2B5EF4-FFF2-40B4-BE49-F238E27FC236}">
                <a16:creationId xmlns:a16="http://schemas.microsoft.com/office/drawing/2014/main" id="{79CEC871-40F9-47A6-B138-1785A82C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990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+0.079  ·  [-0.0001, 0.175]</a:t>
            </a:r>
          </a:p>
        </p:txBody>
      </p:sp>
      <p:sp>
        <p:nvSpPr>
          <p:cNvPr id="18" name="metric-rule-384">
            <a:extLst xmlns:a="http://schemas.openxmlformats.org/drawingml/2006/main">
              <a:ext uri="{FF2B5EF4-FFF2-40B4-BE49-F238E27FC236}">
                <a16:creationId xmlns:a16="http://schemas.microsoft.com/office/drawing/2014/main" id="{1DE4EBEE-D3CE-4BD1-9551-6345EEB5F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8140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9" name="metric-label-384">
            <a:extLst xmlns:a="http://schemas.openxmlformats.org/drawingml/2006/main">
              <a:ext uri="{FF2B5EF4-FFF2-40B4-BE49-F238E27FC236}">
                <a16:creationId xmlns:a16="http://schemas.microsoft.com/office/drawing/2014/main" id="{3FA3E911-BE11-4651-ABF4-0F9006C82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657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Answer Correctness</a:t>
            </a:r>
          </a:p>
        </p:txBody>
      </p:sp>
      <p:sp>
        <p:nvSpPr>
          <p:cNvPr id="20" name="metric-vector-384">
            <a:extLst xmlns:a="http://schemas.openxmlformats.org/drawingml/2006/main">
              <a:ext uri="{FF2B5EF4-FFF2-40B4-BE49-F238E27FC236}">
                <a16:creationId xmlns:a16="http://schemas.microsoft.com/office/drawing/2014/main" id="{513DC7CE-FA7B-4FD2-8F88-A92DED955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657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0.652</a:t>
            </a:r>
          </a:p>
        </p:txBody>
      </p:sp>
      <p:sp>
        <p:nvSpPr>
          <p:cNvPr id="21" name="metric-hybrid-384">
            <a:extLst xmlns:a="http://schemas.openxmlformats.org/drawingml/2006/main">
              <a:ext uri="{FF2B5EF4-FFF2-40B4-BE49-F238E27FC236}">
                <a16:creationId xmlns:a16="http://schemas.microsoft.com/office/drawing/2014/main" id="{10FA04DF-188D-4CAE-9BFD-F6F7C055C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65760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0.698</a:t>
            </a:r>
          </a:p>
        </p:txBody>
      </p:sp>
      <p:sp>
        <p:nvSpPr>
          <p:cNvPr id="22" name="metric-delta-384">
            <a:extLst xmlns:a="http://schemas.openxmlformats.org/drawingml/2006/main">
              <a:ext uri="{FF2B5EF4-FFF2-40B4-BE49-F238E27FC236}">
                <a16:creationId xmlns:a16="http://schemas.microsoft.com/office/drawing/2014/main" id="{EA6D0CC2-F248-4857-82F1-B8B1DD15F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6576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+0.046  ·  [0.002, 0.094]</a:t>
            </a:r>
          </a:p>
        </p:txBody>
      </p:sp>
      <p:sp>
        <p:nvSpPr>
          <p:cNvPr id="2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F64CBCC-64AB-4BCC-9E3D-1D4CEB3E7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2117994477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">
            <a:extLst xmlns:a="http://schemas.openxmlformats.org/drawingml/2006/main">
              <a:ext uri="{FF2B5EF4-FFF2-40B4-BE49-F238E27FC236}">
                <a16:creationId xmlns:a16="http://schemas.microsoft.com/office/drawing/2014/main" id="{6261F41F-2130-4314-A468-98004523F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How sure are we? · 11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663F01C5-C67B-462D-B957-0B1A0B843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53F71453-ADAA-41D7-B9FB-8EC0CE621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A higher average does not always mean a real improvement.</a:t>
            </a:r>
          </a:p>
        </p:txBody>
      </p:sp>
      <p:sp>
        <p:nvSpPr>
          <p:cNvPr id="4" name="interpret-0">
            <a:extLst xmlns:a="http://schemas.openxmlformats.org/drawingml/2006/main">
              <a:ext uri="{FF2B5EF4-FFF2-40B4-BE49-F238E27FC236}">
                <a16:creationId xmlns:a16="http://schemas.microsoft.com/office/drawing/2014/main" id="{073E0799-D334-4774-8875-F4AE50E41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952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5" name="interpret-state-0">
            <a:extLst xmlns:a="http://schemas.openxmlformats.org/drawingml/2006/main">
              <a:ext uri="{FF2B5EF4-FFF2-40B4-BE49-F238E27FC236}">
                <a16:creationId xmlns:a16="http://schemas.microsoft.com/office/drawing/2014/main" id="{9DFB26EE-F833-4C90-9F87-A5619C2F0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431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NOT CLEAR</a:t>
            </a:r>
          </a:p>
        </p:txBody>
      </p:sp>
      <p:sp>
        <p:nvSpPr>
          <p:cNvPr id="6" name="interpret-metric-0">
            <a:extLst xmlns:a="http://schemas.openxmlformats.org/drawingml/2006/main">
              <a:ext uri="{FF2B5EF4-FFF2-40B4-BE49-F238E27FC236}">
                <a16:creationId xmlns:a16="http://schemas.microsoft.com/office/drawing/2014/main" id="{A16D0097-103E-4CF7-8AB8-FCA98B756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800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Faithfulness</a:t>
            </a:r>
          </a:p>
        </p:txBody>
      </p:sp>
      <p:sp>
        <p:nvSpPr>
          <p:cNvPr id="7" name="interpret-copy-0">
            <a:extLst xmlns:a="http://schemas.openxmlformats.org/drawingml/2006/main">
              <a:ext uri="{FF2B5EF4-FFF2-40B4-BE49-F238E27FC236}">
                <a16:creationId xmlns:a16="http://schemas.microsoft.com/office/drawing/2014/main" id="{7DA345A2-D9FB-4651-862A-CAE8EB8EC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3718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The range allows a small decrease or a larger increase.</a:t>
            </a:r>
          </a:p>
        </p:txBody>
      </p:sp>
      <p:sp>
        <p:nvSpPr>
          <p:cNvPr id="8" name="interpret-1">
            <a:extLst xmlns:a="http://schemas.openxmlformats.org/drawingml/2006/main">
              <a:ext uri="{FF2B5EF4-FFF2-40B4-BE49-F238E27FC236}">
                <a16:creationId xmlns:a16="http://schemas.microsoft.com/office/drawing/2014/main" id="{0C984C13-920C-485F-9D18-D0396DFD4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095500"/>
            <a:ext cx="2952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6EEF5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9" name="interpret-state-1">
            <a:extLst xmlns:a="http://schemas.openxmlformats.org/drawingml/2006/main">
              <a:ext uri="{FF2B5EF4-FFF2-40B4-BE49-F238E27FC236}">
                <a16:creationId xmlns:a16="http://schemas.microsoft.com/office/drawing/2014/main" id="{3479997D-295F-4328-B7C8-2725FC6422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431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BORDERLINE</a:t>
            </a:r>
          </a:p>
        </p:txBody>
      </p:sp>
      <p:sp>
        <p:nvSpPr>
          <p:cNvPr id="10" name="interpret-metric-1">
            <a:extLst xmlns:a="http://schemas.openxmlformats.org/drawingml/2006/main">
              <a:ext uri="{FF2B5EF4-FFF2-40B4-BE49-F238E27FC236}">
                <a16:creationId xmlns:a16="http://schemas.microsoft.com/office/drawing/2014/main" id="{08612881-4E9F-4E7C-9581-574E11238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800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Relevancy</a:t>
            </a:r>
          </a:p>
        </p:txBody>
      </p:sp>
      <p:sp>
        <p:nvSpPr>
          <p:cNvPr id="11" name="interpret-copy-1">
            <a:extLst xmlns:a="http://schemas.openxmlformats.org/drawingml/2006/main">
              <a:ext uri="{FF2B5EF4-FFF2-40B4-BE49-F238E27FC236}">
                <a16:creationId xmlns:a16="http://schemas.microsoft.com/office/drawing/2014/main" id="{BADA96B8-F867-4566-93B8-6A43D4D9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3718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The lower bound touches/slightly crosses zero after rounding.</a:t>
            </a:r>
          </a:p>
        </p:txBody>
      </p:sp>
      <p:sp>
        <p:nvSpPr>
          <p:cNvPr id="12" name="interpret-2">
            <a:extLst xmlns:a="http://schemas.openxmlformats.org/drawingml/2006/main">
              <a:ext uri="{FF2B5EF4-FFF2-40B4-BE49-F238E27FC236}">
                <a16:creationId xmlns:a16="http://schemas.microsoft.com/office/drawing/2014/main" id="{6096AF28-A4E5-4C8C-8BB8-9DBEF39DB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95500"/>
            <a:ext cx="295275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13" name="interpret-state-2">
            <a:extLst xmlns:a="http://schemas.openxmlformats.org/drawingml/2006/main">
              <a:ext uri="{FF2B5EF4-FFF2-40B4-BE49-F238E27FC236}">
                <a16:creationId xmlns:a16="http://schemas.microsoft.com/office/drawing/2014/main" id="{FDB9EF48-D004-41F5-803D-AE01C04BB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343150"/>
            <a:ext cx="2190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SUPPORTED HERE</a:t>
            </a:r>
          </a:p>
        </p:txBody>
      </p:sp>
      <p:sp>
        <p:nvSpPr>
          <p:cNvPr id="14" name="interpret-metric-2">
            <a:extLst xmlns:a="http://schemas.openxmlformats.org/drawingml/2006/main">
              <a:ext uri="{FF2B5EF4-FFF2-40B4-BE49-F238E27FC236}">
                <a16:creationId xmlns:a16="http://schemas.microsoft.com/office/drawing/2014/main" id="{CD3237CA-6AF2-4228-9BFD-9A1AA2139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28003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0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Correctness</a:t>
            </a:r>
          </a:p>
        </p:txBody>
      </p:sp>
      <p:sp>
        <p:nvSpPr>
          <p:cNvPr id="15" name="interpret-copy-2">
            <a:extLst xmlns:a="http://schemas.openxmlformats.org/drawingml/2006/main">
              <a:ext uri="{FF2B5EF4-FFF2-40B4-BE49-F238E27FC236}">
                <a16:creationId xmlns:a16="http://schemas.microsoft.com/office/drawing/2014/main" id="{7D5C6A96-F587-41A0-A873-3808B475C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34300" y="3371850"/>
            <a:ext cx="2428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The full range is above zero for this workload.</a:t>
            </a:r>
          </a:p>
        </p:txBody>
      </p:sp>
      <p:sp>
        <p:nvSpPr>
          <p:cNvPr id="20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27207BE0-4703-4B4B-A101-8E4FCBD696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14006292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">
            <a:extLst xmlns:a="http://schemas.openxmlformats.org/drawingml/2006/main">
              <a:ext uri="{FF2B5EF4-FFF2-40B4-BE49-F238E27FC236}">
                <a16:creationId xmlns:a16="http://schemas.microsoft.com/office/drawing/2014/main" id="{90B210A8-EC82-4375-9409-C6640D31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Time and token cost · 12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E2D23F0B-65BF-4208-A23B-0E5C331E2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76C356C-05E4-49C7-B057-87ACD744E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Hybrid searches longer, but the model takes most of the time.</a:t>
            </a:r>
          </a:p>
        </p:txBody>
      </p:sp>
      <p:sp>
        <p:nvSpPr>
          <p:cNvPr id="4" name="eff-head-1">
            <a:extLst xmlns:a="http://schemas.openxmlformats.org/drawingml/2006/main">
              <a:ext uri="{FF2B5EF4-FFF2-40B4-BE49-F238E27FC236}">
                <a16:creationId xmlns:a16="http://schemas.microsoft.com/office/drawing/2014/main" id="{D7E910A5-F99F-477C-A34F-FA3A985057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Measure</a:t>
            </a:r>
          </a:p>
        </p:txBody>
      </p:sp>
      <p:sp>
        <p:nvSpPr>
          <p:cNvPr id="5" name="eff-head-2">
            <a:extLst xmlns:a="http://schemas.openxmlformats.org/drawingml/2006/main">
              <a:ext uri="{FF2B5EF4-FFF2-40B4-BE49-F238E27FC236}">
                <a16:creationId xmlns:a16="http://schemas.microsoft.com/office/drawing/2014/main" id="{1B74F29A-2B3B-4367-8280-E77ED14809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VECTOR</a:t>
            </a:r>
          </a:p>
        </p:txBody>
      </p:sp>
      <p:sp>
        <p:nvSpPr>
          <p:cNvPr id="6" name="eff-head-3">
            <a:extLst xmlns:a="http://schemas.openxmlformats.org/drawingml/2006/main">
              <a:ext uri="{FF2B5EF4-FFF2-40B4-BE49-F238E27FC236}">
                <a16:creationId xmlns:a16="http://schemas.microsoft.com/office/drawing/2014/main" id="{3D940328-8823-4A56-8058-45FC411B9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80975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HYBRID</a:t>
            </a:r>
          </a:p>
        </p:txBody>
      </p:sp>
      <p:sp>
        <p:nvSpPr>
          <p:cNvPr id="7" name="eff-head-4">
            <a:extLst xmlns:a="http://schemas.openxmlformats.org/drawingml/2006/main">
              <a:ext uri="{FF2B5EF4-FFF2-40B4-BE49-F238E27FC236}">
                <a16:creationId xmlns:a16="http://schemas.microsoft.com/office/drawing/2014/main" id="{A1F6F412-28F9-4C2D-8A86-873F062F4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809750"/>
            <a:ext cx="285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DELTA · 95% CI</a:t>
            </a:r>
          </a:p>
        </p:txBody>
      </p:sp>
      <p:sp>
        <p:nvSpPr>
          <p:cNvPr id="8" name="metric-rule-238">
            <a:extLst xmlns:a="http://schemas.openxmlformats.org/drawingml/2006/main">
              <a:ext uri="{FF2B5EF4-FFF2-40B4-BE49-F238E27FC236}">
                <a16:creationId xmlns:a16="http://schemas.microsoft.com/office/drawing/2014/main" id="{02BC5B87-EE98-42DB-B277-8E3304BBC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9" name="metric-label-238">
            <a:extLst xmlns:a="http://schemas.openxmlformats.org/drawingml/2006/main">
              <a:ext uri="{FF2B5EF4-FFF2-40B4-BE49-F238E27FC236}">
                <a16:creationId xmlns:a16="http://schemas.microsoft.com/office/drawing/2014/main" id="{9E4925EA-858B-4DEE-942D-E13FE4B7C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66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Retrieval latency</a:t>
            </a:r>
          </a:p>
        </p:txBody>
      </p:sp>
      <p:sp>
        <p:nvSpPr>
          <p:cNvPr id="10" name="metric-vector-238">
            <a:extLst xmlns:a="http://schemas.openxmlformats.org/drawingml/2006/main">
              <a:ext uri="{FF2B5EF4-FFF2-40B4-BE49-F238E27FC236}">
                <a16:creationId xmlns:a16="http://schemas.microsoft.com/office/drawing/2014/main" id="{07AC5C5A-5956-4492-A04D-582FEB8C9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266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134 ms</a:t>
            </a:r>
          </a:p>
        </p:txBody>
      </p:sp>
      <p:sp>
        <p:nvSpPr>
          <p:cNvPr id="11" name="metric-hybrid-238">
            <a:extLst xmlns:a="http://schemas.openxmlformats.org/drawingml/2006/main">
              <a:ext uri="{FF2B5EF4-FFF2-40B4-BE49-F238E27FC236}">
                <a16:creationId xmlns:a16="http://schemas.microsoft.com/office/drawing/2014/main" id="{36221BC2-E771-49E5-9608-1F1552065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2669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371 ms</a:t>
            </a:r>
          </a:p>
        </p:txBody>
      </p:sp>
      <p:sp>
        <p:nvSpPr>
          <p:cNvPr id="12" name="metric-delta-238">
            <a:extLst xmlns:a="http://schemas.openxmlformats.org/drawingml/2006/main">
              <a:ext uri="{FF2B5EF4-FFF2-40B4-BE49-F238E27FC236}">
                <a16:creationId xmlns:a16="http://schemas.microsoft.com/office/drawing/2014/main" id="{64526E83-B889-4E61-8AC2-517FFA6A5C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2669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+237 ms  ·  [208, 266]</a:t>
            </a:r>
          </a:p>
        </p:txBody>
      </p:sp>
      <p:sp>
        <p:nvSpPr>
          <p:cNvPr id="13" name="metric-rule-302">
            <a:extLst xmlns:a="http://schemas.openxmlformats.org/drawingml/2006/main">
              <a:ext uri="{FF2B5EF4-FFF2-40B4-BE49-F238E27FC236}">
                <a16:creationId xmlns:a16="http://schemas.microsoft.com/office/drawing/2014/main" id="{0968F184-0A2A-4B93-9CA3-2135C41E95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003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4" name="metric-label-302">
            <a:extLst xmlns:a="http://schemas.openxmlformats.org/drawingml/2006/main">
              <a:ext uri="{FF2B5EF4-FFF2-40B4-BE49-F238E27FC236}">
                <a16:creationId xmlns:a16="http://schemas.microsoft.com/office/drawing/2014/main" id="{19B08426-4117-458D-BA50-F9AB224AB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876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Generation latency</a:t>
            </a:r>
          </a:p>
        </p:txBody>
      </p:sp>
      <p:sp>
        <p:nvSpPr>
          <p:cNvPr id="15" name="metric-vector-302">
            <a:extLst xmlns:a="http://schemas.openxmlformats.org/drawingml/2006/main">
              <a:ext uri="{FF2B5EF4-FFF2-40B4-BE49-F238E27FC236}">
                <a16:creationId xmlns:a16="http://schemas.microsoft.com/office/drawing/2014/main" id="{FBCFDDC2-9299-4B68-8560-E1858ACD83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76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96.8 s</a:t>
            </a:r>
          </a:p>
        </p:txBody>
      </p:sp>
      <p:sp>
        <p:nvSpPr>
          <p:cNvPr id="16" name="metric-hybrid-302">
            <a:extLst xmlns:a="http://schemas.openxmlformats.org/drawingml/2006/main">
              <a:ext uri="{FF2B5EF4-FFF2-40B4-BE49-F238E27FC236}">
                <a16:creationId xmlns:a16="http://schemas.microsoft.com/office/drawing/2014/main" id="{AE0DF2D2-8CC1-4DFB-9907-3FFEACDEF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8765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87.3 s</a:t>
            </a:r>
          </a:p>
        </p:txBody>
      </p:sp>
      <p:sp>
        <p:nvSpPr>
          <p:cNvPr id="17" name="metric-delta-302">
            <a:extLst xmlns:a="http://schemas.openxmlformats.org/drawingml/2006/main">
              <a:ext uri="{FF2B5EF4-FFF2-40B4-BE49-F238E27FC236}">
                <a16:creationId xmlns:a16="http://schemas.microsoft.com/office/drawing/2014/main" id="{68BF71F8-965E-47D0-9905-8E9A9907E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8765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−9.5 s  ·  [-23.0, 1.4]</a:t>
            </a:r>
          </a:p>
        </p:txBody>
      </p:sp>
      <p:sp>
        <p:nvSpPr>
          <p:cNvPr id="18" name="metric-rule-366">
            <a:extLst xmlns:a="http://schemas.openxmlformats.org/drawingml/2006/main">
              <a:ext uri="{FF2B5EF4-FFF2-40B4-BE49-F238E27FC236}">
                <a16:creationId xmlns:a16="http://schemas.microsoft.com/office/drawing/2014/main" id="{55614EB7-5440-4F98-93A6-3923652D1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99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9" name="metric-label-366">
            <a:extLst xmlns:a="http://schemas.openxmlformats.org/drawingml/2006/main">
              <a:ext uri="{FF2B5EF4-FFF2-40B4-BE49-F238E27FC236}">
                <a16:creationId xmlns:a16="http://schemas.microsoft.com/office/drawing/2014/main" id="{C61DC3A4-66AA-4100-BF73-05A405135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86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Prompt tokens</a:t>
            </a:r>
          </a:p>
        </p:txBody>
      </p:sp>
      <p:sp>
        <p:nvSpPr>
          <p:cNvPr id="20" name="metric-vector-366">
            <a:extLst xmlns:a="http://schemas.openxmlformats.org/drawingml/2006/main">
              <a:ext uri="{FF2B5EF4-FFF2-40B4-BE49-F238E27FC236}">
                <a16:creationId xmlns:a16="http://schemas.microsoft.com/office/drawing/2014/main" id="{906CD160-D132-4398-BEC8-CB7A15150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1,841</a:t>
            </a:r>
          </a:p>
        </p:txBody>
      </p:sp>
      <p:sp>
        <p:nvSpPr>
          <p:cNvPr id="21" name="metric-hybrid-366">
            <a:extLst xmlns:a="http://schemas.openxmlformats.org/drawingml/2006/main">
              <a:ext uri="{FF2B5EF4-FFF2-40B4-BE49-F238E27FC236}">
                <a16:creationId xmlns:a16="http://schemas.microsoft.com/office/drawing/2014/main" id="{BFCF32AB-30C7-48B9-B7D6-9ABA3FFB8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61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1,740</a:t>
            </a:r>
          </a:p>
        </p:txBody>
      </p:sp>
      <p:sp>
        <p:nvSpPr>
          <p:cNvPr id="22" name="metric-delta-366">
            <a:extLst xmlns:a="http://schemas.openxmlformats.org/drawingml/2006/main">
              <a:ext uri="{FF2B5EF4-FFF2-40B4-BE49-F238E27FC236}">
                <a16:creationId xmlns:a16="http://schemas.microsoft.com/office/drawing/2014/main" id="{1882841A-F4D2-4D53-83DF-CA24087B9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486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−101  ·  [-282, 77]</a:t>
            </a:r>
          </a:p>
        </p:txBody>
      </p:sp>
      <p:sp>
        <p:nvSpPr>
          <p:cNvPr id="23" name="metric-rule-430">
            <a:extLst xmlns:a="http://schemas.openxmlformats.org/drawingml/2006/main">
              <a:ext uri="{FF2B5EF4-FFF2-40B4-BE49-F238E27FC236}">
                <a16:creationId xmlns:a16="http://schemas.microsoft.com/office/drawing/2014/main" id="{4070F38F-ABC3-40EB-AA63-7ED5837EFC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19550"/>
            <a:ext cx="10820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24" name="metric-label-430">
            <a:extLst xmlns:a="http://schemas.openxmlformats.org/drawingml/2006/main">
              <a:ext uri="{FF2B5EF4-FFF2-40B4-BE49-F238E27FC236}">
                <a16:creationId xmlns:a16="http://schemas.microsoft.com/office/drawing/2014/main" id="{040AC8FB-3007-43AE-B516-3638D82EC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95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Completion tokens</a:t>
            </a:r>
          </a:p>
        </p:txBody>
      </p:sp>
      <p:sp>
        <p:nvSpPr>
          <p:cNvPr id="25" name="metric-vector-430">
            <a:extLst xmlns:a="http://schemas.openxmlformats.org/drawingml/2006/main">
              <a:ext uri="{FF2B5EF4-FFF2-40B4-BE49-F238E27FC236}">
                <a16:creationId xmlns:a16="http://schemas.microsoft.com/office/drawing/2014/main" id="{101ECAE6-060A-437B-AA8D-EE2E829C2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4095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934</a:t>
            </a:r>
          </a:p>
        </p:txBody>
      </p:sp>
      <p:sp>
        <p:nvSpPr>
          <p:cNvPr id="26" name="metric-hybrid-430">
            <a:extLst xmlns:a="http://schemas.openxmlformats.org/drawingml/2006/main">
              <a:ext uri="{FF2B5EF4-FFF2-40B4-BE49-F238E27FC236}">
                <a16:creationId xmlns:a16="http://schemas.microsoft.com/office/drawing/2014/main" id="{AB6ECF8F-D1E9-4704-B0CC-49666F6B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095750"/>
            <a:ext cx="1714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834</a:t>
            </a:r>
          </a:p>
        </p:txBody>
      </p:sp>
      <p:sp>
        <p:nvSpPr>
          <p:cNvPr id="27" name="metric-delta-430">
            <a:extLst xmlns:a="http://schemas.openxmlformats.org/drawingml/2006/main">
              <a:ext uri="{FF2B5EF4-FFF2-40B4-BE49-F238E27FC236}">
                <a16:creationId xmlns:a16="http://schemas.microsoft.com/office/drawing/2014/main" id="{F137405E-5890-486D-9DAA-1F7AF2AAE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40957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1350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−100  ·  [-259, 30]</a:t>
            </a:r>
          </a:p>
        </p:txBody>
      </p:sp>
      <p:sp>
        <p:nvSpPr>
          <p:cNvPr id="32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A4BCF63C-4216-4C8B-B43E-C54010116F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481719017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">
            <a:extLst xmlns:a="http://schemas.openxmlformats.org/drawingml/2006/main">
              <a:ext uri="{FF2B5EF4-FFF2-40B4-BE49-F238E27FC236}">
                <a16:creationId xmlns:a16="http://schemas.microsoft.com/office/drawing/2014/main" id="{498E2C5B-EA08-4D7D-BCFB-10BC22777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Live demo · 13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292154CE-2A21-4EDE-9D37-3B04641EC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A4056B9-9F88-4D78-B785-C0F619678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The demo replays indexing and query routing on two files.</a:t>
            </a:r>
          </a:p>
        </p:txBody>
      </p:sp>
      <p:sp>
        <p:nvSpPr>
          <p:cNvPr id="4" name="demo-num-0">
            <a:extLst xmlns:a="http://schemas.openxmlformats.org/drawingml/2006/main">
              <a:ext uri="{FF2B5EF4-FFF2-40B4-BE49-F238E27FC236}">
                <a16:creationId xmlns:a16="http://schemas.microsoft.com/office/drawing/2014/main" id="{52042936-1F5A-49B5-8692-664F47AA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7907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5" name="demo-action-0">
            <a:extLst xmlns:a="http://schemas.openxmlformats.org/drawingml/2006/main">
              <a:ext uri="{FF2B5EF4-FFF2-40B4-BE49-F238E27FC236}">
                <a16:creationId xmlns:a16="http://schemas.microsoft.com/office/drawing/2014/main" id="{604B8CA2-971A-45F1-B042-0B5191CFB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907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Check services</a:t>
            </a:r>
          </a:p>
        </p:txBody>
      </p:sp>
      <p:sp>
        <p:nvSpPr>
          <p:cNvPr id="6" name="demo-proof-0">
            <a:extLst xmlns:a="http://schemas.openxmlformats.org/drawingml/2006/main">
              <a:ext uri="{FF2B5EF4-FFF2-40B4-BE49-F238E27FC236}">
                <a16:creationId xmlns:a16="http://schemas.microsoft.com/office/drawing/2014/main" id="{9F383DD0-2F65-4321-8EE0-3821B0A61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17907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FalkorDB · Qdrant · Ollama</a:t>
            </a:r>
          </a:p>
        </p:txBody>
      </p:sp>
      <p:sp>
        <p:nvSpPr>
          <p:cNvPr id="7" name="demo-rule-0">
            <a:extLst xmlns:a="http://schemas.openxmlformats.org/drawingml/2006/main">
              <a:ext uri="{FF2B5EF4-FFF2-40B4-BE49-F238E27FC236}">
                <a16:creationId xmlns:a16="http://schemas.microsoft.com/office/drawing/2014/main" id="{8F3C6708-2FF9-4C68-B96E-4AEEBEE77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19325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demo-num-1">
            <a:extLst xmlns:a="http://schemas.openxmlformats.org/drawingml/2006/main">
              <a:ext uri="{FF2B5EF4-FFF2-40B4-BE49-F238E27FC236}">
                <a16:creationId xmlns:a16="http://schemas.microsoft.com/office/drawing/2014/main" id="{FFA98108-F99C-4C5A-A94B-4530045C04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4384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9" name="demo-action-1">
            <a:extLst xmlns:a="http://schemas.openxmlformats.org/drawingml/2006/main">
              <a:ext uri="{FF2B5EF4-FFF2-40B4-BE49-F238E27FC236}">
                <a16:creationId xmlns:a16="http://schemas.microsoft.com/office/drawing/2014/main" id="{E15AA671-5B43-4704-8C39-88C0211A0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4384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Ask one Checkout question</a:t>
            </a:r>
          </a:p>
        </p:txBody>
      </p:sp>
      <p:sp>
        <p:nvSpPr>
          <p:cNvPr id="10" name="demo-proof-1">
            <a:extLst xmlns:a="http://schemas.openxmlformats.org/drawingml/2006/main">
              <a:ext uri="{FF2B5EF4-FFF2-40B4-BE49-F238E27FC236}">
                <a16:creationId xmlns:a16="http://schemas.microsoft.com/office/drawing/2014/main" id="{FCBA8A4D-6C3B-44B0-9D56-7E661CA4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4384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sequence / path choice</a:t>
            </a:r>
          </a:p>
        </p:txBody>
      </p:sp>
      <p:sp>
        <p:nvSpPr>
          <p:cNvPr id="11" name="demo-rule-1">
            <a:extLst xmlns:a="http://schemas.openxmlformats.org/drawingml/2006/main">
              <a:ext uri="{FF2B5EF4-FFF2-40B4-BE49-F238E27FC236}">
                <a16:creationId xmlns:a16="http://schemas.microsoft.com/office/drawing/2014/main" id="{272C6F8A-5F49-455C-B245-464C7E1AD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67025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2" name="demo-num-2">
            <a:extLst xmlns:a="http://schemas.openxmlformats.org/drawingml/2006/main">
              <a:ext uri="{FF2B5EF4-FFF2-40B4-BE49-F238E27FC236}">
                <a16:creationId xmlns:a16="http://schemas.microsoft.com/office/drawing/2014/main" id="{0A0EAC86-E0B3-4E7D-8B32-00C9A9B2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861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3" name="demo-action-2">
            <a:extLst xmlns:a="http://schemas.openxmlformats.org/drawingml/2006/main">
              <a:ext uri="{FF2B5EF4-FFF2-40B4-BE49-F238E27FC236}">
                <a16:creationId xmlns:a16="http://schemas.microsoft.com/office/drawing/2014/main" id="{F67ED4D0-10A1-49C9-9155-E92E0ECA9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0861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Inspect retrieval evidence</a:t>
            </a:r>
          </a:p>
        </p:txBody>
      </p:sp>
      <p:sp>
        <p:nvSpPr>
          <p:cNvPr id="14" name="demo-proof-2">
            <a:extLst xmlns:a="http://schemas.openxmlformats.org/drawingml/2006/main">
              <a:ext uri="{FF2B5EF4-FFF2-40B4-BE49-F238E27FC236}">
                <a16:creationId xmlns:a16="http://schemas.microsoft.com/office/drawing/2014/main" id="{E8564183-6FD4-476D-B84C-AD24A63C2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0861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graph · vector · RRF</a:t>
            </a:r>
          </a:p>
        </p:txBody>
      </p:sp>
      <p:sp>
        <p:nvSpPr>
          <p:cNvPr id="15" name="demo-rule-2">
            <a:extLst xmlns:a="http://schemas.openxmlformats.org/drawingml/2006/main">
              <a:ext uri="{FF2B5EF4-FFF2-40B4-BE49-F238E27FC236}">
                <a16:creationId xmlns:a16="http://schemas.microsoft.com/office/drawing/2014/main" id="{BE01058B-61FE-486E-8CD7-ABC4FAC9DA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14725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6" name="demo-num-3">
            <a:extLst xmlns:a="http://schemas.openxmlformats.org/drawingml/2006/main">
              <a:ext uri="{FF2B5EF4-FFF2-40B4-BE49-F238E27FC236}">
                <a16:creationId xmlns:a16="http://schemas.microsoft.com/office/drawing/2014/main" id="{EBE07F2D-5D5A-4F49-B0C9-CE737A2F7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7338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7" name="demo-action-3">
            <a:extLst xmlns:a="http://schemas.openxmlformats.org/drawingml/2006/main">
              <a:ext uri="{FF2B5EF4-FFF2-40B4-BE49-F238E27FC236}">
                <a16:creationId xmlns:a16="http://schemas.microsoft.com/office/drawing/2014/main" id="{D77CA801-3916-4DE2-9510-CB9656B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338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Inspect answer + sources</a:t>
            </a:r>
          </a:p>
        </p:txBody>
      </p:sp>
      <p:sp>
        <p:nvSpPr>
          <p:cNvPr id="18" name="demo-proof-3">
            <a:extLst xmlns:a="http://schemas.openxmlformats.org/drawingml/2006/main">
              <a:ext uri="{FF2B5EF4-FFF2-40B4-BE49-F238E27FC236}">
                <a16:creationId xmlns:a16="http://schemas.microsoft.com/office/drawing/2014/main" id="{2335F835-1BAE-4650-86FA-0B85A454E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338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POST /query · five context items</a:t>
            </a:r>
          </a:p>
        </p:txBody>
      </p:sp>
      <p:sp>
        <p:nvSpPr>
          <p:cNvPr id="19" name="demo-rule-3">
            <a:extLst xmlns:a="http://schemas.openxmlformats.org/drawingml/2006/main">
              <a:ext uri="{FF2B5EF4-FFF2-40B4-BE49-F238E27FC236}">
                <a16:creationId xmlns:a16="http://schemas.microsoft.com/office/drawing/2014/main" id="{95E9187C-BCD2-4CF9-B3DC-7259C5023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62425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20" name="demo-num-4">
            <a:extLst xmlns:a="http://schemas.openxmlformats.org/drawingml/2006/main">
              <a:ext uri="{FF2B5EF4-FFF2-40B4-BE49-F238E27FC236}">
                <a16:creationId xmlns:a16="http://schemas.microsoft.com/office/drawing/2014/main" id="{1B2C29CA-8BD1-43F1-90C6-0FD29D451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381500"/>
            <a:ext cx="47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  <p:sp>
        <p:nvSpPr>
          <p:cNvPr id="21" name="demo-action-4">
            <a:extLst xmlns:a="http://schemas.openxmlformats.org/drawingml/2006/main">
              <a:ext uri="{FF2B5EF4-FFF2-40B4-BE49-F238E27FC236}">
                <a16:creationId xmlns:a16="http://schemas.microsoft.com/office/drawing/2014/main" id="{0B20C0D4-CC94-4E3F-8826-36AA46B2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438150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425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Attempt Java indexing</a:t>
            </a:r>
          </a:p>
        </p:txBody>
      </p:sp>
      <p:sp>
        <p:nvSpPr>
          <p:cNvPr id="22" name="demo-proof-4">
            <a:extLst xmlns:a="http://schemas.openxmlformats.org/drawingml/2006/main">
              <a:ext uri="{FF2B5EF4-FFF2-40B4-BE49-F238E27FC236}">
                <a16:creationId xmlns:a16="http://schemas.microsoft.com/office/drawing/2014/main" id="{C2A58E2E-56CB-47D5-AFEB-9EB2E62B0D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81500"/>
            <a:ext cx="514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86671"/>
                </a:solidFill>
                <a:latin typeface="Aptos"/>
                <a:ea typeface="Aptos"/>
                <a:cs typeface="Aptos"/>
              </a:rPr>
              <a:t>explicit unsupported-language error</a:t>
            </a:r>
          </a:p>
        </p:txBody>
      </p:sp>
      <p:sp>
        <p:nvSpPr>
          <p:cNvPr id="23" name="demo-rule-4">
            <a:extLst xmlns:a="http://schemas.openxmlformats.org/drawingml/2006/main">
              <a:ext uri="{FF2B5EF4-FFF2-40B4-BE49-F238E27FC236}">
                <a16:creationId xmlns:a16="http://schemas.microsoft.com/office/drawing/2014/main" id="{38014C4D-F1ED-419A-BE8E-B1758C545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10125"/>
            <a:ext cx="10172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28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23FAD10-0C61-4007-8461-42B51278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1701348571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kicker">
            <a:extLst xmlns:a="http://schemas.openxmlformats.org/drawingml/2006/main">
              <a:ext uri="{FF2B5EF4-FFF2-40B4-BE49-F238E27FC236}">
                <a16:creationId xmlns:a16="http://schemas.microsoft.com/office/drawing/2014/main" id="{5B37AAAF-9A6C-4749-9885-8EB0CA323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this thesis adds · 14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A15D77AE-7205-4BBB-8DD0-417E76C48E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13F9DF7-8AE1-41ED-BECB-46528A58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This thesis combines known parts into a system we can check.</a:t>
            </a:r>
          </a:p>
        </p:txBody>
      </p:sp>
      <p:sp>
        <p:nvSpPr>
          <p:cNvPr id="4" name="running-case-core-14-label">
            <a:extLst xmlns:a="http://schemas.openxmlformats.org/drawingml/2006/main">
              <a:ext uri="{FF2B5EF4-FFF2-40B4-BE49-F238E27FC236}">
                <a16:creationId xmlns:a16="http://schemas.microsoft.com/office/drawing/2014/main" id="{53976EDF-44FD-430C-A7A5-7C143FF39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CONTRIBUTION</a:t>
            </a:r>
          </a:p>
        </p:txBody>
      </p:sp>
      <p:sp>
        <p:nvSpPr>
          <p:cNvPr id="5" name="running-case-core-14-query">
            <a:extLst xmlns:a="http://schemas.openxmlformats.org/drawingml/2006/main">
              <a:ext uri="{FF2B5EF4-FFF2-40B4-BE49-F238E27FC236}">
                <a16:creationId xmlns:a16="http://schemas.microsoft.com/office/drawing/2014/main" id="{4AF51A3F-F684-4223-AFDB-CB19063F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Hybrid-RAG</a:t>
            </a:r>
          </a:p>
        </p:txBody>
      </p:sp>
      <p:sp>
        <p:nvSpPr>
          <p:cNvPr id="6" name="running-case-core-14-stage">
            <a:extLst xmlns:a="http://schemas.openxmlformats.org/drawingml/2006/main">
              <a:ext uri="{FF2B5EF4-FFF2-40B4-BE49-F238E27FC236}">
                <a16:creationId xmlns:a16="http://schemas.microsoft.com/office/drawing/2014/main" id="{4E70EE2A-DD63-4677-81FC-108D0CCC9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mechanism → auditable system</a:t>
            </a:r>
          </a:p>
        </p:txBody>
      </p:sp>
      <p:sp>
        <p:nvSpPr>
          <p:cNvPr id="7" name="research-contribution">
            <a:extLst xmlns:a="http://schemas.openxmlformats.org/drawingml/2006/main">
              <a:ext uri="{FF2B5EF4-FFF2-40B4-BE49-F238E27FC236}">
                <a16:creationId xmlns:a16="http://schemas.microsoft.com/office/drawing/2014/main" id="{EEBE0FDC-A5E3-43AC-9C57-578A5BB5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2D6F78"/>
            </a:solidFill>
            <a:prstDash val="solid"/>
          </a:ln>
        </p:spPr>
      </p:sp>
      <p:sp>
        <p:nvSpPr>
          <p:cNvPr id="8" name="research-label">
            <a:extLst xmlns:a="http://schemas.openxmlformats.org/drawingml/2006/main">
              <a:ext uri="{FF2B5EF4-FFF2-40B4-BE49-F238E27FC236}">
                <a16:creationId xmlns:a16="http://schemas.microsoft.com/office/drawing/2014/main" id="{ED9A65BF-9CD4-4D1C-A291-646533BF1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2952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RESEARCH-FACING CONTRIBUTION</a:t>
            </a:r>
          </a:p>
        </p:txBody>
      </p:sp>
      <p:sp>
        <p:nvSpPr>
          <p:cNvPr id="9" name="research-bullet-rule-0">
            <a:extLst xmlns:a="http://schemas.openxmlformats.org/drawingml/2006/main">
              <a:ext uri="{FF2B5EF4-FFF2-40B4-BE49-F238E27FC236}">
                <a16:creationId xmlns:a16="http://schemas.microsoft.com/office/drawing/2014/main" id="{26F8DD09-437C-4979-A50C-D577027BB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2415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6F78"/>
            </a:solidFill>
            <a:prstDash val="solid"/>
          </a:ln>
        </p:spPr>
      </p:sp>
      <p:sp>
        <p:nvSpPr>
          <p:cNvPr id="10" name="research-bullet-0">
            <a:extLst xmlns:a="http://schemas.openxmlformats.org/drawingml/2006/main">
              <a:ext uri="{FF2B5EF4-FFF2-40B4-BE49-F238E27FC236}">
                <a16:creationId xmlns:a16="http://schemas.microsoft.com/office/drawing/2014/main" id="{C8964AAA-0E8B-4E6F-8E36-C6A0FC07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264795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Query-aware retrieval integration</a:t>
            </a:r>
          </a:p>
        </p:txBody>
      </p:sp>
      <p:sp>
        <p:nvSpPr>
          <p:cNvPr id="11" name="research-bullet-rule-1">
            <a:extLst xmlns:a="http://schemas.openxmlformats.org/drawingml/2006/main">
              <a:ext uri="{FF2B5EF4-FFF2-40B4-BE49-F238E27FC236}">
                <a16:creationId xmlns:a16="http://schemas.microsoft.com/office/drawing/2014/main" id="{6DC8F0BD-249C-46F8-A248-7E80A31E7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9090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6F78"/>
            </a:solidFill>
            <a:prstDash val="solid"/>
          </a:ln>
        </p:spPr>
      </p:sp>
      <p:sp>
        <p:nvSpPr>
          <p:cNvPr id="12" name="research-bullet-1">
            <a:extLst xmlns:a="http://schemas.openxmlformats.org/drawingml/2006/main">
              <a:ext uri="{FF2B5EF4-FFF2-40B4-BE49-F238E27FC236}">
                <a16:creationId xmlns:a16="http://schemas.microsoft.com/office/drawing/2014/main" id="{3A6D2E8B-EFDF-4EBA-B116-FB07F6D67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31470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Repository-scoped graph + vector evidence</a:t>
            </a:r>
          </a:p>
        </p:txBody>
      </p:sp>
      <p:sp>
        <p:nvSpPr>
          <p:cNvPr id="13" name="research-bullet-rule-2">
            <a:extLst xmlns:a="http://schemas.openxmlformats.org/drawingml/2006/main">
              <a:ext uri="{FF2B5EF4-FFF2-40B4-BE49-F238E27FC236}">
                <a16:creationId xmlns:a16="http://schemas.microsoft.com/office/drawing/2014/main" id="{0FF37194-2991-4F5D-974F-01642E8855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5765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D6F78"/>
            </a:solidFill>
            <a:prstDash val="solid"/>
          </a:ln>
        </p:spPr>
      </p:sp>
      <p:sp>
        <p:nvSpPr>
          <p:cNvPr id="14" name="research-bullet-2">
            <a:extLst xmlns:a="http://schemas.openxmlformats.org/drawingml/2006/main">
              <a:ext uri="{FF2B5EF4-FFF2-40B4-BE49-F238E27FC236}">
                <a16:creationId xmlns:a16="http://schemas.microsoft.com/office/drawing/2014/main" id="{00C93E17-0D99-4F30-875F-88FDA7B51E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98145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Provenance-aware evaluation artifacts</a:t>
            </a:r>
          </a:p>
        </p:txBody>
      </p:sp>
      <p:sp>
        <p:nvSpPr>
          <p:cNvPr id="15" name="system-capabilities">
            <a:extLst xmlns:a="http://schemas.openxmlformats.org/drawingml/2006/main">
              <a:ext uri="{FF2B5EF4-FFF2-40B4-BE49-F238E27FC236}">
                <a16:creationId xmlns:a16="http://schemas.microsoft.com/office/drawing/2014/main" id="{0CA51AA8-A278-48DE-8D40-791C783F34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0" y="1809750"/>
            <a:ext cx="4857750" cy="3333750"/>
          </a:xfrm>
          <a:prstGeom xmlns:a="http://schemas.openxmlformats.org/drawingml/2006/main" prst="roundRect">
            <a:avLst>
              <a:gd name="adj" fmla="val 3429"/>
            </a:avLst>
          </a:prstGeom>
          <a:solidFill xmlns:a="http://schemas.openxmlformats.org/drawingml/2006/main">
            <a:srgbClr val="FBFAF7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6" name="system-label">
            <a:extLst xmlns:a="http://schemas.openxmlformats.org/drawingml/2006/main">
              <a:ext uri="{FF2B5EF4-FFF2-40B4-BE49-F238E27FC236}">
                <a16:creationId xmlns:a16="http://schemas.microsoft.com/office/drawing/2014/main" id="{D99D38BD-2A64-489A-A206-C0FB80B9D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095500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SYSTEM / ENGINEERING CAPABILITIES</a:t>
            </a:r>
          </a:p>
        </p:txBody>
      </p:sp>
      <p:sp>
        <p:nvSpPr>
          <p:cNvPr id="17" name="system-bullet-rule-0">
            <a:extLst xmlns:a="http://schemas.openxmlformats.org/drawingml/2006/main">
              <a:ext uri="{FF2B5EF4-FFF2-40B4-BE49-F238E27FC236}">
                <a16:creationId xmlns:a16="http://schemas.microsoft.com/office/drawing/2014/main" id="{97B4093A-1D21-4E96-927A-5BC182AE6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72415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18" name="system-bullet-0">
            <a:extLst xmlns:a="http://schemas.openxmlformats.org/drawingml/2006/main">
              <a:ext uri="{FF2B5EF4-FFF2-40B4-BE49-F238E27FC236}">
                <a16:creationId xmlns:a16="http://schemas.microsoft.com/office/drawing/2014/main" id="{7B0104E6-94FB-454E-806C-A264F2F96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4795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Incremental indexing and bounded concurrency</a:t>
            </a:r>
          </a:p>
        </p:txBody>
      </p:sp>
      <p:sp>
        <p:nvSpPr>
          <p:cNvPr id="19" name="system-bullet-rule-1">
            <a:extLst xmlns:a="http://schemas.openxmlformats.org/drawingml/2006/main">
              <a:ext uri="{FF2B5EF4-FFF2-40B4-BE49-F238E27FC236}">
                <a16:creationId xmlns:a16="http://schemas.microsoft.com/office/drawing/2014/main" id="{0713FAE9-C740-4274-85A7-5FBB8E373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39090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0" name="system-bullet-1">
            <a:extLst xmlns:a="http://schemas.openxmlformats.org/drawingml/2006/main">
              <a:ext uri="{FF2B5EF4-FFF2-40B4-BE49-F238E27FC236}">
                <a16:creationId xmlns:a16="http://schemas.microsoft.com/office/drawing/2014/main" id="{4B478138-E0FD-49C0-B526-56FF81E71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31470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Community summaries and exploration portal</a:t>
            </a:r>
          </a:p>
        </p:txBody>
      </p:sp>
      <p:sp>
        <p:nvSpPr>
          <p:cNvPr id="21" name="system-bullet-rule-2">
            <a:extLst xmlns:a="http://schemas.openxmlformats.org/drawingml/2006/main">
              <a:ext uri="{FF2B5EF4-FFF2-40B4-BE49-F238E27FC236}">
                <a16:creationId xmlns:a16="http://schemas.microsoft.com/office/drawing/2014/main" id="{04F9A4A5-B216-4FC3-9F82-24803E25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4057650"/>
            <a:ext cx="28575" cy="571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D6F58"/>
            </a:solidFill>
            <a:prstDash val="solid"/>
          </a:ln>
        </p:spPr>
      </p:sp>
      <p:sp>
        <p:nvSpPr>
          <p:cNvPr id="22" name="system-bullet-2">
            <a:extLst xmlns:a="http://schemas.openxmlformats.org/drawingml/2006/main">
              <a:ext uri="{FF2B5EF4-FFF2-40B4-BE49-F238E27FC236}">
                <a16:creationId xmlns:a16="http://schemas.microsoft.com/office/drawing/2014/main" id="{A46E6BFC-9F70-40EE-AA42-53B43738D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981450"/>
            <a:ext cx="394335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500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1D2A34"/>
                </a:solidFill>
                <a:latin typeface="Aptos"/>
                <a:ea typeface="Aptos"/>
                <a:cs typeface="Aptos"/>
              </a:rPr>
              <a:t>MCP / Web UI / optional non-code ingestion</a:t>
            </a:r>
          </a:p>
        </p:txBody>
      </p:sp>
      <p:sp>
        <p:nvSpPr>
          <p:cNvPr id="27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45EEC09-7F5D-4D0C-BA55-E5FAD25BB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1312770789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52722DE4-9A52-4E04-9E0B-F5810AC1D3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else the system can do · detail · 1 / 1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9B452A8-BA13-4DC0-858F-F9C8DBAB9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0B7EEE34-93EF-46CF-8D2B-7976FE0CEC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System breadth is implemented capability—not extra experiment evidence.</a:t>
            </a:r>
          </a:p>
        </p:txBody>
      </p:sp>
      <p:sp>
        <p:nvSpPr>
          <p:cNvPr id="4" name="depth-box-11">
            <a:extLst xmlns:a="http://schemas.openxmlformats.org/drawingml/2006/main">
              <a:ext uri="{FF2B5EF4-FFF2-40B4-BE49-F238E27FC236}">
                <a16:creationId xmlns:a16="http://schemas.microsoft.com/office/drawing/2014/main" id="{DEBDE8ED-8B7E-464B-8F7A-893DC122A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11">
            <a:extLst xmlns:a="http://schemas.openxmlformats.org/drawingml/2006/main">
              <a:ext uri="{FF2B5EF4-FFF2-40B4-BE49-F238E27FC236}">
                <a16:creationId xmlns:a16="http://schemas.microsoft.com/office/drawing/2014/main" id="{D96204B3-37F8-41D8-978D-46663584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SYSTEM BREADTH</a:t>
            </a:r>
          </a:p>
        </p:txBody>
      </p:sp>
      <p:sp>
        <p:nvSpPr>
          <p:cNvPr id="6" name="depth-copy-11">
            <a:extLst xmlns:a="http://schemas.openxmlformats.org/drawingml/2006/main">
              <a:ext uri="{FF2B5EF4-FFF2-40B4-BE49-F238E27FC236}">
                <a16:creationId xmlns:a16="http://schemas.microsoft.com/office/drawing/2014/main" id="{40116137-571A-4EB0-832D-F59683C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Incremental indexing, communities, exploration and optional non-code ingestion extend the prototype beyond the benchmark path.</a:t>
            </a:r>
          </a:p>
        </p:txBody>
      </p:sp>
      <p:sp>
        <p:nvSpPr>
          <p:cNvPr id="7" name="depth-rule-11">
            <a:extLst xmlns:a="http://schemas.openxmlformats.org/drawingml/2006/main">
              <a:ext uri="{FF2B5EF4-FFF2-40B4-BE49-F238E27FC236}">
                <a16:creationId xmlns:a16="http://schemas.microsoft.com/office/drawing/2014/main" id="{58D9971D-A21D-43CF-809E-AA15EDE01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depth-source-11">
            <a:extLst xmlns:a="http://schemas.openxmlformats.org/drawingml/2006/main">
              <a:ext uri="{FF2B5EF4-FFF2-40B4-BE49-F238E27FC236}">
                <a16:creationId xmlns:a16="http://schemas.microsoft.com/office/drawing/2014/main" id="{B1B5EAC3-F265-4A42-9CB0-B6B671FD5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Sources: src/hybrid_rag/ingestion; src/hybrid_rag/graph/community_builder.py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5D393589-4AD3-429E-9E7A-3C3AE3BCD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14.1</a:t>
            </a:r>
          </a:p>
        </p:txBody>
      </p:sp>
    </p:spTree>
    <p:extLst>
      <p:ext uri="{BB962C8B-B14F-4D97-AF65-F5344CB8AC3E}">
        <p14:creationId xmlns:p14="http://schemas.microsoft.com/office/powerpoint/2010/main" val="990818699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2EFE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">
            <a:extLst xmlns:a="http://schemas.openxmlformats.org/drawingml/2006/main">
              <a:ext uri="{FF2B5EF4-FFF2-40B4-BE49-F238E27FC236}">
                <a16:creationId xmlns:a16="http://schemas.microsoft.com/office/drawing/2014/main" id="{33B91D81-2BD9-4F60-88A0-6E5D2B49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Conclusion · 15 / 15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E5008A79-2F72-4B79-8B79-EE3A25B54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AA2D58B-0F52-4E3A-B09E-B6C4741CE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2625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On this test, Hybrid improves correctness but searches longer.</a:t>
            </a:r>
          </a:p>
        </p:txBody>
      </p:sp>
      <p:sp>
        <p:nvSpPr>
          <p:cNvPr id="4" name="running-case-core-15-label">
            <a:extLst xmlns:a="http://schemas.openxmlformats.org/drawingml/2006/main">
              <a:ext uri="{FF2B5EF4-FFF2-40B4-BE49-F238E27FC236}">
                <a16:creationId xmlns:a16="http://schemas.microsoft.com/office/drawing/2014/main" id="{8379331D-5B12-4523-B5A3-0E3D6A736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238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BOUNDED CLAIM</a:t>
            </a:r>
          </a:p>
        </p:txBody>
      </p:sp>
      <p:sp>
        <p:nvSpPr>
          <p:cNvPr id="5" name="running-case-core-15-query">
            <a:extLst xmlns:a="http://schemas.openxmlformats.org/drawingml/2006/main">
              <a:ext uri="{FF2B5EF4-FFF2-40B4-BE49-F238E27FC236}">
                <a16:creationId xmlns:a16="http://schemas.microsoft.com/office/drawing/2014/main" id="{A0BDCA11-8131-4433-B00B-52F45B5C6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619250"/>
            <a:ext cx="2762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defRPr>
            </a:pPr>
            <a:r>
              <a:rPr sz="825" b="1">
                <a:solidFill>
                  <a:srgbClr val="3D6F58"/>
                </a:solidFill>
                <a:latin typeface="Aptos Mono"/>
                <a:ea typeface="Aptos Mono"/>
                <a:cs typeface="Aptos Mono"/>
              </a:rPr>
              <a:t>30 paired questions</a:t>
            </a:r>
          </a:p>
        </p:txBody>
      </p:sp>
      <p:sp>
        <p:nvSpPr>
          <p:cNvPr id="6" name="running-case-core-15-stage">
            <a:extLst xmlns:a="http://schemas.openxmlformats.org/drawingml/2006/main">
              <a:ext uri="{FF2B5EF4-FFF2-40B4-BE49-F238E27FC236}">
                <a16:creationId xmlns:a16="http://schemas.microsoft.com/office/drawing/2014/main" id="{6750BB6D-792C-4DA8-A1BD-EF483F554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619250"/>
            <a:ext cx="6191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82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result → precise conclusion</a:t>
            </a:r>
          </a:p>
        </p:txBody>
      </p:sp>
      <p:sp>
        <p:nvSpPr>
          <p:cNvPr id="7" name="conclusion-quality">
            <a:extLst xmlns:a="http://schemas.openxmlformats.org/drawingml/2006/main">
              <a:ext uri="{FF2B5EF4-FFF2-40B4-BE49-F238E27FC236}">
                <a16:creationId xmlns:a16="http://schemas.microsoft.com/office/drawing/2014/main" id="{BE136937-CF8F-4204-8404-BA94AABB6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3143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3F0E6"/>
          </a:solidFill>
          <a:ln xmlns:a="http://schemas.openxmlformats.org/drawingml/2006/main" w="9525">
            <a:solidFill>
              <a:srgbClr val="3D6F58"/>
            </a:solidFill>
            <a:prstDash val="solid"/>
          </a:ln>
        </p:spPr>
      </p:sp>
      <p:sp>
        <p:nvSpPr>
          <p:cNvPr id="8" name="conclusion-quality-label">
            <a:extLst xmlns:a="http://schemas.openxmlformats.org/drawingml/2006/main">
              <a:ext uri="{FF2B5EF4-FFF2-40B4-BE49-F238E27FC236}">
                <a16:creationId xmlns:a16="http://schemas.microsoft.com/office/drawing/2014/main" id="{8725AB11-BD71-43C9-BBD9-D9762CD5A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66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3D6F5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3D6F58"/>
                </a:solidFill>
                <a:latin typeface="Aptos"/>
                <a:ea typeface="Aptos"/>
                <a:cs typeface="Aptos"/>
              </a:rPr>
              <a:t>QUALITY</a:t>
            </a:r>
          </a:p>
        </p:txBody>
      </p:sp>
      <p:sp>
        <p:nvSpPr>
          <p:cNvPr id="9" name="conclusion-quality-number">
            <a:extLst xmlns:a="http://schemas.openxmlformats.org/drawingml/2006/main">
              <a:ext uri="{FF2B5EF4-FFF2-40B4-BE49-F238E27FC236}">
                <a16:creationId xmlns:a16="http://schemas.microsoft.com/office/drawing/2014/main" id="{409B7202-1C3F-4FA8-83AC-9FBF000EA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686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Δ +0.046</a:t>
            </a:r>
          </a:p>
        </p:txBody>
      </p:sp>
      <p:sp>
        <p:nvSpPr>
          <p:cNvPr id="10" name="conclusion-quality-copy">
            <a:extLst xmlns:a="http://schemas.openxmlformats.org/drawingml/2006/main">
              <a:ext uri="{FF2B5EF4-FFF2-40B4-BE49-F238E27FC236}">
                <a16:creationId xmlns:a16="http://schemas.microsoft.com/office/drawing/2014/main" id="{AB9F7ABD-1E86-4E64-81ED-0046F34DF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correctness · paired CI [0.002, 0.094]</a:t>
            </a:r>
          </a:p>
        </p:txBody>
      </p:sp>
      <p:sp>
        <p:nvSpPr>
          <p:cNvPr id="11" name="conclusion-cost">
            <a:extLst xmlns:a="http://schemas.openxmlformats.org/drawingml/2006/main">
              <a:ext uri="{FF2B5EF4-FFF2-40B4-BE49-F238E27FC236}">
                <a16:creationId xmlns:a16="http://schemas.microsoft.com/office/drawing/2014/main" id="{76EEA27A-37E3-413B-A607-AEDE34E1A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00250"/>
            <a:ext cx="314325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E2DA"/>
          </a:solidFill>
          <a:ln xmlns:a="http://schemas.openxmlformats.org/drawingml/2006/main" w="9525">
            <a:solidFill>
              <a:srgbClr val="B65C3C"/>
            </a:solidFill>
            <a:prstDash val="solid"/>
          </a:ln>
        </p:spPr>
      </p:sp>
      <p:sp>
        <p:nvSpPr>
          <p:cNvPr id="12" name="conclusion-cost-label">
            <a:extLst xmlns:a="http://schemas.openxmlformats.org/drawingml/2006/main">
              <a:ext uri="{FF2B5EF4-FFF2-40B4-BE49-F238E27FC236}">
                <a16:creationId xmlns:a16="http://schemas.microsoft.com/office/drawing/2014/main" id="{C6E38266-E84E-4325-962B-E468CE84F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2669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B65C3C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B65C3C"/>
                </a:solidFill>
                <a:latin typeface="Aptos"/>
                <a:ea typeface="Aptos"/>
                <a:cs typeface="Aptos"/>
              </a:rPr>
              <a:t>COST</a:t>
            </a:r>
          </a:p>
        </p:txBody>
      </p:sp>
      <p:sp>
        <p:nvSpPr>
          <p:cNvPr id="13" name="conclusion-cost-number">
            <a:extLst xmlns:a="http://schemas.openxmlformats.org/drawingml/2006/main">
              <a:ext uri="{FF2B5EF4-FFF2-40B4-BE49-F238E27FC236}">
                <a16:creationId xmlns:a16="http://schemas.microsoft.com/office/drawing/2014/main" id="{DC7C0FDC-97CB-45A8-9BAF-7837825C4F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686050"/>
            <a:ext cx="2190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5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+237 ms</a:t>
            </a:r>
          </a:p>
        </p:txBody>
      </p:sp>
      <p:sp>
        <p:nvSpPr>
          <p:cNvPr id="14" name="conclusion-cost-copy">
            <a:extLst xmlns:a="http://schemas.openxmlformats.org/drawingml/2006/main">
              <a:ext uri="{FF2B5EF4-FFF2-40B4-BE49-F238E27FC236}">
                <a16:creationId xmlns:a16="http://schemas.microsoft.com/office/drawing/2014/main" id="{A2133466-6CBD-4F28-9886-12931339F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2385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retrieval overhead · paired CI [208, 266] ms</a:t>
            </a:r>
          </a:p>
        </p:txBody>
      </p:sp>
      <p:sp>
        <p:nvSpPr>
          <p:cNvPr id="15" name="conclusion-boundary">
            <a:extLst xmlns:a="http://schemas.openxmlformats.org/drawingml/2006/main">
              <a:ext uri="{FF2B5EF4-FFF2-40B4-BE49-F238E27FC236}">
                <a16:creationId xmlns:a16="http://schemas.microsoft.com/office/drawing/2014/main" id="{BFD0AE9A-B90E-47C1-B8C9-2F0D8444F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000250"/>
            <a:ext cx="2895600" cy="17145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16" name="conclusion-boundary-label">
            <a:extLst xmlns:a="http://schemas.openxmlformats.org/drawingml/2006/main">
              <a:ext uri="{FF2B5EF4-FFF2-40B4-BE49-F238E27FC236}">
                <a16:creationId xmlns:a16="http://schemas.microsoft.com/office/drawing/2014/main" id="{BB0E3730-1B5A-4D15-BC5C-83E2436DA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266950"/>
            <a:ext cx="1619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BOUNDARY</a:t>
            </a:r>
          </a:p>
        </p:txBody>
      </p:sp>
      <p:sp>
        <p:nvSpPr>
          <p:cNvPr id="17" name="conclusion-boundary-copy">
            <a:extLst xmlns:a="http://schemas.openxmlformats.org/drawingml/2006/main">
              <a:ext uri="{FF2B5EF4-FFF2-40B4-BE49-F238E27FC236}">
                <a16:creationId xmlns:a16="http://schemas.microsoft.com/office/drawing/2014/main" id="{7E4E0A34-6BE5-4681-AFD0-1150757E5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2190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One pinned Python repo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Vector-only baseline</a:t>
            </a:r>
          </a:p>
          <a:p xmlns:a="http://schemas.openxmlformats.org/drawingml/2006/main">
            <a:pPr algn="l">
              <a:buNone/>
              <a:defRPr sz="135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Automated judge</a:t>
            </a:r>
          </a:p>
        </p:txBody>
      </p:sp>
      <p:sp>
        <p:nvSpPr>
          <p:cNvPr id="22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6CD67D9C-F611-4985-8497-AFFD8D9A5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817725837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BFAF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kicker">
            <a:extLst xmlns:a="http://schemas.openxmlformats.org/drawingml/2006/main">
              <a:ext uri="{FF2B5EF4-FFF2-40B4-BE49-F238E27FC236}">
                <a16:creationId xmlns:a16="http://schemas.microsoft.com/office/drawing/2014/main" id="{68D035D3-8447-4C67-9CFB-83D83282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762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What remains to test · detail · 1 / 1</a:t>
            </a:r>
          </a:p>
        </p:txBody>
      </p:sp>
      <p:sp>
        <p:nvSpPr>
          <p:cNvPr id="2" name="kicker-rule">
            <a:extLst xmlns:a="http://schemas.openxmlformats.org/drawingml/2006/main">
              <a:ext uri="{FF2B5EF4-FFF2-40B4-BE49-F238E27FC236}">
                <a16:creationId xmlns:a16="http://schemas.microsoft.com/office/drawing/2014/main" id="{05F23A49-0297-4962-8C08-E87807A8E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42950"/>
            <a:ext cx="3619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B65C3C"/>
            </a:solidFill>
            <a:prstDash val="solid"/>
          </a:ln>
        </p:spPr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EA0E453-E74F-4CC4-A8A2-7EACBD9FC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33450"/>
            <a:ext cx="10820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defRPr>
            </a:pPr>
            <a:r>
              <a:rPr sz="3000" b="1">
                <a:solidFill>
                  <a:srgbClr val="1D2A34"/>
                </a:solidFill>
                <a:latin typeface="Aptos Display"/>
                <a:ea typeface="Aptos Display"/>
                <a:cs typeface="Aptos Display"/>
              </a:rPr>
              <a:t>Broader thesis claims remain future experiments.</a:t>
            </a:r>
          </a:p>
        </p:txBody>
      </p:sp>
      <p:sp>
        <p:nvSpPr>
          <p:cNvPr id="4" name="depth-box-12">
            <a:extLst xmlns:a="http://schemas.openxmlformats.org/drawingml/2006/main">
              <a:ext uri="{FF2B5EF4-FFF2-40B4-BE49-F238E27FC236}">
                <a16:creationId xmlns:a16="http://schemas.microsoft.com/office/drawing/2014/main" id="{606857F4-5A6B-4441-9B1B-EA7DD5738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1082040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DF8"/>
          </a:solidFill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5" name="depth-label-12">
            <a:extLst xmlns:a="http://schemas.openxmlformats.org/drawingml/2006/main">
              <a:ext uri="{FF2B5EF4-FFF2-40B4-BE49-F238E27FC236}">
                <a16:creationId xmlns:a16="http://schemas.microsoft.com/office/drawing/2014/main" id="{BE75554F-2CC2-4812-8AD8-DC3053828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286000"/>
            <a:ext cx="2095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2D6F78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2D6F78"/>
                </a:solidFill>
                <a:latin typeface="Aptos"/>
                <a:ea typeface="Aptos"/>
                <a:cs typeface="Aptos"/>
              </a:rPr>
              <a:t>OPEN EVIDENCE</a:t>
            </a:r>
          </a:p>
        </p:txBody>
      </p:sp>
      <p:sp>
        <p:nvSpPr>
          <p:cNvPr id="6" name="depth-copy-12">
            <a:extLst xmlns:a="http://schemas.openxmlformats.org/drawingml/2006/main">
              <a:ext uri="{FF2B5EF4-FFF2-40B4-BE49-F238E27FC236}">
                <a16:creationId xmlns:a16="http://schemas.microsoft.com/office/drawing/2014/main" id="{2B5219D6-A8F3-4105-B482-8DC0634B1C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724150"/>
            <a:ext cx="96202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2100" b="1">
                <a:solidFill>
                  <a:srgbClr val="1D2A34"/>
                </a:solidFill>
                <a:latin typeface="Aptos"/>
                <a:ea typeface="Aptos"/>
                <a:cs typeface="Aptos"/>
              </a:defRPr>
            </a:pPr>
            <a:r>
              <a:rPr sz="2100" b="1">
                <a:solidFill>
                  <a:srgbClr val="1D2A34"/>
                </a:solidFill>
                <a:latin typeface="Aptos"/>
                <a:ea typeface="Aptos"/>
                <a:cs typeface="Aptos"/>
              </a:rPr>
              <a:t>Human review, more questions, larger cross-repo workloads, stronger baselines, Java and resource measurements remain open.</a:t>
            </a:r>
          </a:p>
        </p:txBody>
      </p:sp>
      <p:sp>
        <p:nvSpPr>
          <p:cNvPr id="7" name="depth-rule-12">
            <a:extLst xmlns:a="http://schemas.openxmlformats.org/drawingml/2006/main">
              <a:ext uri="{FF2B5EF4-FFF2-40B4-BE49-F238E27FC236}">
                <a16:creationId xmlns:a16="http://schemas.microsoft.com/office/drawing/2014/main" id="{FCB27E8B-F85F-44EB-8C5C-4A2E4231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886200"/>
            <a:ext cx="9239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D1D1"/>
            </a:solidFill>
            <a:prstDash val="solid"/>
          </a:ln>
        </p:spPr>
      </p:sp>
      <p:sp>
        <p:nvSpPr>
          <p:cNvPr id="8" name="depth-source-12">
            <a:extLst xmlns:a="http://schemas.openxmlformats.org/drawingml/2006/main">
              <a:ext uri="{FF2B5EF4-FFF2-40B4-BE49-F238E27FC236}">
                <a16:creationId xmlns:a16="http://schemas.microsoft.com/office/drawing/2014/main" id="{8A7C582D-E05B-4C3E-BA69-FEB07940F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076700"/>
            <a:ext cx="962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l">
              <a:buNone/>
              <a:defRPr sz="1200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586671"/>
                </a:solidFill>
                <a:latin typeface="Aptos"/>
                <a:ea typeface="Aptos"/>
                <a:cs typeface="Aptos"/>
              </a:rPr>
              <a:t>Source: doc/thesis@78e5bd8:docs/thesis_report_en.tex</a:t>
            </a:r>
          </a:p>
        </p:txBody>
      </p:sp>
      <p:sp>
        <p:nvSpPr>
          <p:cNvPr id="13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E47EB086-44AF-4541-9DDC-376CE7A9D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6438900"/>
            <a:ext cx="2286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/>
          <a:p xmlns:a="http://schemas.openxmlformats.org/drawingml/2006/main">
            <a:pPr algn="r">
              <a:buNone/>
              <a:defRPr sz="825" b="1">
                <a:solidFill>
                  <a:srgbClr val="586671"/>
                </a:solidFill>
                <a:latin typeface="Aptos"/>
                <a:ea typeface="Aptos"/>
                <a:cs typeface="Aptos"/>
              </a:defRPr>
            </a:pPr>
            <a:r>
              <a:rPr sz="825" b="1">
                <a:solidFill>
                  <a:srgbClr val="586671"/>
                </a:solidFill>
                <a:latin typeface="Aptos"/>
                <a:ea typeface="Aptos"/>
                <a:cs typeface="Aptos"/>
              </a:rPr>
              <a:t>15.1</a:t>
            </a:r>
          </a:p>
        </p:txBody>
      </p:sp>
    </p:spTree>
    <p:extLst>
      <p:ext uri="{BB962C8B-B14F-4D97-AF65-F5344CB8AC3E}">
        <p14:creationId xmlns:p14="http://schemas.microsoft.com/office/powerpoint/2010/main" val="48434345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2026-08-18T00:29:06.9990000Z</dcterms:created>
  <dcterms:modified xsi:type="dcterms:W3CDTF">2026-08-18T00:29:06.9990000Z</dcterms:modified>
</coreProperties>
</file>